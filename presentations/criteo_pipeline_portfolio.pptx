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Criteo 광고 데이터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8C8E8"/>
                </a:solidFill>
              </a:rPr>
              <a:t>실시간 수집  →  Medallion 아키텍처  →  BI 시각화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391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391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407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407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423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423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S3 Iceberg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439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439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Glue Catalog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3455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455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Athena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471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471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Airflow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4876" y="3749039"/>
            <a:ext cx="1188720" cy="36576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4876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Superset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프로젝트 개요 및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347472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프로젝트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C1C1C"/>
                </a:solidFill>
              </a:rPr>
              <a:t>도메인: 광고 성과 분석 (Criteo Attribution Dataset)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1C1C1C"/>
                </a:solidFill>
              </a:rPr>
              <a:t>   HuggingFace 오픈소스 — impression / click / conversion 3종 이벤트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1C1C1C"/>
                </a:solidFill>
              </a:rPr>
              <a:t>   원본 데이터는 한 행에 조인된 형태 → 실시간 분리 스트림으로 재설계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C1C1C"/>
                </a:solidFill>
              </a:rPr>
              <a:t>목표: 실제 광고 데이터 플랫폼의 수집 → 저장 → 집계 → 시각화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1C1C1C"/>
                </a:solidFill>
              </a:rPr>
              <a:t>   흐름을 처음부터 끝까지 직접 구현하며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143000"/>
            <a:ext cx="5806440" cy="347472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36192"/>
            <a:ext cx="137160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5361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53619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Criteo Dataset (HuggingFace Streaming)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066544"/>
            <a:ext cx="1371600" cy="384048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0665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메시지큐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6654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Apache Kafka — 3토픽 × 3파티션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596896"/>
            <a:ext cx="1371600" cy="384048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5968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스트리밍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59689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Spark Structured Streaming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127248"/>
            <a:ext cx="1371600" cy="384048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저장소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12724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AWS S3 (Parquet + Iceberg)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657600"/>
            <a:ext cx="1371600" cy="38404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657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메타스토어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6576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AWS Glue Data Catalog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187952"/>
            <a:ext cx="137160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1879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쿼리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18795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Amazon Athena (서버리스 SQL)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718304"/>
            <a:ext cx="137160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7183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오케스트레이션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71830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Apache Airflow 3.x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248656"/>
            <a:ext cx="1371600" cy="384048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2486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시각화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2486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Apache Superset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536192"/>
            <a:ext cx="5806440" cy="4242816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광고 이벤트 데이터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impression / click / conversion — 지연 도착과 Attribution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840480" cy="2560320"/>
          </a:xfrm>
          <a:prstGeom prst="rect">
            <a:avLst/>
          </a:prstGeom>
          <a:solidFill>
            <a:srgbClr val="F4F6F9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8404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광고 노출 이벤트
사용자 화면에 광고가 보임
cost(노출 비용) 발생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49039"/>
            <a:ext cx="38404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749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도착 시점: 즉시 발생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840480" cy="2560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0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840480" cy="41148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00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광고 클릭 이벤트
사용자가 광고를 클릭
impression 발생 후 수초~수일 뒤 도착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749039"/>
            <a:ext cx="3840480" cy="41148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749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도착 시점: impression 후
수초 ~ 수일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3840480" cy="2560320"/>
          </a:xfrm>
          <a:prstGeom prst="rect">
            <a:avLst/>
          </a:prstGeom>
          <a:solidFill>
            <a:srgbClr val="F4F6F9"/>
          </a:solidFill>
          <a:ln w="127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84048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00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전환 이벤트
사용자가 구매/가입 완료
impression 발생 후 수일~수십일 뒤 도착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749039"/>
            <a:ext cx="3840480" cy="4114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749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도착 시점: impression 후
수일 ~ 수십일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97680"/>
            <a:ext cx="1161288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976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핵심 문제 — 같은 이벤트인데 도착 시점이 다르다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681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impression은 지금 저장했는데, 그에 대한 click은 7일 뒤, conversion은 30일 뒤에 도착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→ 파이프라인이 매일 배치로 돌더라도 오늘 impression의 click/conversion을 오늘 알 수 없음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→ Silver 레이어에서 이 '지연 도착' 문제를 2-Stage MERGE로 해결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77840"/>
            <a:ext cx="1161288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5778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Attribution Window — '이 impression 덕분에'를 인정하는 시간 한도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9618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click window:  7일  — impression 후 7일 이내 click만 이 impression에 귀속 (업계 표준, Google·Meta 동일)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conversion window:  30일  — impression 후 30일 이내 conversion만 귀속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→ 이 window가 Silver 파티션 스캔 범위, Iceberg compaction 35일 기준, Gold KPI 정확도의 핵심 파라미터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전체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Criteo Dataset → Kafka → Spark → S3 Iceberg → Athena → Superset</a:t>
            </a:r>
          </a:p>
        </p:txBody>
      </p:sp>
      <p:pic>
        <p:nvPicPr>
          <p:cNvPr id="6" name="Picture 5" descr="전체 아키텍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416" y="0"/>
            <a:ext cx="6339535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2743200"/>
            <a:ext cx="5669280" cy="347472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설계 원칙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15468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Bronze:  append-only 원본 보존, 언제든 재처리 가능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Silver:  중복 제거 + Attribution 조인, MERGE INTO로 멱등 갱신 (일배치)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Gold:    campaign × date KPI 집계, Superset 직접 조회 대상 (일배치)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Airflow DAG가 Bronze 확인 → Silver → Gold 순서 보장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배치 사이사이 Athena 검증 쿼리 삽입 (한계 있어 100% 보장 아님)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왜 Apache Iceberg인가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일반 Parquet 대비 핵심 기능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84048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143000"/>
            <a:ext cx="3840480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일반 Parquet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43000"/>
            <a:ext cx="3840480" cy="41148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Iceberg (이 프로젝트)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11612880" cy="88696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459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ACID 쓰기 (MERGE INTO)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6459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직접 지원 없음
파티션 전체 DROP/INSERT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6459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MERGE INTO 네이티브 지원
멱등 upsert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14600"/>
            <a:ext cx="11612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603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스냅샷 &amp; Time Travel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5603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불가 — 파일 덮어쓰면
이전 상태 복구 불가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5603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스냅샷별 이전 상태 조회
Gold snapshot diff 핵심 기반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29000"/>
            <a:ext cx="11612880" cy="88696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4747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파티션 변경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4747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파티션 컬럼 변경 시
파일 전체 재작성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4747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메타데이터만 변경
데이터 파일 유지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43400"/>
            <a:ext cx="116128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3891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파일 수준 통계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3891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파티션 단위만
파티션 내 세밀한 pruning 불가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3891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컬럼 min/max 통계
파티션 내 파일 pruning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57800"/>
            <a:ext cx="11612880" cy="886968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3035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COW / MOR 전략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53035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없음 — 항상 파일 전체 재작성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035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B4C"/>
                </a:solidFill>
              </a:rPr>
              <a:t>✅ 쓰기 패턴에 따라 선택
Silver=MOR, Gold=COW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Medallion 아키텍처 — 레이어별 설계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657599" cy="45720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6420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8249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원본 보존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2432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4261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포맷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9864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S3 Parquet
(append-only)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8444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60273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파티션 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5876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raw_date / raw_hour
(ingest_ts 기준)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4456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5628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처리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1888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Kafka 3토픽 → Spark
Structured Streaming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50468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52297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D7F32"/>
                </a:solidFill>
              </a:rPr>
              <a:t>멱등성 보장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7900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없음 (원본 파일이 유일한 재처리 수단)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59" y="1143000"/>
            <a:ext cx="3657599" cy="457200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59" y="1143000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59" y="166420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9" y="168249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역할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193852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분석 가능 단위로 정제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59" y="262432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9" y="264261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포맷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9" y="289864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Iceberg
MOR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59" y="358444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9" y="360273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파티션 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9" y="385876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event_date
(impression 발생 기준)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59" y="454456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9" y="45628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처리 방식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9" y="481888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중복 제거 + Attribution
Join + MERGE INTO
(일배치)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59" y="550468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9" y="552297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90A0"/>
                </a:solidFill>
              </a:rPr>
              <a:t>멱등성 보장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9" y="577900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MERGE ON (event_id, event_date)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398" y="1143000"/>
            <a:ext cx="3657599" cy="4572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398" y="1143000"/>
            <a:ext cx="3657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398" y="166420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38" y="168249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역할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38" y="193852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KPI 집계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398" y="262432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38" y="264261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포맷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38" y="289864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Iceberg
COW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398" y="358444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38" y="360273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파티션 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38" y="385876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summary_date
(event_date와 동일)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398" y="4544568"/>
            <a:ext cx="3657599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38" y="45628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처리 방식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38" y="481888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Silver → campaign×date
집계 MERGE INTO
(일배치)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398" y="5504688"/>
            <a:ext cx="3657599" cy="941832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38" y="552297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C"/>
                </a:solidFill>
              </a:rPr>
              <a:t>멱등성 보장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38" y="5779008"/>
            <a:ext cx="3520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MERGE ON (summary_date, campaign)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Bronze — 실시간 수집 레이어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Kafka 3토픽  →  Spark Structured Streaming job  →  S3 Parquet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Kafka 3토픽 × Spark Streaming job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ad-impressions  →  Streaming job (cores.max=3)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impression만 cost 필드 있음 — 스키마 달라 토픽 분리 필수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ad-clicks        →  Streaming job (cores.max=1)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ad-conversions   →  Streaming job (cores.max=1)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토픽별 독립 Streaming job 컨테이너로 분리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→ impression 처리 지연이 click/conversion 수집에 영향 없음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→ Spark Worker 3대 × 3코어 = 9코어 중 Streaming 5코어 사용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→ 나머지 4코어는 Silver/Gold 일배치용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617720"/>
            <a:ext cx="5577840" cy="347472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617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raw_date 파티션 = ingest_ts 기준 (수집 시각)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10912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event_time(이벤트 발생 시각) 기준으로 하면?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오늘 수집된 conversion이 30일 전 파티션에 기록 → 파일 크기 예측 불가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ingest_ts 기준: 오늘 수집된 모든 이벤트가 오늘 파티션에 균등 적재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→ 장애 복구 시 '이 날짜 파티션부터 Silver 재처리' 범위 특정 가능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Silver에서 event_date(impression 발생 기준)로 재파티셔닝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→ Bronze는 append-only 원본 저장이므로 Iceberg 불필요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7607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Spark Checkpoint — Streaming 장애 복구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S3에 토픽별 독립 checkpoint 저장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s3a://…/checkpoints/kafka_to_raw/impressions/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s3a://…/checkpoints/kafka_to_raw/clicks/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s3a://…/checkpoints/kafka_to_raw/conversions/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Streaming job 크래시 후 재시작 시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→ 마지막 처리된 Kafka offset에서 이어서 처리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→ 중복/누락 없이 재개 가능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checkpoint 경로를 토픽별로 분리하는 이유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공유하면 offset 상태가 섞여 재처리 시 누락 또는 중복 발생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5212080"/>
            <a:ext cx="5760720" cy="1508760"/>
          </a:xfrm>
          <a:prstGeom prst="rect">
            <a:avLst/>
          </a:prstGeom>
          <a:solidFill>
            <a:srgbClr val="FFF3E0"/>
          </a:solidFill>
          <a:ln w="12700">
            <a:solidFill>
              <a:srgbClr val="D4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257800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46A0A"/>
                </a:solidFill>
              </a:rPr>
              <a:t>⚠️ 한계</a:t>
            </a:r>
          </a:p>
          <a:p>
            <a:r>
              <a:rPr sz="1200">
                <a:solidFill>
                  <a:srgbClr val="D46A0A"/>
                </a:solidFill>
              </a:rPr>
              <a:t>• Kafka 단일 브로커 (replication factor=1) — 브로커 장애 시 메시지 손실</a:t>
            </a:r>
          </a:p>
          <a:p>
            <a:r>
              <a:rPr sz="1200">
                <a:solidFill>
                  <a:srgbClr val="D46A0A"/>
                </a:solidFill>
              </a:rPr>
              <a:t>  → 운영 환경에선 3+ 브로커 클러스터 + replication 구성 필요</a:t>
            </a:r>
          </a:p>
          <a:p>
            <a:r>
              <a:rPr sz="1200">
                <a:solidFill>
                  <a:srgbClr val="D46A0A"/>
                </a:solidFill>
              </a:rPr>
              <a:t>• Spark Worker가 단일 머신에 모두 있어 실제 분산 환경 아님 (흉내 수준)</a:t>
            </a:r>
          </a:p>
          <a:p>
            <a:r>
              <a:rPr sz="1200">
                <a:solidFill>
                  <a:srgbClr val="D46A0A"/>
                </a:solidFill>
              </a:rPr>
              <a:t>• producer.py 재시작 시 전체 데이터 처음부터 재발행 — 모든 이벤트 중복 가능 (Silver MERGE에서 흡수)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Silver — Attribution 2-Stage 일배치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Dedup + Attribution Join + Iceberg MERGE INTO (MOR)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왜 2-Stage인가 — 이벤트 도착 시점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어제(6/24) Bronze raw_date=6/24에 들어오는 것: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impression: 어제 발생 → event_date = 6/24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click:      어제 도착, 원본 impression은 6/17~6/24 (click window 7일)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conversion: 어제 도착, 원본 impression은 5/25~6/24 (window 30일)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1-Stage JOIN (어제 impression + 어제 click)으로 하면?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→ click은 어제 Bronze에 있지만 6/17 impression은 어제 Bronze에 없음 → 매칭 불가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→ 최대 30일치 Bronze를 매일 전체 스캔해야 해결 → 너무 비쌈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(conversion window 30일 기준)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Stage 1: 어제 Bronze의 impression → Silver INSERT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event_date = impression 발생 시각 기준 (여러 파티션 분산 가능)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이미 Silver에 있는 impression은 INSERT 안 함 (멱등)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click=0, conversion=0 초기값으로 적재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Stage 2: 어제 Bronze의 click/conversion → Silver 7일/30일 파티션에서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eid로 impression 찾아 MERGE UPDATE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→ Silver가 중간 저장소 역할, 30일치 Bronze 스캔 불필요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669280"/>
            <a:ext cx="5577840" cy="347472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669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왜 MOR(Merge-On-Read)인가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UPDATE 대상(click/conversion 매칭 impression): 전체의 ~2%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COW: 2% 행이 바뀌어도 그 파티션 파일 전체 재작성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MOR: delta file만 append → 쓰기 비용 절감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읽기 시 delta 병합 오버헤드 → 유지보수 DAG의 daily compaction이 해결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903720"/>
            <a:ext cx="539496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949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46A0A"/>
                </a:solidFill>
              </a:rPr>
              <a:t>⚠️  백필 시 Silver도 명시 재처리 모드(--run-date-start 지정) 사용 필요</a:t>
            </a:r>
          </a:p>
          <a:p>
            <a:r>
              <a:rPr sz="1200">
                <a:solidFill>
                  <a:srgbClr val="D46A0A"/>
                </a:solidFill>
              </a:rPr>
              <a:t>   일배치 기본 모드(snapshot diff)는 같은 날 여러 번 실행 시 변경 감지가 깨짐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57607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Attribution 파티션 스캔 범위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536192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Stage 2 Silver 스캔 시 전체 파티션을 열지 않음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click JOIN 조건: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① click_ts - impression_ts 가 0 ~ 7일 사이  (attribution 판정)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② Silver event_date &gt;= click 기준 7일 전  (파티션 범위 제한)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→ Iceberg manifest가 event_date별 파티션 정보를 가짐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  → ② 기준 해당 날짜 이후 파티션만 파일 오픈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→ manifest는 파일 단위 컬럼 min/max도 기록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  → eid 값이 파일 min/max 밖이면 그 파일도 추가 스킵 가능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→ 남은 파일 안에서 eid로 impression 행 검색 (row-level index는 없음)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conversion JOIN 조건: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마찬가지로 conversion 기준 30일치 파티션만 스캔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MERGE INTO ON (event_id, event_date)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Stage 1 — NOT MATCHED → INSERT (신규 impression 초기값 적재)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Stage 2 — MATCHED AND click=0 → UPDATE SET click=1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          MATCHED AND conversion=0 → UPDATE SET conversion=1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Gold — Snapshot Diff + KPI 집계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Silver 변경분만 재집계  →  Iceberg MERGE INTO (COW)  →  일배치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Snapshot Diff — Silver 변경 파티션만 재집계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아이디어: 일배치 → 오늘 Silver에서 바뀐 것만 재집계하면 충분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Silver 전체를 매번 재스캔하는 건 낭비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(attribution window 30일치만 봐도 되지만 그것도 매일 전부 재집계하면 비효율)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구현: Silver Iceberg 스냅샷으로 변경 파티션 감지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① 오늘 Silver 첫 번째 커밋의 parent = 배치 이전 상태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② 현재 스냅샷 vs parent 스냅샷을 event_date별 행수 비교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③ 달라진 event_date = 오늘 변경 파티션 → Gold 재집계 대상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   (당일 신규 + 지연 attribution으로 변경된 과거 파티션 자동 포함)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MERGE INTO ON (summary_date, campaign)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MATCHED  → UPDATE SET *  (재집계 결과로 덮어쓰기)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NOT MATCHED  → INSERT  (신규 날짜)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440680"/>
            <a:ext cx="5577840" cy="34747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4406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왜 COW(Copy-On-Write)인가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8064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Gold는 Superset/Athena에서 가장 많이 읽히는 테이블 → 읽기 성능이 최우선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COW: 파티션 파일 재작성 후 항상 clean → Athena 스캔 성능 일정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7607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Gold KPI — campaign_summary 스키마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00200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6367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impressions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6367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COUNT(*)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984248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208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clicks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02082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SUM(click)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368296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conversions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4048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SUM(conversion)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752344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unique_users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788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COUNT(DISTINCT uid)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136392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172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1729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clicks / impressions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520440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557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CVR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55701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conversions / clicks × 100  (clicks=0 → NULL)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904488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9410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9410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total_cost / clicks  (clicks=0 → NULL)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288536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325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3251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total_cost / conversions  (conversions=0 → NULL)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672584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7091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total_cost / impressions × 1,000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5056632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5093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frequency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0932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impressions / unique_users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5440680"/>
            <a:ext cx="5760720" cy="374904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54772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avg_conv_delay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547725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AVG(conversion_delay_sec ≥ 0)  — sentinel(-1) 제외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5824728"/>
            <a:ext cx="57607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58613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02C"/>
                </a:solidFill>
              </a:rPr>
              <a:t>CTC / VTC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586130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C"/>
                </a:solidFill>
              </a:rPr>
              <a:t>click=1&amp;conversion=1  /  click=0&amp;conversion=1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6473952"/>
            <a:ext cx="576072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D4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651967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46A0A"/>
                </a:solidFill>
              </a:rPr>
              <a:t>⚠️  백필 시 Gold는 명시 재처리 모드(--run-date-start 지정) 사용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운영 자동화 — Airflow DAG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3개 DAG + 검증 게이트 + ExternalTaskSensor 의존성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772400" cy="347472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DAG 의존 관계</a:t>
            </a:r>
          </a:p>
        </p:txBody>
      </p:sp>
      <p:pic>
        <p:nvPicPr>
          <p:cNvPr id="8" name="Picture 7" descr="airflow DAG 구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36192"/>
            <a:ext cx="5820156" cy="47923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143000"/>
            <a:ext cx="3657600" cy="347472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43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검증 게이트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36192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>패턴: 0행 = 정상, 1행+ = AirflowException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>※ 오늘 = 배치 실행일 / 어제 = Bronze 처리 대상일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>verify_silver_snapshot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C1C1C"/>
                </a:solidFill>
              </a:rPr>
              <a:t>   오늘 배치가 Silver Iceberg 커밋을 남겼는가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C1C1C"/>
                </a:solidFill>
              </a:rPr>
              <a:t>   (Spark exit 0이어도 커밋 없으면 감지)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>verify_silver_rows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C1C1C"/>
                </a:solidFill>
              </a:rPr>
              <a:t>   어제(처리 대상) Silver event_date 파티션 행수 &gt; 0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>verify_gold_snapshot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C1C1C"/>
                </a:solidFill>
              </a:rPr>
              <a:t>   오늘 배치가 Gold Iceberg 커밋을 남겼는가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C1C1C"/>
                </a:solidFill>
              </a:rPr>
              <a:t>verify_silver_gold_consistency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C1C1C"/>
                </a:solidFill>
              </a:rPr>
              <a:t>   Silver COUNT(*) vs Gold SUM(impressions)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C1C1C"/>
                </a:solidFill>
              </a:rPr>
              <a:t>   차이 10% 이내 + Gold 파티션 존재 확인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C1C1C"/>
                </a:solidFill>
              </a:rPr>
              <a:t>   (10%: attribution 지연으로 Silver/Gold 완전 일치 불가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1C1C1C"/>
                </a:solidFill>
              </a:rPr>
              <a:t>   → 보수적 기준)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166360"/>
            <a:ext cx="11612880" cy="1600200"/>
          </a:xfrm>
          <a:prstGeom prst="rect">
            <a:avLst/>
          </a:prstGeom>
          <a:solidFill>
            <a:srgbClr val="FFF3E0"/>
          </a:solidFill>
          <a:ln w="12700">
            <a:solidFill>
              <a:srgbClr val="D46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212080"/>
            <a:ext cx="11430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46A0A"/>
                </a:solidFill>
              </a:rPr>
              <a:t>⚠️ 한계</a:t>
            </a:r>
          </a:p>
          <a:p>
            <a:r>
              <a:rPr sz="1200">
                <a:solidFill>
                  <a:srgbClr val="D46A0A"/>
                </a:solidFill>
              </a:rPr>
              <a:t>• 검증 범위: 어제 파티션 1개만 확인</a:t>
            </a:r>
          </a:p>
          <a:p>
            <a:r>
              <a:rPr sz="1200">
                <a:solidFill>
                  <a:srgbClr val="D46A0A"/>
                </a:solidFill>
              </a:rPr>
              <a:t>  Attribution으로 갱신된 어제 이전 파티션 Silver↔Gold 정합성 미커버</a:t>
            </a:r>
          </a:p>
          <a:p>
            <a:r>
              <a:rPr sz="1200">
                <a:solidFill>
                  <a:srgbClr val="D46A0A"/>
                </a:solidFill>
              </a:rPr>
              <a:t>• 이 DAG 구조는 Silver/Gold 테이블이 각 1개라는 전제에 의존</a:t>
            </a:r>
          </a:p>
          <a:p>
            <a:r>
              <a:rPr sz="1200">
                <a:solidFill>
                  <a:srgbClr val="D46A0A"/>
                </a:solidFill>
              </a:rPr>
              <a:t>  새 테이블 추가 시 전체 DAG가 무너지는 구조 → 레이어별 유지보수 DAG 분리가 더 적합한 설계였음</a:t>
            </a:r>
          </a:p>
          <a:p>
            <a:r>
              <a:rPr sz="1200">
                <a:solidFill>
                  <a:srgbClr val="D46A0A"/>
                </a:solidFill>
              </a:rPr>
              <a:t>• 백필: --run-date-start/end 인자 있으나 Airflow UI에서 날짜 지정 연결 미구현</a:t>
            </a:r>
          </a:p>
          <a:p>
            <a:r>
              <a:rPr sz="1200">
                <a:solidFill>
                  <a:srgbClr val="D46A0A"/>
                </a:solidFill>
              </a:rPr>
              <a:t>  — docker compose 명령 직접 실행 필요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Iceberg 유지보수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Compaction / Expire / Orphan / Manifest 재편성 / metadata.json 보존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709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Silver (MOR) 일간 유지보수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compact_silver  (rewrite_data_files)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대상: event_date &gt;= 오늘-35일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MOR MERGE가 매일 delete file 누적 → base + delta 병합 오버헤드 제거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왜 35일?: attribution window 30일 + 수집 지연 여유 5일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expire_silver_snapshots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older_than: 오늘-31일  (31일 초과 스냅샷 제거, 최대 31일 보존)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remove_silver_orphans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older_than: 오늘-4일  (진행 중 쓰기와 충돌 방지)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metadata.json 보존 설정 (TBLPROPERTIES)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previous-versions-max = 21  (하루 3커밋 × 7일 = 21)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커밋마다 새 metadata.json 생성 → 무한 누적 방지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※ 스냅샷 보존(31일) &gt; metadata.json 버전 보존(7일치)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  스냅샷: 롤백·시간여행 위해 길게 / metadata.json 파일 수: 짧게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5760720" cy="34747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Gold (COW) 일간 유지보수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36192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Compaction: 현재 규모에서 불필요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COW는 delete file 없음 → MOR처럼 매일 필수 아님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현재 데이터 규모: 파티션당 Parquet 파일 1개 수준 → 소형 파일 누적 없음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데이터가 커지면 소형 파일 병합을 위한 compaction 필요해질 수 있음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expire_gold_snapshots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older_than: 오늘-31일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remove_gold_orphans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older_than: 오늘-4일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metadata.json 보존 설정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previous-versions-max = 7  (하루 1커밋 × 7일)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800600"/>
            <a:ext cx="57607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800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월간 유지보수 (매월 1일)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193792"/>
            <a:ext cx="5577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rewrite_manifests (Silver + Gold 병렬)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스냅샷 누적으로 manifest 파편화 → 소수의 큰 파일로 재편성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데이터 파일 변경 없이 쿼리 플래닝 오버헤드 감소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C1C1C"/>
                </a:solidFill>
              </a:rPr>
              <a:t>   현재 규모(일 파티션 1개)에서는 월 1회로 충분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989320"/>
            <a:ext cx="1161288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98932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MERGE와 Compaction 충돌 방지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3679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ExternalTaskSensor: medallion DAG gold_batch SUCCESS 감지 후 maintenance 시작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1C1C1C"/>
                </a:solidFill>
              </a:rPr>
              <a:t>→ Silver/Gold MERGE 완전히 끝난 뒤 Compaction 실행 → Iceberg 낙관적 잠금 충돌 없음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Superset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</a:rPr>
              <a:t>Gold → 비즈니스 KPI  |  Silver → 운영 모니터링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315200" cy="34747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비즈니스 대시보드 — Gold 기반 (Campaign팀/BI팀)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7132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데이터 소스: Gold campaign_summary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(집계 테이블 → Athena 스캔 비용 낮음)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business/01  30일 캠페인별 KPI 추이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CTR / CVR / CPC / CPA / CPM / frequency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click-through conversion vs view-through conversion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business/02  Conversion 지연 분포 (주간 refresh)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p25 / p50 / p75 / p90 / p95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Attribution window(30일) 적정성 검증 지표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Superset Dataset 캐싱 (미구현 — 적용 시 비용 절감 가능)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24h 캐싱 설정 시 하루 1번 Athena 스캔으로 여러 팀 조회 커버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66360"/>
            <a:ext cx="731520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16636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운영 대시보드 — Silver 기반 (DE용)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559552"/>
            <a:ext cx="7132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C1C1C"/>
                </a:solidFill>
              </a:rPr>
              <a:t>Silver를 데이터 소스로 사용 — 파이프라인 정상 동작 여부 확인 전용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일별 볼륨 추이 / attribution 커버리지 / 단계별 파이프라인 지연 추이 (p50)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1C1C1C"/>
                </a:solidFill>
              </a:rPr>
              <a:t>   운영 이상 신호(급증/급감/attribution 0%)를 시각적으로 모니터링</a:t>
            </a:r>
          </a:p>
        </p:txBody>
      </p:sp>
      <p:pic>
        <p:nvPicPr>
          <p:cNvPr id="12" name="Picture 11" descr="대시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7276795" cy="2809036"/>
          </a:xfrm>
          <a:prstGeom prst="rect">
            <a:avLst/>
          </a:prstGeom>
        </p:spPr>
      </p:pic>
      <p:pic>
        <p:nvPicPr>
          <p:cNvPr id="13" name="Picture 12" descr="대시보드_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3084271"/>
            <a:ext cx="4627778" cy="366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회고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설계 한계 — 고려하지 못한 것들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36192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1">
                <a:solidFill>
                  <a:srgbClr val="1C1C1C"/>
                </a:solidFill>
              </a:rPr>
              <a:t>인프라 HA 미고려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Kafka 단일 브로커 — 장애 시 메시지 손실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Spark Worker가 단일 물리 머신 — 실제 분산 아님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장애 복구 절차 미설계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C1C1C"/>
                </a:solidFill>
              </a:rPr>
              <a:t>플랫폼 확장성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Silver/Gold 테이블이 여러 개 생기는 상황을 생각 못 했음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지금 구조는 테이블 1:1 하드코딩 — 테이블 늘면 DAG 전체 수정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레이어별 유지보수 DAG 분리가 더 적합했을 것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Bronze도 Silver 테이블 늘면 읽히는 빈도 증가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→ Bronze compaction Spark job 별도 필요해질 수 있음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C1C1C"/>
                </a:solidFill>
              </a:rPr>
              <a:t>스케일아웃 전략 없음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데이터 10x 증가 시 파티션 전략 / 코어 배분 어떻게 바꿔야 하는지 고려 못 했음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C1C1C"/>
                </a:solidFill>
              </a:rPr>
              <a:t>날짜 기준 UTC 고정 (UTC vs KST)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Kafka·Spark·Airflow·S3 모두 UTC 기준으로 동작→ 날짜 경계 처리 주의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현재 Airflow를 KST 낮 시간대에 실행해 회피 중 (근본 해결 아님)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C1C1C"/>
                </a:solidFill>
              </a:rPr>
              <a:t>백필 운영 절차 미흡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CLI 인자는 있는데 Airflow UI에서 날짜 지정하는 연결 미구현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C1C1C"/>
                </a:solidFill>
              </a:rPr>
              <a:t>Compaction 정렬 전략 미고려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현재 bin-pack: 파일 크기만 맞춤, 정렬 없음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sort/z-order 적용 시 attribution JOIN·Superset 쿼리 성능 개선 가능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1C1C1C"/>
                </a:solidFill>
              </a:rPr>
              <a:t>Gold 집계 버그 — 발표 준비 중 발견 (미수정)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Silver 스냅샷 비교로 변경 파티션만 Gold 재집계하는 방식인데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1C1C1C"/>
                </a:solidFill>
              </a:rPr>
              <a:t>   click·conversion은 기존 행 값만 바뀌어 행 수 그대로 → 감지 누락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143000"/>
            <a:ext cx="576072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프로젝트 진행 후기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536192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1C1C1C"/>
                </a:solidFill>
              </a:rPr>
              <a:t>CS 기반 부족 — 환경 설정에서 막혔음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환경변수·포트·네트워크·엔드포인트 등 처음 들어보는 개념들이 많아 이해 어려움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.config() 자격증명·docker-compose·Dockerfile 설정은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Claude Code에 맡기고 '앱이 돌아가면 된 거겠지'로 진행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C1C1C"/>
                </a:solidFill>
              </a:rPr>
              <a:t>기능 단위 테스트를 안 했음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기능 여러 개 붙이고 파이프라인 한번에 돌려서 오류 역추적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→ 기능 하나 붙일 때마다 소규모 테스트했으면 더 효율적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C1C1C"/>
                </a:solidFill>
              </a:rPr>
              <a:t>적재 데이터 직접 검증 안 했음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파이프라인이 오류 없이 돌면 데이터가 맞겠지 하고 넘어감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→ 테이블 만들 때마다 소규모 Athena 쿼리로 여러 케이스 확인했어야 함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C1C1C"/>
                </a:solidFill>
              </a:rPr>
              <a:t>Spark 자원 배분 고민 부족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worker·executor 조정으로 처리량 늘린다는 건 알지만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job별 구체적 자원 설계는 못 해봄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C1C1C"/>
                </a:solidFill>
              </a:rPr>
              <a:t>Claude Code 처음 써봤는데 AI가 제안한 코드 읽기부터 막히는 문제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구현 됐다고 하면 코드 안 읽고 패스하는 식으로 진행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코드 읽기부터 막히는 수준인데 직접 쓰기까지는 갭이 얼마나 클지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바이브코딩·노코드 추세인데 코드 읽기/쓰기에 대한 공부가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1C1C1C"/>
                </a:solidFill>
              </a:rPr>
              <a:t>   어느 정도로 필요할지 방향이 안 잡힘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20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8C8E8"/>
                </a:solidFill>
              </a:rPr>
              <a:t>Kafka  →  Spark Streaming  →  S3 Iceberg (MOR / COW)  →  Athena  →  Superset
Attribution Window  |  Snapshot Diff  |  MERGE INTO 멱등성  |  Airflow 자동화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