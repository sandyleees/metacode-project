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419" autoAdjust="0"/>
  </p:normalViewPr>
  <p:slideViewPr>
    <p:cSldViewPr snapToGrid="0" snapToObjects="1">
      <p:cViewPr varScale="1">
        <p:scale>
          <a:sx n="63" d="100"/>
          <a:sy n="63" d="100"/>
        </p:scale>
        <p:origin x="96" y="5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B8921A-2B90-4000-AF6B-8C64E1EEDA15}" type="datetimeFigureOut">
              <a:rPr lang="ko-KR" altLang="en-US" smtClean="0"/>
              <a:t>2026-06-27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437849-1E36-41F3-A3EC-119E8F7DDB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6240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37849-1E36-41F3-A3EC-119E8F7DDB45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17991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37849-1E36-41F3-A3EC-119E8F7DDB45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62095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37849-1E36-41F3-A3EC-119E8F7DDB45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59526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37849-1E36-41F3-A3EC-119E8F7DDB45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162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37849-1E36-41F3-A3EC-119E8F7DDB45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20879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37849-1E36-41F3-A3EC-119E8F7DDB45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09177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37849-1E36-41F3-A3EC-119E8F7DDB45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52345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12188952" cy="914400"/>
          </a:xfrm>
          <a:prstGeom prst="rect">
            <a:avLst/>
          </a:prstGeom>
          <a:solidFill>
            <a:srgbClr val="20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Criteo 광고 데이터 파이프라인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8813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 dirty="0" err="1">
                <a:solidFill>
                  <a:srgbClr val="A8C8E8"/>
                </a:solidFill>
              </a:rPr>
              <a:t>실시간</a:t>
            </a:r>
            <a:r>
              <a:rPr sz="2200" b="0" i="0" dirty="0">
                <a:solidFill>
                  <a:srgbClr val="A8C8E8"/>
                </a:solidFill>
              </a:rPr>
              <a:t> </a:t>
            </a:r>
            <a:r>
              <a:rPr sz="2200" b="0" i="0" dirty="0" err="1">
                <a:solidFill>
                  <a:srgbClr val="A8C8E8"/>
                </a:solidFill>
              </a:rPr>
              <a:t>수집</a:t>
            </a:r>
            <a:r>
              <a:rPr sz="2200" b="0" i="0" dirty="0">
                <a:solidFill>
                  <a:srgbClr val="A8C8E8"/>
                </a:solidFill>
              </a:rPr>
              <a:t>  →  Medallion </a:t>
            </a:r>
            <a:r>
              <a:rPr sz="2200" b="0" i="0" dirty="0" err="1">
                <a:solidFill>
                  <a:srgbClr val="A8C8E8"/>
                </a:solidFill>
              </a:rPr>
              <a:t>아키텍처</a:t>
            </a:r>
            <a:r>
              <a:rPr sz="2200" b="0" i="0" dirty="0">
                <a:solidFill>
                  <a:srgbClr val="A8C8E8"/>
                </a:solidFill>
              </a:rPr>
              <a:t>  →  BI </a:t>
            </a:r>
            <a:r>
              <a:rPr sz="2200" b="0" i="0" dirty="0" err="1">
                <a:solidFill>
                  <a:srgbClr val="A8C8E8"/>
                </a:solidFill>
              </a:rPr>
              <a:t>시각화</a:t>
            </a:r>
            <a:endParaRPr lang="en-US" sz="2200" b="0" i="0" dirty="0">
              <a:solidFill>
                <a:srgbClr val="A8C8E8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613916" y="3749039"/>
            <a:ext cx="1188720" cy="365760"/>
          </a:xfrm>
          <a:prstGeom prst="rect">
            <a:avLst/>
          </a:prstGeom>
          <a:solidFill>
            <a:srgbClr val="20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13916" y="3749039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Kafka</a:t>
            </a:r>
          </a:p>
        </p:txBody>
      </p:sp>
      <p:sp>
        <p:nvSpPr>
          <p:cNvPr id="8" name="Rectangle 7"/>
          <p:cNvSpPr/>
          <p:nvPr/>
        </p:nvSpPr>
        <p:spPr>
          <a:xfrm>
            <a:off x="2894076" y="3749039"/>
            <a:ext cx="1188720" cy="365760"/>
          </a:xfrm>
          <a:prstGeom prst="rect">
            <a:avLst/>
          </a:prstGeom>
          <a:solidFill>
            <a:srgbClr val="20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94076" y="3749039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Spark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74236" y="3749039"/>
            <a:ext cx="1188720" cy="365760"/>
          </a:xfrm>
          <a:prstGeom prst="rect">
            <a:avLst/>
          </a:prstGeom>
          <a:solidFill>
            <a:srgbClr val="20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74236" y="3749039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S3 Iceberg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54396" y="3749039"/>
            <a:ext cx="1188720" cy="365760"/>
          </a:xfrm>
          <a:prstGeom prst="rect">
            <a:avLst/>
          </a:prstGeom>
          <a:solidFill>
            <a:srgbClr val="20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54396" y="3749039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Glue Catalog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34556" y="3749039"/>
            <a:ext cx="1188720" cy="365760"/>
          </a:xfrm>
          <a:prstGeom prst="rect">
            <a:avLst/>
          </a:prstGeom>
          <a:solidFill>
            <a:srgbClr val="20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34556" y="3749039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Athena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14716" y="3749039"/>
            <a:ext cx="1188720" cy="365760"/>
          </a:xfrm>
          <a:prstGeom prst="rect">
            <a:avLst/>
          </a:prstGeom>
          <a:solidFill>
            <a:srgbClr val="20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14716" y="3749039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Airflow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94876" y="3749039"/>
            <a:ext cx="1188720" cy="365760"/>
          </a:xfrm>
          <a:prstGeom prst="rect">
            <a:avLst/>
          </a:prstGeom>
          <a:solidFill>
            <a:srgbClr val="20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94876" y="3749039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Superset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118890"/>
            <a:ext cx="44462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sz="1400" dirty="0">
                <a:solidFill>
                  <a:srgbClr val="FFFFFF"/>
                </a:solidFill>
              </a:rPr>
              <a:t>2026.06.27 </a:t>
            </a:r>
            <a:r>
              <a:rPr lang="ko-KR" altLang="en-US" sz="1400" dirty="0">
                <a:solidFill>
                  <a:srgbClr val="FFFFFF"/>
                </a:solidFill>
              </a:rPr>
              <a:t>데이터 엔지니어링 프로젝트 </a:t>
            </a:r>
            <a:endParaRPr lang="en-US" altLang="ko-KR" sz="1400" dirty="0">
              <a:solidFill>
                <a:srgbClr val="FFFFFF"/>
              </a:solidFill>
            </a:endParaRPr>
          </a:p>
          <a:p>
            <a:pPr algn="l"/>
            <a:r>
              <a:rPr lang="ko-KR" altLang="en-US" sz="1400" dirty="0">
                <a:solidFill>
                  <a:srgbClr val="FFFFFF"/>
                </a:solidFill>
              </a:rPr>
              <a:t>이은수 </a:t>
            </a:r>
            <a:r>
              <a:rPr lang="en-US" altLang="ko-KR" sz="1400" dirty="0">
                <a:solidFill>
                  <a:srgbClr val="FFFFFF"/>
                </a:solidFill>
              </a:rPr>
              <a:t>sandyleees@gmail.com</a:t>
            </a:r>
            <a:r>
              <a:rPr lang="ko-KR" altLang="en-US" sz="1400" dirty="0">
                <a:solidFill>
                  <a:srgbClr val="FFFFFF"/>
                </a:solidFill>
              </a:rPr>
              <a:t> </a:t>
            </a:r>
            <a:endParaRPr sz="1400" b="0" i="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프로젝트 개요 및 목표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5394960" cy="347472"/>
          </a:xfrm>
          <a:prstGeom prst="rect">
            <a:avLst/>
          </a:prstGeom>
          <a:solidFill>
            <a:srgbClr val="20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프로젝트 배경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36192"/>
            <a:ext cx="5212080" cy="14978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 dirty="0" err="1">
                <a:solidFill>
                  <a:srgbClr val="1C1C1C"/>
                </a:solidFill>
              </a:rPr>
              <a:t>도메인</a:t>
            </a:r>
            <a:r>
              <a:rPr sz="1400" dirty="0">
                <a:solidFill>
                  <a:srgbClr val="1C1C1C"/>
                </a:solidFill>
              </a:rPr>
              <a:t>: </a:t>
            </a:r>
            <a:r>
              <a:rPr sz="1400" dirty="0" err="1">
                <a:solidFill>
                  <a:srgbClr val="1C1C1C"/>
                </a:solidFill>
              </a:rPr>
              <a:t>광고</a:t>
            </a:r>
            <a:r>
              <a:rPr sz="1400" dirty="0">
                <a:solidFill>
                  <a:srgbClr val="1C1C1C"/>
                </a:solidFill>
              </a:rPr>
              <a:t> </a:t>
            </a:r>
            <a:r>
              <a:rPr sz="1400" dirty="0" err="1">
                <a:solidFill>
                  <a:srgbClr val="1C1C1C"/>
                </a:solidFill>
              </a:rPr>
              <a:t>성과</a:t>
            </a:r>
            <a:r>
              <a:rPr sz="1400" dirty="0">
                <a:solidFill>
                  <a:srgbClr val="1C1C1C"/>
                </a:solidFill>
              </a:rPr>
              <a:t> </a:t>
            </a:r>
            <a:r>
              <a:rPr sz="1400" dirty="0" err="1">
                <a:solidFill>
                  <a:srgbClr val="1C1C1C"/>
                </a:solidFill>
              </a:rPr>
              <a:t>분석</a:t>
            </a:r>
            <a:r>
              <a:rPr sz="1400" dirty="0">
                <a:solidFill>
                  <a:srgbClr val="1C1C1C"/>
                </a:solidFill>
              </a:rPr>
              <a:t> (Criteo Attribution Dataset)</a:t>
            </a:r>
          </a:p>
          <a:p>
            <a:pPr>
              <a:spcBef>
                <a:spcPts val="200"/>
              </a:spcBef>
            </a:pPr>
            <a:r>
              <a:rPr sz="1250" dirty="0">
                <a:solidFill>
                  <a:srgbClr val="1C1C1C"/>
                </a:solidFill>
              </a:rPr>
              <a:t>   </a:t>
            </a:r>
            <a:r>
              <a:rPr sz="1250" dirty="0" err="1">
                <a:solidFill>
                  <a:srgbClr val="1C1C1C"/>
                </a:solidFill>
              </a:rPr>
              <a:t>HuggingFace</a:t>
            </a:r>
            <a:r>
              <a:rPr sz="1250" dirty="0">
                <a:solidFill>
                  <a:srgbClr val="1C1C1C"/>
                </a:solidFill>
              </a:rPr>
              <a:t> </a:t>
            </a:r>
            <a:r>
              <a:rPr sz="1250" dirty="0" err="1">
                <a:solidFill>
                  <a:srgbClr val="1C1C1C"/>
                </a:solidFill>
              </a:rPr>
              <a:t>오픈소스</a:t>
            </a:r>
            <a:r>
              <a:rPr sz="1250" dirty="0">
                <a:solidFill>
                  <a:srgbClr val="1C1C1C"/>
                </a:solidFill>
              </a:rPr>
              <a:t> — impression / click / conversion 3종 </a:t>
            </a:r>
            <a:r>
              <a:rPr sz="1250" dirty="0" err="1">
                <a:solidFill>
                  <a:srgbClr val="1C1C1C"/>
                </a:solidFill>
              </a:rPr>
              <a:t>이벤트</a:t>
            </a:r>
            <a:endParaRPr sz="1250" dirty="0">
              <a:solidFill>
                <a:srgbClr val="1C1C1C"/>
              </a:solidFill>
            </a:endParaRPr>
          </a:p>
          <a:p>
            <a:pPr>
              <a:spcBef>
                <a:spcPts val="200"/>
              </a:spcBef>
            </a:pPr>
            <a:r>
              <a:rPr sz="1250" dirty="0">
                <a:solidFill>
                  <a:srgbClr val="1C1C1C"/>
                </a:solidFill>
              </a:rPr>
              <a:t>   </a:t>
            </a:r>
            <a:r>
              <a:rPr sz="1250" dirty="0" err="1">
                <a:solidFill>
                  <a:srgbClr val="1C1C1C"/>
                </a:solidFill>
              </a:rPr>
              <a:t>원본</a:t>
            </a:r>
            <a:r>
              <a:rPr sz="1250" dirty="0">
                <a:solidFill>
                  <a:srgbClr val="1C1C1C"/>
                </a:solidFill>
              </a:rPr>
              <a:t> </a:t>
            </a:r>
            <a:r>
              <a:rPr sz="1250" dirty="0" err="1">
                <a:solidFill>
                  <a:srgbClr val="1C1C1C"/>
                </a:solidFill>
              </a:rPr>
              <a:t>데이터는</a:t>
            </a:r>
            <a:r>
              <a:rPr sz="1250" dirty="0">
                <a:solidFill>
                  <a:srgbClr val="1C1C1C"/>
                </a:solidFill>
              </a:rPr>
              <a:t> 한 </a:t>
            </a:r>
            <a:r>
              <a:rPr sz="1250" dirty="0" err="1">
                <a:solidFill>
                  <a:srgbClr val="1C1C1C"/>
                </a:solidFill>
              </a:rPr>
              <a:t>행에</a:t>
            </a:r>
            <a:r>
              <a:rPr sz="1250" dirty="0">
                <a:solidFill>
                  <a:srgbClr val="1C1C1C"/>
                </a:solidFill>
              </a:rPr>
              <a:t> </a:t>
            </a:r>
            <a:r>
              <a:rPr sz="1250" dirty="0" err="1">
                <a:solidFill>
                  <a:srgbClr val="1C1C1C"/>
                </a:solidFill>
              </a:rPr>
              <a:t>조인된</a:t>
            </a:r>
            <a:r>
              <a:rPr sz="1250" dirty="0">
                <a:solidFill>
                  <a:srgbClr val="1C1C1C"/>
                </a:solidFill>
              </a:rPr>
              <a:t> </a:t>
            </a:r>
            <a:r>
              <a:rPr sz="1250" dirty="0" err="1">
                <a:solidFill>
                  <a:srgbClr val="1C1C1C"/>
                </a:solidFill>
              </a:rPr>
              <a:t>형태</a:t>
            </a:r>
            <a:r>
              <a:rPr sz="1250" dirty="0">
                <a:solidFill>
                  <a:srgbClr val="1C1C1C"/>
                </a:solidFill>
              </a:rPr>
              <a:t> → </a:t>
            </a:r>
            <a:r>
              <a:rPr sz="1250" dirty="0" err="1">
                <a:solidFill>
                  <a:srgbClr val="1C1C1C"/>
                </a:solidFill>
              </a:rPr>
              <a:t>실시간</a:t>
            </a:r>
            <a:r>
              <a:rPr sz="1250" dirty="0">
                <a:solidFill>
                  <a:srgbClr val="1C1C1C"/>
                </a:solidFill>
              </a:rPr>
              <a:t> </a:t>
            </a:r>
            <a:r>
              <a:rPr sz="1250" dirty="0" err="1">
                <a:solidFill>
                  <a:srgbClr val="1C1C1C"/>
                </a:solidFill>
              </a:rPr>
              <a:t>분리</a:t>
            </a:r>
            <a:r>
              <a:rPr sz="1250" dirty="0">
                <a:solidFill>
                  <a:srgbClr val="1C1C1C"/>
                </a:solidFill>
              </a:rPr>
              <a:t> </a:t>
            </a:r>
            <a:r>
              <a:rPr sz="1250" dirty="0" err="1">
                <a:solidFill>
                  <a:srgbClr val="1C1C1C"/>
                </a:solidFill>
              </a:rPr>
              <a:t>스트림으로</a:t>
            </a:r>
            <a:r>
              <a:rPr sz="1250" dirty="0">
                <a:solidFill>
                  <a:srgbClr val="1C1C1C"/>
                </a:solidFill>
              </a:rPr>
              <a:t> </a:t>
            </a:r>
            <a:r>
              <a:rPr sz="1250" dirty="0" err="1">
                <a:solidFill>
                  <a:srgbClr val="1C1C1C"/>
                </a:solidFill>
              </a:rPr>
              <a:t>재설계</a:t>
            </a:r>
            <a:endParaRPr sz="1250" dirty="0">
              <a:solidFill>
                <a:srgbClr val="1C1C1C"/>
              </a:solidFill>
            </a:endParaRPr>
          </a:p>
          <a:p>
            <a:pPr>
              <a:spcBef>
                <a:spcPts val="500"/>
              </a:spcBef>
            </a:pPr>
            <a:endParaRPr sz="1250" dirty="0">
              <a:solidFill>
                <a:srgbClr val="1C1C1C"/>
              </a:solidFill>
            </a:endParaRPr>
          </a:p>
          <a:p>
            <a:pPr>
              <a:spcBef>
                <a:spcPts val="500"/>
              </a:spcBef>
            </a:pPr>
            <a:r>
              <a:rPr sz="1400" dirty="0" err="1">
                <a:solidFill>
                  <a:srgbClr val="1C1C1C"/>
                </a:solidFill>
              </a:rPr>
              <a:t>목표</a:t>
            </a:r>
            <a:r>
              <a:rPr sz="1400" dirty="0">
                <a:solidFill>
                  <a:srgbClr val="1C1C1C"/>
                </a:solidFill>
              </a:rPr>
              <a:t>: </a:t>
            </a:r>
            <a:r>
              <a:rPr sz="1400" dirty="0" err="1">
                <a:solidFill>
                  <a:srgbClr val="1C1C1C"/>
                </a:solidFill>
              </a:rPr>
              <a:t>실제</a:t>
            </a:r>
            <a:r>
              <a:rPr sz="1400" dirty="0">
                <a:solidFill>
                  <a:srgbClr val="1C1C1C"/>
                </a:solidFill>
              </a:rPr>
              <a:t> </a:t>
            </a:r>
            <a:r>
              <a:rPr sz="1400" dirty="0" err="1">
                <a:solidFill>
                  <a:srgbClr val="1C1C1C"/>
                </a:solidFill>
              </a:rPr>
              <a:t>광고</a:t>
            </a:r>
            <a:r>
              <a:rPr sz="1400" dirty="0">
                <a:solidFill>
                  <a:srgbClr val="1C1C1C"/>
                </a:solidFill>
              </a:rPr>
              <a:t> </a:t>
            </a:r>
            <a:r>
              <a:rPr sz="1400" dirty="0" err="1">
                <a:solidFill>
                  <a:srgbClr val="1C1C1C"/>
                </a:solidFill>
              </a:rPr>
              <a:t>데이터</a:t>
            </a:r>
            <a:r>
              <a:rPr sz="1400" dirty="0">
                <a:solidFill>
                  <a:srgbClr val="1C1C1C"/>
                </a:solidFill>
              </a:rPr>
              <a:t> </a:t>
            </a:r>
            <a:r>
              <a:rPr sz="1400" dirty="0" err="1">
                <a:solidFill>
                  <a:srgbClr val="1C1C1C"/>
                </a:solidFill>
              </a:rPr>
              <a:t>플랫폼의</a:t>
            </a:r>
            <a:r>
              <a:rPr sz="1400" dirty="0">
                <a:solidFill>
                  <a:srgbClr val="1C1C1C"/>
                </a:solidFill>
              </a:rPr>
              <a:t> </a:t>
            </a:r>
            <a:r>
              <a:rPr sz="1400" dirty="0" err="1">
                <a:solidFill>
                  <a:srgbClr val="1C1C1C"/>
                </a:solidFill>
              </a:rPr>
              <a:t>수집</a:t>
            </a:r>
            <a:r>
              <a:rPr sz="1400" dirty="0">
                <a:solidFill>
                  <a:srgbClr val="1C1C1C"/>
                </a:solidFill>
              </a:rPr>
              <a:t> → </a:t>
            </a:r>
            <a:r>
              <a:rPr sz="1400" dirty="0" err="1">
                <a:solidFill>
                  <a:srgbClr val="1C1C1C"/>
                </a:solidFill>
              </a:rPr>
              <a:t>저장</a:t>
            </a:r>
            <a:r>
              <a:rPr sz="1400" dirty="0">
                <a:solidFill>
                  <a:srgbClr val="1C1C1C"/>
                </a:solidFill>
              </a:rPr>
              <a:t> → </a:t>
            </a:r>
            <a:r>
              <a:rPr sz="1400" dirty="0" err="1">
                <a:solidFill>
                  <a:srgbClr val="1C1C1C"/>
                </a:solidFill>
              </a:rPr>
              <a:t>집계</a:t>
            </a:r>
            <a:r>
              <a:rPr sz="1400" dirty="0">
                <a:solidFill>
                  <a:srgbClr val="1C1C1C"/>
                </a:solidFill>
              </a:rPr>
              <a:t> → </a:t>
            </a:r>
            <a:r>
              <a:rPr sz="1400" dirty="0" err="1">
                <a:solidFill>
                  <a:srgbClr val="1C1C1C"/>
                </a:solidFill>
              </a:rPr>
              <a:t>시각화</a:t>
            </a:r>
            <a:endParaRPr sz="1400" dirty="0">
              <a:solidFill>
                <a:srgbClr val="1C1C1C"/>
              </a:solidFill>
            </a:endParaRPr>
          </a:p>
          <a:p>
            <a:pPr>
              <a:spcBef>
                <a:spcPts val="200"/>
              </a:spcBef>
            </a:pPr>
            <a:r>
              <a:rPr sz="1250" dirty="0">
                <a:solidFill>
                  <a:srgbClr val="1C1C1C"/>
                </a:solidFill>
              </a:rPr>
              <a:t>   </a:t>
            </a:r>
            <a:r>
              <a:rPr sz="1250" dirty="0" err="1">
                <a:solidFill>
                  <a:srgbClr val="1C1C1C"/>
                </a:solidFill>
              </a:rPr>
              <a:t>흐름을</a:t>
            </a:r>
            <a:r>
              <a:rPr sz="1250" dirty="0">
                <a:solidFill>
                  <a:srgbClr val="1C1C1C"/>
                </a:solidFill>
              </a:rPr>
              <a:t> </a:t>
            </a:r>
            <a:r>
              <a:rPr sz="1250" dirty="0" err="1">
                <a:solidFill>
                  <a:srgbClr val="1C1C1C"/>
                </a:solidFill>
              </a:rPr>
              <a:t>처음부터</a:t>
            </a:r>
            <a:r>
              <a:rPr sz="1250" dirty="0">
                <a:solidFill>
                  <a:srgbClr val="1C1C1C"/>
                </a:solidFill>
              </a:rPr>
              <a:t> </a:t>
            </a:r>
            <a:r>
              <a:rPr sz="1250" dirty="0" err="1">
                <a:solidFill>
                  <a:srgbClr val="1C1C1C"/>
                </a:solidFill>
              </a:rPr>
              <a:t>끝까지</a:t>
            </a:r>
            <a:r>
              <a:rPr sz="1250" dirty="0">
                <a:solidFill>
                  <a:srgbClr val="1C1C1C"/>
                </a:solidFill>
              </a:rPr>
              <a:t> </a:t>
            </a:r>
            <a:r>
              <a:rPr sz="1250" dirty="0" err="1">
                <a:solidFill>
                  <a:srgbClr val="1C1C1C"/>
                </a:solidFill>
              </a:rPr>
              <a:t>직접</a:t>
            </a:r>
            <a:r>
              <a:rPr sz="1250" dirty="0">
                <a:solidFill>
                  <a:srgbClr val="1C1C1C"/>
                </a:solidFill>
              </a:rPr>
              <a:t> </a:t>
            </a:r>
            <a:r>
              <a:rPr sz="1250" dirty="0" err="1">
                <a:solidFill>
                  <a:srgbClr val="1C1C1C"/>
                </a:solidFill>
              </a:rPr>
              <a:t>구현</a:t>
            </a:r>
            <a:r>
              <a:rPr lang="ko-KR" altLang="en-US" sz="1250" dirty="0">
                <a:solidFill>
                  <a:srgbClr val="1C1C1C"/>
                </a:solidFill>
              </a:rPr>
              <a:t>하며 강의에서</a:t>
            </a:r>
            <a:r>
              <a:rPr lang="en-US" altLang="ko-KR" sz="1250" dirty="0">
                <a:solidFill>
                  <a:srgbClr val="1C1C1C"/>
                </a:solidFill>
              </a:rPr>
              <a:t> </a:t>
            </a:r>
            <a:r>
              <a:rPr lang="ko-KR" altLang="en-US" sz="1250" dirty="0">
                <a:solidFill>
                  <a:srgbClr val="1C1C1C"/>
                </a:solidFill>
              </a:rPr>
              <a:t>다루었던 기술 이해</a:t>
            </a:r>
            <a:endParaRPr sz="1250" dirty="0">
              <a:solidFill>
                <a:srgbClr val="1C1C1C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035040" y="1143000"/>
            <a:ext cx="5806440" cy="347472"/>
          </a:xfrm>
          <a:prstGeom prst="rect">
            <a:avLst/>
          </a:prstGeom>
          <a:solidFill>
            <a:srgbClr val="20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6480" y="1143000"/>
            <a:ext cx="5715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기술 스택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536192"/>
            <a:ext cx="1371600" cy="384048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35040" y="1536192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수집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1536192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Criteo Dataset (HuggingFace Streaming)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2066544"/>
            <a:ext cx="1371600" cy="384048"/>
          </a:xfrm>
          <a:prstGeom prst="rect">
            <a:avLst/>
          </a:prstGeom>
          <a:solidFill>
            <a:srgbClr val="20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35040" y="2066544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메시지큐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2066544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Apache Kafka — 3토픽 × 3파티션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2596896"/>
            <a:ext cx="1371600" cy="384048"/>
          </a:xfrm>
          <a:prstGeom prst="rect">
            <a:avLst/>
          </a:prstGeom>
          <a:solidFill>
            <a:srgbClr val="CD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035040" y="2596896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스트리밍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2596896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Spark Structured Streaming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3127248"/>
            <a:ext cx="1371600" cy="384048"/>
          </a:xfrm>
          <a:prstGeom prst="rect">
            <a:avLst/>
          </a:prstGeom>
          <a:solidFill>
            <a:srgbClr val="709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35040" y="3127248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저장소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3127248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AWS S3 (Parquet + Iceberg)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3657600"/>
            <a:ext cx="1371600" cy="384048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35040" y="365760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메타스토어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3657600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AWS Glue Data Catalog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4187952"/>
            <a:ext cx="1371600" cy="384048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035040" y="4187952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쿼리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4187952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Amazon Athena (서버리스 SQL)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4718304"/>
            <a:ext cx="1371600" cy="384048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35040" y="4718304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오케스트레이션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4718304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Apache Airflow 3.x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0" y="5248656"/>
            <a:ext cx="1371600" cy="384048"/>
          </a:xfrm>
          <a:prstGeom prst="rect">
            <a:avLst/>
          </a:prstGeom>
          <a:solidFill>
            <a:srgbClr val="20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035040" y="5248656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시각화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5248656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Apache Superset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0" y="1536192"/>
            <a:ext cx="5806440" cy="4242816"/>
          </a:xfrm>
          <a:prstGeom prst="rect">
            <a:avLst/>
          </a:prstGeom>
          <a:noFill/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광고 이벤트 데이터 이해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CCDD"/>
                </a:solidFill>
              </a:rPr>
              <a:t>impression / click / conversion — 지연 도착과 Attribution Window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3840480" cy="2560320"/>
          </a:xfrm>
          <a:prstGeom prst="rect">
            <a:avLst/>
          </a:prstGeom>
          <a:solidFill>
            <a:srgbClr val="F4F6F9"/>
          </a:solidFill>
          <a:ln w="12700">
            <a:solidFill>
              <a:srgbClr val="1A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3840480" cy="4114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114300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 dirty="0">
                <a:solidFill>
                  <a:srgbClr val="FFFFFF"/>
                </a:solidFill>
              </a:rPr>
              <a:t>impression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600200"/>
            <a:ext cx="3566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1C"/>
                </a:solidFill>
              </a:rPr>
              <a:t>광고 노출 이벤트
사용자 화면에 광고가 보임
cost(노출 비용) 발생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749039"/>
            <a:ext cx="3840480" cy="4114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3749039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도착 시점: 즉시 발생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1143000"/>
            <a:ext cx="3840480" cy="2560320"/>
          </a:xfrm>
          <a:prstGeom prst="rect">
            <a:avLst/>
          </a:prstGeom>
          <a:solidFill>
            <a:srgbClr val="F4F6F9"/>
          </a:solidFill>
          <a:ln w="12700">
            <a:solidFill>
              <a:srgbClr val="20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06240" y="1143000"/>
            <a:ext cx="3840480" cy="411480"/>
          </a:xfrm>
          <a:prstGeom prst="rect">
            <a:avLst/>
          </a:prstGeom>
          <a:solidFill>
            <a:srgbClr val="20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06240" y="114300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click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1600200"/>
            <a:ext cx="3566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1C"/>
                </a:solidFill>
              </a:rPr>
              <a:t>광고 클릭 이벤트
사용자가 광고를 클릭
impression 발생 후 수초~수일 뒤 도착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3749039"/>
            <a:ext cx="3840480" cy="411480"/>
          </a:xfrm>
          <a:prstGeom prst="rect">
            <a:avLst/>
          </a:prstGeom>
          <a:solidFill>
            <a:srgbClr val="20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97680" y="3749039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도착 시점: impression 후
수초 ~ 수일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1143000"/>
            <a:ext cx="3840480" cy="2560320"/>
          </a:xfrm>
          <a:prstGeom prst="rect">
            <a:avLst/>
          </a:prstGeom>
          <a:solidFill>
            <a:srgbClr val="F4F6F9"/>
          </a:solidFill>
          <a:ln w="1270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38160" y="1143000"/>
            <a:ext cx="3840480" cy="41148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38160" y="114300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conversion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1600200"/>
            <a:ext cx="3566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1C"/>
                </a:solidFill>
              </a:rPr>
              <a:t>전환 이벤트
사용자가 구매/가입 완료
impression 발생 후 수일~수십일 뒤 도착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3749039"/>
            <a:ext cx="3840480" cy="41148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0" y="3749039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도착 시점: impression 후
수일 ~ 수십일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297680"/>
            <a:ext cx="11612880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5760" y="429768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핵심 문제 — 같은 이벤트인데 도착 시점이 다르다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4681728"/>
            <a:ext cx="11430000" cy="820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lang="ko-KR" altLang="en-US" sz="1300" b="1" dirty="0">
                <a:solidFill>
                  <a:srgbClr val="1C1C1C"/>
                </a:solidFill>
              </a:rPr>
              <a:t>같은 사용자의 </a:t>
            </a:r>
            <a:r>
              <a:rPr sz="1300" b="1" dirty="0" err="1">
                <a:solidFill>
                  <a:srgbClr val="1C1C1C"/>
                </a:solidFill>
              </a:rPr>
              <a:t>impression은</a:t>
            </a:r>
            <a:r>
              <a:rPr sz="1300" b="1" dirty="0">
                <a:solidFill>
                  <a:srgbClr val="1C1C1C"/>
                </a:solidFill>
              </a:rPr>
              <a:t> </a:t>
            </a:r>
            <a:r>
              <a:rPr sz="1300" b="1" dirty="0" err="1">
                <a:solidFill>
                  <a:srgbClr val="1C1C1C"/>
                </a:solidFill>
              </a:rPr>
              <a:t>지금</a:t>
            </a:r>
            <a:r>
              <a:rPr sz="1300" b="1" dirty="0">
                <a:solidFill>
                  <a:srgbClr val="1C1C1C"/>
                </a:solidFill>
              </a:rPr>
              <a:t> </a:t>
            </a:r>
            <a:r>
              <a:rPr sz="1300" b="1" dirty="0" err="1">
                <a:solidFill>
                  <a:srgbClr val="1C1C1C"/>
                </a:solidFill>
              </a:rPr>
              <a:t>저장했는데</a:t>
            </a:r>
            <a:r>
              <a:rPr sz="1300" b="1" dirty="0">
                <a:solidFill>
                  <a:srgbClr val="1C1C1C"/>
                </a:solidFill>
              </a:rPr>
              <a:t>, </a:t>
            </a:r>
            <a:r>
              <a:rPr sz="1300" b="1" dirty="0" err="1">
                <a:solidFill>
                  <a:srgbClr val="1C1C1C"/>
                </a:solidFill>
              </a:rPr>
              <a:t>그에</a:t>
            </a:r>
            <a:r>
              <a:rPr sz="1300" b="1" dirty="0">
                <a:solidFill>
                  <a:srgbClr val="1C1C1C"/>
                </a:solidFill>
              </a:rPr>
              <a:t> </a:t>
            </a:r>
            <a:r>
              <a:rPr sz="1300" b="1" dirty="0" err="1">
                <a:solidFill>
                  <a:srgbClr val="1C1C1C"/>
                </a:solidFill>
              </a:rPr>
              <a:t>대한</a:t>
            </a:r>
            <a:r>
              <a:rPr sz="1300" b="1" dirty="0">
                <a:solidFill>
                  <a:srgbClr val="1C1C1C"/>
                </a:solidFill>
              </a:rPr>
              <a:t> </a:t>
            </a:r>
            <a:r>
              <a:rPr sz="1300" b="1" dirty="0" err="1">
                <a:solidFill>
                  <a:srgbClr val="1C1C1C"/>
                </a:solidFill>
              </a:rPr>
              <a:t>click은</a:t>
            </a:r>
            <a:r>
              <a:rPr sz="1300" b="1" dirty="0">
                <a:solidFill>
                  <a:srgbClr val="1C1C1C"/>
                </a:solidFill>
              </a:rPr>
              <a:t> 7일 뒤, </a:t>
            </a:r>
            <a:r>
              <a:rPr sz="1300" b="1" dirty="0" err="1">
                <a:solidFill>
                  <a:srgbClr val="1C1C1C"/>
                </a:solidFill>
              </a:rPr>
              <a:t>conversion은</a:t>
            </a:r>
            <a:r>
              <a:rPr sz="1300" b="1" dirty="0">
                <a:solidFill>
                  <a:srgbClr val="1C1C1C"/>
                </a:solidFill>
              </a:rPr>
              <a:t> 30일 </a:t>
            </a:r>
            <a:r>
              <a:rPr sz="1300" b="1" dirty="0" err="1">
                <a:solidFill>
                  <a:srgbClr val="1C1C1C"/>
                </a:solidFill>
              </a:rPr>
              <a:t>뒤에</a:t>
            </a:r>
            <a:r>
              <a:rPr sz="1300" b="1" dirty="0">
                <a:solidFill>
                  <a:srgbClr val="1C1C1C"/>
                </a:solidFill>
              </a:rPr>
              <a:t> </a:t>
            </a:r>
            <a:r>
              <a:rPr sz="1300" b="1" dirty="0" err="1">
                <a:solidFill>
                  <a:srgbClr val="1C1C1C"/>
                </a:solidFill>
              </a:rPr>
              <a:t>도착</a:t>
            </a:r>
            <a:endParaRPr sz="1300" b="1" dirty="0">
              <a:solidFill>
                <a:srgbClr val="1C1C1C"/>
              </a:solidFill>
            </a:endParaRPr>
          </a:p>
          <a:p>
            <a:pPr>
              <a:spcBef>
                <a:spcPts val="500"/>
              </a:spcBef>
            </a:pPr>
            <a:r>
              <a:rPr sz="1300" dirty="0">
                <a:solidFill>
                  <a:srgbClr val="1C1C1C"/>
                </a:solidFill>
              </a:rPr>
              <a:t>→ </a:t>
            </a:r>
            <a:r>
              <a:rPr sz="1300" dirty="0" err="1">
                <a:solidFill>
                  <a:srgbClr val="1C1C1C"/>
                </a:solidFill>
              </a:rPr>
              <a:t>파이프라인이</a:t>
            </a:r>
            <a:r>
              <a:rPr sz="1300" dirty="0">
                <a:solidFill>
                  <a:srgbClr val="1C1C1C"/>
                </a:solidFill>
              </a:rPr>
              <a:t> </a:t>
            </a:r>
            <a:r>
              <a:rPr sz="1300" dirty="0" err="1">
                <a:solidFill>
                  <a:srgbClr val="1C1C1C"/>
                </a:solidFill>
              </a:rPr>
              <a:t>매일</a:t>
            </a:r>
            <a:r>
              <a:rPr sz="1300" dirty="0">
                <a:solidFill>
                  <a:srgbClr val="1C1C1C"/>
                </a:solidFill>
              </a:rPr>
              <a:t> </a:t>
            </a:r>
            <a:r>
              <a:rPr sz="1300" dirty="0" err="1">
                <a:solidFill>
                  <a:srgbClr val="1C1C1C"/>
                </a:solidFill>
              </a:rPr>
              <a:t>배치로</a:t>
            </a:r>
            <a:r>
              <a:rPr sz="1300" dirty="0">
                <a:solidFill>
                  <a:srgbClr val="1C1C1C"/>
                </a:solidFill>
              </a:rPr>
              <a:t> </a:t>
            </a:r>
            <a:r>
              <a:rPr sz="1300" dirty="0" err="1">
                <a:solidFill>
                  <a:srgbClr val="1C1C1C"/>
                </a:solidFill>
              </a:rPr>
              <a:t>돌더라도</a:t>
            </a:r>
            <a:r>
              <a:rPr sz="1300" dirty="0">
                <a:solidFill>
                  <a:srgbClr val="1C1C1C"/>
                </a:solidFill>
              </a:rPr>
              <a:t> </a:t>
            </a:r>
            <a:r>
              <a:rPr sz="1300" dirty="0" err="1">
                <a:solidFill>
                  <a:srgbClr val="1C1C1C"/>
                </a:solidFill>
              </a:rPr>
              <a:t>오늘</a:t>
            </a:r>
            <a:r>
              <a:rPr sz="1300" dirty="0">
                <a:solidFill>
                  <a:srgbClr val="1C1C1C"/>
                </a:solidFill>
              </a:rPr>
              <a:t> </a:t>
            </a:r>
            <a:r>
              <a:rPr sz="1300" dirty="0" err="1">
                <a:solidFill>
                  <a:srgbClr val="1C1C1C"/>
                </a:solidFill>
              </a:rPr>
              <a:t>impression의</a:t>
            </a:r>
            <a:r>
              <a:rPr sz="1300" dirty="0">
                <a:solidFill>
                  <a:srgbClr val="1C1C1C"/>
                </a:solidFill>
              </a:rPr>
              <a:t> click/</a:t>
            </a:r>
            <a:r>
              <a:rPr sz="1300" dirty="0" err="1">
                <a:solidFill>
                  <a:srgbClr val="1C1C1C"/>
                </a:solidFill>
              </a:rPr>
              <a:t>conversion을</a:t>
            </a:r>
            <a:r>
              <a:rPr sz="1300" dirty="0">
                <a:solidFill>
                  <a:srgbClr val="1C1C1C"/>
                </a:solidFill>
              </a:rPr>
              <a:t> </a:t>
            </a:r>
            <a:r>
              <a:rPr sz="1300" dirty="0" err="1">
                <a:solidFill>
                  <a:srgbClr val="1C1C1C"/>
                </a:solidFill>
              </a:rPr>
              <a:t>오늘</a:t>
            </a:r>
            <a:r>
              <a:rPr sz="1300" dirty="0">
                <a:solidFill>
                  <a:srgbClr val="1C1C1C"/>
                </a:solidFill>
              </a:rPr>
              <a:t> 알 수 </a:t>
            </a:r>
            <a:r>
              <a:rPr sz="1300" dirty="0" err="1">
                <a:solidFill>
                  <a:srgbClr val="1C1C1C"/>
                </a:solidFill>
              </a:rPr>
              <a:t>없음</a:t>
            </a:r>
            <a:endParaRPr sz="1300" dirty="0">
              <a:solidFill>
                <a:srgbClr val="1C1C1C"/>
              </a:solidFill>
            </a:endParaRPr>
          </a:p>
          <a:p>
            <a:pPr>
              <a:spcBef>
                <a:spcPts val="500"/>
              </a:spcBef>
            </a:pPr>
            <a:r>
              <a:rPr sz="1300" dirty="0">
                <a:solidFill>
                  <a:srgbClr val="1C1C1C"/>
                </a:solidFill>
              </a:rPr>
              <a:t>→ Silver </a:t>
            </a:r>
            <a:r>
              <a:rPr sz="1300" dirty="0" err="1">
                <a:solidFill>
                  <a:srgbClr val="1C1C1C"/>
                </a:solidFill>
              </a:rPr>
              <a:t>레이어에서</a:t>
            </a:r>
            <a:r>
              <a:rPr sz="1300" dirty="0">
                <a:solidFill>
                  <a:srgbClr val="1C1C1C"/>
                </a:solidFill>
              </a:rPr>
              <a:t> 이 '</a:t>
            </a:r>
            <a:r>
              <a:rPr sz="1300" dirty="0" err="1">
                <a:solidFill>
                  <a:srgbClr val="1C1C1C"/>
                </a:solidFill>
              </a:rPr>
              <a:t>지연</a:t>
            </a:r>
            <a:r>
              <a:rPr sz="1300" dirty="0">
                <a:solidFill>
                  <a:srgbClr val="1C1C1C"/>
                </a:solidFill>
              </a:rPr>
              <a:t> </a:t>
            </a:r>
            <a:r>
              <a:rPr sz="1300" dirty="0" err="1">
                <a:solidFill>
                  <a:srgbClr val="1C1C1C"/>
                </a:solidFill>
              </a:rPr>
              <a:t>도착</a:t>
            </a:r>
            <a:r>
              <a:rPr sz="1300" dirty="0">
                <a:solidFill>
                  <a:srgbClr val="1C1C1C"/>
                </a:solidFill>
              </a:rPr>
              <a:t>' </a:t>
            </a:r>
            <a:r>
              <a:rPr sz="1300" dirty="0" err="1">
                <a:solidFill>
                  <a:srgbClr val="1C1C1C"/>
                </a:solidFill>
              </a:rPr>
              <a:t>문제를</a:t>
            </a:r>
            <a:r>
              <a:rPr sz="1300" dirty="0">
                <a:solidFill>
                  <a:srgbClr val="1C1C1C"/>
                </a:solidFill>
              </a:rPr>
              <a:t> 2-Stage </a:t>
            </a:r>
            <a:r>
              <a:rPr sz="1300" dirty="0" err="1">
                <a:solidFill>
                  <a:srgbClr val="1C1C1C"/>
                </a:solidFill>
              </a:rPr>
              <a:t>MERGE로</a:t>
            </a:r>
            <a:r>
              <a:rPr sz="1300" dirty="0">
                <a:solidFill>
                  <a:srgbClr val="1C1C1C"/>
                </a:solidFill>
              </a:rPr>
              <a:t> </a:t>
            </a:r>
            <a:r>
              <a:rPr sz="1300" dirty="0" err="1">
                <a:solidFill>
                  <a:srgbClr val="1C1C1C"/>
                </a:solidFill>
              </a:rPr>
              <a:t>해결</a:t>
            </a:r>
            <a:endParaRPr sz="1300" dirty="0">
              <a:solidFill>
                <a:srgbClr val="1C1C1C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74320" y="5577840"/>
            <a:ext cx="11612880" cy="34747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65760" y="557784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Attribution Window — '이 impression 덕분에'를 인정하는 시간 한도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5961888"/>
            <a:ext cx="114300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1C1C1C"/>
                </a:solidFill>
              </a:rPr>
              <a:t>click window:  7일  — impression 후 7일 이내 click만 이 impression에 귀속 (업계 표준, Google·Meta 동일)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C1C1C"/>
                </a:solidFill>
              </a:rPr>
              <a:t>conversion window:  30일  — impression 후 30일 이내 conversion만 귀속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C1C1C"/>
                </a:solidFill>
              </a:rPr>
              <a:t>→ 이 window가 Silver 파티션 스캔 범위, Iceberg compaction 35일 기준, Gold KPI 정확도의 핵심 파라미터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전체 아키텍처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CCDD"/>
                </a:solidFill>
              </a:rPr>
              <a:t>Criteo Dataset → Kafka → Spark → S3 Iceberg → Athena → Superset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53A48496-D320-677B-ED26-5F977BBEED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" y="1536192"/>
            <a:ext cx="12188825" cy="2551268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D4A638B0-293B-3BF5-0546-CAA5D19F25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" y="1536192"/>
            <a:ext cx="12188825" cy="426608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왜 Apache Iceberg인가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CCDD"/>
                </a:solidFill>
              </a:rPr>
              <a:t>일반 Parquet 대비 핵심 기능 비교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3840480" cy="4114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114300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항목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1143000"/>
            <a:ext cx="3840480" cy="41148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06240" y="114300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일반 Parquet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143000"/>
            <a:ext cx="3840480" cy="411480"/>
          </a:xfrm>
          <a:prstGeom prst="rect">
            <a:avLst/>
          </a:prstGeom>
          <a:solidFill>
            <a:srgbClr val="20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38160" y="114300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Iceberg (이 프로젝트)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600200"/>
            <a:ext cx="11612880" cy="886968"/>
          </a:xfrm>
          <a:prstGeom prst="rect">
            <a:avLst/>
          </a:prstGeom>
          <a:solidFill>
            <a:srgbClr val="F4F6F9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1645920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C1C"/>
                </a:solidFill>
              </a:rPr>
              <a:t>ACID 쓰기 (MERGE INTO)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1645920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직접 지원 없음
파티션 전체 DROP/INSERT 필요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1645920"/>
            <a:ext cx="37490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8B4C"/>
                </a:solidFill>
              </a:rPr>
              <a:t>✅ MERGE INTO 네이티브 지원
멱등 upsert 가능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514600"/>
            <a:ext cx="1161288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2560320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C1C"/>
                </a:solidFill>
              </a:rPr>
              <a:t>스냅샷 &amp; Time Travel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60" y="2560320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불가 — 파일 덮어쓰면
이전 상태 복구 불가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2560320"/>
            <a:ext cx="37490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8B4C"/>
                </a:solidFill>
              </a:rPr>
              <a:t>✅ 스냅샷별 이전 상태 조회
Gold snapshot diff 핵심 기반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429000"/>
            <a:ext cx="11612880" cy="886968"/>
          </a:xfrm>
          <a:prstGeom prst="rect">
            <a:avLst/>
          </a:prstGeom>
          <a:solidFill>
            <a:srgbClr val="F4F6F9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" y="3474720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C1C"/>
                </a:solidFill>
              </a:rPr>
              <a:t>파티션 변경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3474720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파티션 컬럼 변경 시
파일 전체 재작성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3474720"/>
            <a:ext cx="37490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8B4C"/>
                </a:solidFill>
              </a:rPr>
              <a:t>✅ 메타데이터만 변경
데이터 파일 유지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343400"/>
            <a:ext cx="1161288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5760" y="4389120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C1C"/>
                </a:solidFill>
              </a:rPr>
              <a:t>파일 수준 통계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4389120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파티션 단위만
파티션 내 세밀한 pruning 불가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4389120"/>
            <a:ext cx="37490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8B4C"/>
                </a:solidFill>
              </a:rPr>
              <a:t>✅ 컬럼 min/max 통계
파티션 내 파일 pruning 가능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5257800"/>
            <a:ext cx="11612880" cy="886968"/>
          </a:xfrm>
          <a:prstGeom prst="rect">
            <a:avLst/>
          </a:prstGeom>
          <a:solidFill>
            <a:srgbClr val="F4F6F9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5760" y="5303520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C1C"/>
                </a:solidFill>
              </a:rPr>
              <a:t>COW / MOR 전략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5303520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없음 — 항상 파일 전체 재작성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40" y="5303520"/>
            <a:ext cx="37490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8B4C"/>
                </a:solidFill>
              </a:rPr>
              <a:t>✅ 쓰기 패턴에 따라 선택
Silver=MOR, Gold=COW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Medallion 아키텍처 — 레이어별 설계 개요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3657599" cy="457200"/>
          </a:xfrm>
          <a:prstGeom prst="rect">
            <a:avLst/>
          </a:prstGeom>
          <a:solidFill>
            <a:srgbClr val="CD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1143000"/>
            <a:ext cx="365759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Bronze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64208"/>
            <a:ext cx="3657599" cy="941832"/>
          </a:xfrm>
          <a:prstGeom prst="rect">
            <a:avLst/>
          </a:prstGeom>
          <a:solidFill>
            <a:srgbClr val="F4F6F9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682496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D7F32"/>
                </a:solidFill>
              </a:rPr>
              <a:t>역할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38528"/>
            <a:ext cx="35204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원본 보존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624328"/>
            <a:ext cx="3657599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2642616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D7F32"/>
                </a:solidFill>
              </a:rPr>
              <a:t>포맷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898648"/>
            <a:ext cx="35204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S3 Parquet
(append-only)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584448"/>
            <a:ext cx="3657599" cy="941832"/>
          </a:xfrm>
          <a:prstGeom prst="rect">
            <a:avLst/>
          </a:prstGeom>
          <a:solidFill>
            <a:srgbClr val="F4F6F9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3602736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D7F32"/>
                </a:solidFill>
              </a:rPr>
              <a:t>파티션 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858768"/>
            <a:ext cx="35204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raw_date / raw_hour
(ingest_ts 기준)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544568"/>
            <a:ext cx="3657599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4562856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D7F32"/>
                </a:solidFill>
              </a:rPr>
              <a:t>처리 방식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818888"/>
            <a:ext cx="35204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Kafka 3토픽 → Spark
Structured Streaming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5504688"/>
            <a:ext cx="3657599" cy="941832"/>
          </a:xfrm>
          <a:prstGeom prst="rect">
            <a:avLst/>
          </a:prstGeom>
          <a:solidFill>
            <a:srgbClr val="F4F6F9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5760" y="5522976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D7F32"/>
                </a:solidFill>
              </a:rPr>
              <a:t>멱등성 보장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5779008"/>
            <a:ext cx="35204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 err="1">
                <a:solidFill>
                  <a:srgbClr val="1C1C1C"/>
                </a:solidFill>
              </a:rPr>
              <a:t>없음</a:t>
            </a:r>
            <a:r>
              <a:rPr sz="1200" b="0" i="0" dirty="0">
                <a:solidFill>
                  <a:srgbClr val="1C1C1C"/>
                </a:solidFill>
              </a:rPr>
              <a:t> (</a:t>
            </a:r>
            <a:r>
              <a:rPr sz="1200" b="0" i="0" dirty="0" err="1">
                <a:solidFill>
                  <a:srgbClr val="1C1C1C"/>
                </a:solidFill>
              </a:rPr>
              <a:t>원본</a:t>
            </a:r>
            <a:r>
              <a:rPr sz="1200" b="0" i="0" dirty="0">
                <a:solidFill>
                  <a:srgbClr val="1C1C1C"/>
                </a:solidFill>
              </a:rPr>
              <a:t> </a:t>
            </a:r>
            <a:r>
              <a:rPr sz="1200" b="0" i="0" dirty="0" err="1">
                <a:solidFill>
                  <a:srgbClr val="1C1C1C"/>
                </a:solidFill>
              </a:rPr>
              <a:t>파일이</a:t>
            </a:r>
            <a:r>
              <a:rPr sz="1200" b="0" i="0" dirty="0">
                <a:solidFill>
                  <a:srgbClr val="1C1C1C"/>
                </a:solidFill>
              </a:rPr>
              <a:t> </a:t>
            </a:r>
            <a:r>
              <a:rPr sz="1200" b="0" i="0" dirty="0" err="1">
                <a:solidFill>
                  <a:srgbClr val="1C1C1C"/>
                </a:solidFill>
              </a:rPr>
              <a:t>유일한</a:t>
            </a:r>
            <a:r>
              <a:rPr lang="en-US" sz="1200" dirty="0">
                <a:solidFill>
                  <a:srgbClr val="1C1C1C"/>
                </a:solidFill>
              </a:rPr>
              <a:t> </a:t>
            </a:r>
            <a:r>
              <a:rPr sz="1200" b="0" i="0" dirty="0" err="1">
                <a:solidFill>
                  <a:srgbClr val="1C1C1C"/>
                </a:solidFill>
              </a:rPr>
              <a:t>재처리</a:t>
            </a:r>
            <a:r>
              <a:rPr sz="1200" b="0" i="0" dirty="0">
                <a:solidFill>
                  <a:srgbClr val="1C1C1C"/>
                </a:solidFill>
              </a:rPr>
              <a:t> </a:t>
            </a:r>
            <a:r>
              <a:rPr sz="1200" b="0" i="0" dirty="0" err="1">
                <a:solidFill>
                  <a:srgbClr val="1C1C1C"/>
                </a:solidFill>
              </a:rPr>
              <a:t>수단</a:t>
            </a:r>
            <a:r>
              <a:rPr sz="1200" b="0" i="0" dirty="0">
                <a:solidFill>
                  <a:srgbClr val="1C1C1C"/>
                </a:solidFill>
              </a:rPr>
              <a:t>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3359" y="1143000"/>
            <a:ext cx="3657599" cy="457200"/>
          </a:xfrm>
          <a:prstGeom prst="rect">
            <a:avLst/>
          </a:prstGeom>
          <a:solidFill>
            <a:srgbClr val="709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023359" y="1143000"/>
            <a:ext cx="365759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Silver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23359" y="1664208"/>
            <a:ext cx="3657599" cy="941832"/>
          </a:xfrm>
          <a:prstGeom prst="rect">
            <a:avLst/>
          </a:prstGeom>
          <a:solidFill>
            <a:srgbClr val="F4F6F9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114799" y="1682496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090A0"/>
                </a:solidFill>
              </a:rPr>
              <a:t>역할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799" y="1938528"/>
            <a:ext cx="35204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분석 가능 단위로 정제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23359" y="2624328"/>
            <a:ext cx="3657599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114799" y="2642616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090A0"/>
                </a:solidFill>
              </a:rPr>
              <a:t>포맷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799" y="2898648"/>
            <a:ext cx="35204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Iceberg
MOR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23359" y="3584448"/>
            <a:ext cx="3657599" cy="941832"/>
          </a:xfrm>
          <a:prstGeom prst="rect">
            <a:avLst/>
          </a:prstGeom>
          <a:solidFill>
            <a:srgbClr val="F4F6F9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114799" y="3602736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090A0"/>
                </a:solidFill>
              </a:rPr>
              <a:t>파티션 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799" y="3858768"/>
            <a:ext cx="35204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event_date
(impression 발생 기준)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023359" y="4544568"/>
            <a:ext cx="3657599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114799" y="4562856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090A0"/>
                </a:solidFill>
              </a:rPr>
              <a:t>처리 방식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799" y="4818888"/>
            <a:ext cx="35204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 err="1">
                <a:solidFill>
                  <a:srgbClr val="1C1C1C"/>
                </a:solidFill>
              </a:rPr>
              <a:t>중복</a:t>
            </a:r>
            <a:r>
              <a:rPr sz="1200" b="0" i="0" dirty="0">
                <a:solidFill>
                  <a:srgbClr val="1C1C1C"/>
                </a:solidFill>
              </a:rPr>
              <a:t> </a:t>
            </a:r>
            <a:r>
              <a:rPr sz="1200" b="0" i="0" dirty="0" err="1">
                <a:solidFill>
                  <a:srgbClr val="1C1C1C"/>
                </a:solidFill>
              </a:rPr>
              <a:t>제거</a:t>
            </a:r>
            <a:r>
              <a:rPr sz="1200" b="0" i="0" dirty="0">
                <a:solidFill>
                  <a:srgbClr val="1C1C1C"/>
                </a:solidFill>
              </a:rPr>
              <a:t> + Attribution</a:t>
            </a:r>
            <a:r>
              <a:rPr lang="ko-KR" altLang="en-US" sz="1200" b="0" i="0" dirty="0">
                <a:solidFill>
                  <a:srgbClr val="1C1C1C"/>
                </a:solidFill>
              </a:rPr>
              <a:t>
</a:t>
            </a:r>
            <a:r>
              <a:rPr sz="1200" b="0" i="0" dirty="0">
                <a:solidFill>
                  <a:srgbClr val="1C1C1C"/>
                </a:solidFill>
              </a:rPr>
              <a:t>Join + MERGE INTO
(</a:t>
            </a:r>
            <a:r>
              <a:rPr sz="1200" b="0" i="0" dirty="0" err="1">
                <a:solidFill>
                  <a:srgbClr val="1C1C1C"/>
                </a:solidFill>
              </a:rPr>
              <a:t>일배치</a:t>
            </a:r>
            <a:r>
              <a:rPr sz="1200" b="0" i="0" dirty="0">
                <a:solidFill>
                  <a:srgbClr val="1C1C1C"/>
                </a:solidFill>
              </a:rPr>
              <a:t>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023359" y="5504688"/>
            <a:ext cx="3657599" cy="941832"/>
          </a:xfrm>
          <a:prstGeom prst="rect">
            <a:avLst/>
          </a:prstGeom>
          <a:solidFill>
            <a:srgbClr val="F4F6F9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114799" y="5522976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090A0"/>
                </a:solidFill>
              </a:rPr>
              <a:t>멱등성 보장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799" y="5779008"/>
            <a:ext cx="35204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C1C1C"/>
                </a:solidFill>
              </a:rPr>
              <a:t>MERGE ON (</a:t>
            </a:r>
            <a:r>
              <a:rPr sz="1200" b="0" i="0" dirty="0" err="1">
                <a:solidFill>
                  <a:srgbClr val="1C1C1C"/>
                </a:solidFill>
              </a:rPr>
              <a:t>event_id</a:t>
            </a:r>
            <a:r>
              <a:rPr sz="1200" b="0" i="0" dirty="0">
                <a:solidFill>
                  <a:srgbClr val="1C1C1C"/>
                </a:solidFill>
              </a:rPr>
              <a:t>,</a:t>
            </a:r>
            <a:r>
              <a:rPr lang="en-US" sz="1200" b="0" i="0" dirty="0">
                <a:solidFill>
                  <a:srgbClr val="1C1C1C"/>
                </a:solidFill>
              </a:rPr>
              <a:t> </a:t>
            </a:r>
            <a:r>
              <a:rPr sz="1200" b="0" i="0" dirty="0" err="1">
                <a:solidFill>
                  <a:srgbClr val="1C1C1C"/>
                </a:solidFill>
              </a:rPr>
              <a:t>event_date</a:t>
            </a:r>
            <a:r>
              <a:rPr sz="1200" b="0" i="0" dirty="0">
                <a:solidFill>
                  <a:srgbClr val="1C1C1C"/>
                </a:solidFill>
              </a:rPr>
              <a:t>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398" y="1143000"/>
            <a:ext cx="3657599" cy="457200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772398" y="1143000"/>
            <a:ext cx="365759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Gold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398" y="1664208"/>
            <a:ext cx="3657599" cy="941832"/>
          </a:xfrm>
          <a:prstGeom prst="rect">
            <a:avLst/>
          </a:prstGeom>
          <a:solidFill>
            <a:srgbClr val="F4F6F9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863838" y="1682496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02C"/>
                </a:solidFill>
              </a:rPr>
              <a:t>역할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63838" y="1938528"/>
            <a:ext cx="35204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KPI 집계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398" y="2624328"/>
            <a:ext cx="3657599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863838" y="2642616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02C"/>
                </a:solidFill>
              </a:rPr>
              <a:t>포맷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63838" y="2898648"/>
            <a:ext cx="35204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Iceberg
COW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398" y="3584448"/>
            <a:ext cx="3657599" cy="941832"/>
          </a:xfrm>
          <a:prstGeom prst="rect">
            <a:avLst/>
          </a:prstGeom>
          <a:solidFill>
            <a:srgbClr val="F4F6F9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863838" y="3602736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02C"/>
                </a:solidFill>
              </a:rPr>
              <a:t>파티션 키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63838" y="3858768"/>
            <a:ext cx="35204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summary_date
(event_date와 동일)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772398" y="4544568"/>
            <a:ext cx="3657599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863838" y="4562856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02C"/>
                </a:solidFill>
              </a:rPr>
              <a:t>처리 방식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38" y="4818888"/>
            <a:ext cx="35204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Silver → campaign×date
집계 MERGE INTO
(일배치)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772398" y="5504688"/>
            <a:ext cx="3657599" cy="941832"/>
          </a:xfrm>
          <a:prstGeom prst="rect">
            <a:avLst/>
          </a:prstGeom>
          <a:solidFill>
            <a:srgbClr val="F4F6F9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863838" y="5522976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02C"/>
                </a:solidFill>
              </a:rPr>
              <a:t>멱등성 보장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63838" y="5779008"/>
            <a:ext cx="35204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C1C1C"/>
                </a:solidFill>
              </a:rPr>
              <a:t>MERGE ON (</a:t>
            </a:r>
            <a:r>
              <a:rPr sz="1200" b="0" i="0" dirty="0" err="1">
                <a:solidFill>
                  <a:srgbClr val="1C1C1C"/>
                </a:solidFill>
              </a:rPr>
              <a:t>summary_date</a:t>
            </a:r>
            <a:r>
              <a:rPr sz="1200" b="0" i="0" dirty="0">
                <a:solidFill>
                  <a:srgbClr val="1C1C1C"/>
                </a:solidFill>
              </a:rPr>
              <a:t>,</a:t>
            </a:r>
            <a:r>
              <a:rPr lang="en-US" sz="1200" b="0" i="0" dirty="0">
                <a:solidFill>
                  <a:srgbClr val="1C1C1C"/>
                </a:solidFill>
              </a:rPr>
              <a:t> </a:t>
            </a:r>
            <a:r>
              <a:rPr sz="1200" b="0" i="0" dirty="0">
                <a:solidFill>
                  <a:srgbClr val="1C1C1C"/>
                </a:solidFill>
              </a:rPr>
              <a:t>campaign)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Bronze — 실시간 수집 레이어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CCDD"/>
                </a:solidFill>
              </a:rPr>
              <a:t>Kafka 3토픽  →  Spark Structured Streaming job  →  S3 Parquet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5577840" cy="347472"/>
          </a:xfrm>
          <a:prstGeom prst="rect">
            <a:avLst/>
          </a:prstGeom>
          <a:solidFill>
            <a:srgbClr val="CD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Kafka 3토픽 × Spark Streaming job 구성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36192"/>
            <a:ext cx="5394960" cy="2159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dirty="0">
                <a:solidFill>
                  <a:srgbClr val="1C1C1C"/>
                </a:solidFill>
              </a:rPr>
              <a:t>ad-impressions  →  Streaming job (</a:t>
            </a:r>
            <a:r>
              <a:rPr sz="1300" dirty="0" err="1">
                <a:solidFill>
                  <a:srgbClr val="1C1C1C"/>
                </a:solidFill>
              </a:rPr>
              <a:t>cores.max</a:t>
            </a:r>
            <a:r>
              <a:rPr sz="1300" dirty="0">
                <a:solidFill>
                  <a:srgbClr val="1C1C1C"/>
                </a:solidFill>
              </a:rPr>
              <a:t>=3)</a:t>
            </a:r>
          </a:p>
          <a:p>
            <a:pPr>
              <a:spcBef>
                <a:spcPts val="200"/>
              </a:spcBef>
            </a:pPr>
            <a:r>
              <a:rPr sz="1150" dirty="0">
                <a:solidFill>
                  <a:srgbClr val="1C1C1C"/>
                </a:solidFill>
              </a:rPr>
              <a:t>   </a:t>
            </a:r>
            <a:r>
              <a:rPr sz="1150" dirty="0" err="1">
                <a:solidFill>
                  <a:srgbClr val="1C1C1C"/>
                </a:solidFill>
              </a:rPr>
              <a:t>impression만</a:t>
            </a:r>
            <a:r>
              <a:rPr sz="1150" dirty="0">
                <a:solidFill>
                  <a:srgbClr val="1C1C1C"/>
                </a:solidFill>
              </a:rPr>
              <a:t> cost </a:t>
            </a:r>
            <a:r>
              <a:rPr sz="1150" dirty="0" err="1">
                <a:solidFill>
                  <a:srgbClr val="1C1C1C"/>
                </a:solidFill>
              </a:rPr>
              <a:t>필드</a:t>
            </a:r>
            <a:r>
              <a:rPr sz="1150" dirty="0">
                <a:solidFill>
                  <a:srgbClr val="1C1C1C"/>
                </a:solidFill>
              </a:rPr>
              <a:t> </a:t>
            </a:r>
            <a:r>
              <a:rPr sz="1150" dirty="0" err="1">
                <a:solidFill>
                  <a:srgbClr val="1C1C1C"/>
                </a:solidFill>
              </a:rPr>
              <a:t>있음</a:t>
            </a:r>
            <a:r>
              <a:rPr sz="1150" dirty="0">
                <a:solidFill>
                  <a:srgbClr val="1C1C1C"/>
                </a:solidFill>
              </a:rPr>
              <a:t> — </a:t>
            </a:r>
            <a:r>
              <a:rPr sz="1150" dirty="0" err="1">
                <a:solidFill>
                  <a:srgbClr val="1C1C1C"/>
                </a:solidFill>
              </a:rPr>
              <a:t>스키마</a:t>
            </a:r>
            <a:r>
              <a:rPr sz="1150" dirty="0">
                <a:solidFill>
                  <a:srgbClr val="1C1C1C"/>
                </a:solidFill>
              </a:rPr>
              <a:t> </a:t>
            </a:r>
            <a:r>
              <a:rPr sz="1150" dirty="0" err="1">
                <a:solidFill>
                  <a:srgbClr val="1C1C1C"/>
                </a:solidFill>
              </a:rPr>
              <a:t>달라</a:t>
            </a:r>
            <a:r>
              <a:rPr sz="1150" dirty="0">
                <a:solidFill>
                  <a:srgbClr val="1C1C1C"/>
                </a:solidFill>
              </a:rPr>
              <a:t> </a:t>
            </a:r>
            <a:r>
              <a:rPr sz="1150" dirty="0" err="1">
                <a:solidFill>
                  <a:srgbClr val="1C1C1C"/>
                </a:solidFill>
              </a:rPr>
              <a:t>토픽</a:t>
            </a:r>
            <a:r>
              <a:rPr sz="1150" dirty="0">
                <a:solidFill>
                  <a:srgbClr val="1C1C1C"/>
                </a:solidFill>
              </a:rPr>
              <a:t> </a:t>
            </a:r>
            <a:r>
              <a:rPr sz="1150" dirty="0" err="1">
                <a:solidFill>
                  <a:srgbClr val="1C1C1C"/>
                </a:solidFill>
              </a:rPr>
              <a:t>분리</a:t>
            </a:r>
            <a:r>
              <a:rPr sz="1150" dirty="0">
                <a:solidFill>
                  <a:srgbClr val="1C1C1C"/>
                </a:solidFill>
              </a:rPr>
              <a:t> </a:t>
            </a:r>
            <a:r>
              <a:rPr sz="1150" dirty="0" err="1">
                <a:solidFill>
                  <a:srgbClr val="1C1C1C"/>
                </a:solidFill>
              </a:rPr>
              <a:t>필수</a:t>
            </a:r>
            <a:endParaRPr sz="1150" dirty="0">
              <a:solidFill>
                <a:srgbClr val="1C1C1C"/>
              </a:solidFill>
            </a:endParaRPr>
          </a:p>
          <a:p>
            <a:pPr>
              <a:spcBef>
                <a:spcPts val="500"/>
              </a:spcBef>
            </a:pPr>
            <a:r>
              <a:rPr sz="1300" dirty="0">
                <a:solidFill>
                  <a:srgbClr val="1C1C1C"/>
                </a:solidFill>
              </a:rPr>
              <a:t>ad-clicks        →  Streaming job (</a:t>
            </a:r>
            <a:r>
              <a:rPr sz="1300" dirty="0" err="1">
                <a:solidFill>
                  <a:srgbClr val="1C1C1C"/>
                </a:solidFill>
              </a:rPr>
              <a:t>cores.max</a:t>
            </a:r>
            <a:r>
              <a:rPr sz="1300" dirty="0">
                <a:solidFill>
                  <a:srgbClr val="1C1C1C"/>
                </a:solidFill>
              </a:rPr>
              <a:t>=1)</a:t>
            </a:r>
          </a:p>
          <a:p>
            <a:pPr>
              <a:spcBef>
                <a:spcPts val="500"/>
              </a:spcBef>
            </a:pPr>
            <a:r>
              <a:rPr sz="1300" dirty="0">
                <a:solidFill>
                  <a:srgbClr val="1C1C1C"/>
                </a:solidFill>
              </a:rPr>
              <a:t>ad-conversions   →  Streaming job (</a:t>
            </a:r>
            <a:r>
              <a:rPr sz="1300" dirty="0" err="1">
                <a:solidFill>
                  <a:srgbClr val="1C1C1C"/>
                </a:solidFill>
              </a:rPr>
              <a:t>cores.max</a:t>
            </a:r>
            <a:r>
              <a:rPr sz="1300" dirty="0">
                <a:solidFill>
                  <a:srgbClr val="1C1C1C"/>
                </a:solidFill>
              </a:rPr>
              <a:t>=1)</a:t>
            </a:r>
          </a:p>
          <a:p>
            <a:pPr>
              <a:spcBef>
                <a:spcPts val="500"/>
              </a:spcBef>
            </a:pPr>
            <a:endParaRPr sz="1300" dirty="0">
              <a:solidFill>
                <a:srgbClr val="1C1C1C"/>
              </a:solidFill>
            </a:endParaRPr>
          </a:p>
          <a:p>
            <a:pPr>
              <a:spcBef>
                <a:spcPts val="500"/>
              </a:spcBef>
            </a:pPr>
            <a:r>
              <a:rPr sz="1400" b="1" dirty="0" err="1">
                <a:solidFill>
                  <a:srgbClr val="1C1C1C"/>
                </a:solidFill>
              </a:rPr>
              <a:t>토픽별</a:t>
            </a:r>
            <a:r>
              <a:rPr sz="1400" b="1" dirty="0">
                <a:solidFill>
                  <a:srgbClr val="1C1C1C"/>
                </a:solidFill>
              </a:rPr>
              <a:t> </a:t>
            </a:r>
            <a:r>
              <a:rPr sz="1400" b="1" dirty="0" err="1">
                <a:solidFill>
                  <a:srgbClr val="1C1C1C"/>
                </a:solidFill>
              </a:rPr>
              <a:t>독립</a:t>
            </a:r>
            <a:r>
              <a:rPr sz="1400" b="1" dirty="0">
                <a:solidFill>
                  <a:srgbClr val="1C1C1C"/>
                </a:solidFill>
              </a:rPr>
              <a:t> Streaming job </a:t>
            </a:r>
            <a:r>
              <a:rPr sz="1400" b="1" dirty="0" err="1">
                <a:solidFill>
                  <a:srgbClr val="1C1C1C"/>
                </a:solidFill>
              </a:rPr>
              <a:t>컨테이너로</a:t>
            </a:r>
            <a:r>
              <a:rPr sz="1400" b="1" dirty="0">
                <a:solidFill>
                  <a:srgbClr val="1C1C1C"/>
                </a:solidFill>
              </a:rPr>
              <a:t> </a:t>
            </a:r>
            <a:r>
              <a:rPr sz="1400" b="1" dirty="0" err="1">
                <a:solidFill>
                  <a:srgbClr val="1C1C1C"/>
                </a:solidFill>
              </a:rPr>
              <a:t>분리</a:t>
            </a:r>
            <a:endParaRPr sz="1400" b="1" dirty="0">
              <a:solidFill>
                <a:srgbClr val="1C1C1C"/>
              </a:solidFill>
            </a:endParaRPr>
          </a:p>
          <a:p>
            <a:pPr>
              <a:spcBef>
                <a:spcPts val="200"/>
              </a:spcBef>
            </a:pPr>
            <a:r>
              <a:rPr sz="1150" dirty="0">
                <a:solidFill>
                  <a:srgbClr val="1C1C1C"/>
                </a:solidFill>
              </a:rPr>
              <a:t>   → impression </a:t>
            </a:r>
            <a:r>
              <a:rPr sz="1150" dirty="0" err="1">
                <a:solidFill>
                  <a:srgbClr val="1C1C1C"/>
                </a:solidFill>
              </a:rPr>
              <a:t>처리</a:t>
            </a:r>
            <a:r>
              <a:rPr sz="1150" dirty="0">
                <a:solidFill>
                  <a:srgbClr val="1C1C1C"/>
                </a:solidFill>
              </a:rPr>
              <a:t> </a:t>
            </a:r>
            <a:r>
              <a:rPr sz="1150" dirty="0" err="1">
                <a:solidFill>
                  <a:srgbClr val="1C1C1C"/>
                </a:solidFill>
              </a:rPr>
              <a:t>지연이</a:t>
            </a:r>
            <a:r>
              <a:rPr sz="1150" dirty="0">
                <a:solidFill>
                  <a:srgbClr val="1C1C1C"/>
                </a:solidFill>
              </a:rPr>
              <a:t> click/conversion </a:t>
            </a:r>
            <a:r>
              <a:rPr sz="1150" dirty="0" err="1">
                <a:solidFill>
                  <a:srgbClr val="1C1C1C"/>
                </a:solidFill>
              </a:rPr>
              <a:t>수집에</a:t>
            </a:r>
            <a:r>
              <a:rPr sz="1150" dirty="0">
                <a:solidFill>
                  <a:srgbClr val="1C1C1C"/>
                </a:solidFill>
              </a:rPr>
              <a:t> </a:t>
            </a:r>
            <a:r>
              <a:rPr sz="1150" dirty="0" err="1">
                <a:solidFill>
                  <a:srgbClr val="1C1C1C"/>
                </a:solidFill>
              </a:rPr>
              <a:t>영향</a:t>
            </a:r>
            <a:r>
              <a:rPr sz="1150" dirty="0">
                <a:solidFill>
                  <a:srgbClr val="1C1C1C"/>
                </a:solidFill>
              </a:rPr>
              <a:t> </a:t>
            </a:r>
            <a:r>
              <a:rPr sz="1150" dirty="0" err="1">
                <a:solidFill>
                  <a:srgbClr val="1C1C1C"/>
                </a:solidFill>
              </a:rPr>
              <a:t>없음</a:t>
            </a:r>
            <a:endParaRPr sz="1150" dirty="0">
              <a:solidFill>
                <a:srgbClr val="1C1C1C"/>
              </a:solidFill>
            </a:endParaRPr>
          </a:p>
          <a:p>
            <a:pPr>
              <a:spcBef>
                <a:spcPts val="200"/>
              </a:spcBef>
            </a:pPr>
            <a:r>
              <a:rPr sz="1150" dirty="0">
                <a:solidFill>
                  <a:srgbClr val="1C1C1C"/>
                </a:solidFill>
              </a:rPr>
              <a:t>   → Spark Worker 3대 × 3코어 = 9코어 중 Streaming 5코어 </a:t>
            </a:r>
            <a:r>
              <a:rPr sz="1150" dirty="0" err="1">
                <a:solidFill>
                  <a:srgbClr val="1C1C1C"/>
                </a:solidFill>
              </a:rPr>
              <a:t>사용</a:t>
            </a:r>
            <a:endParaRPr sz="1150" dirty="0">
              <a:solidFill>
                <a:srgbClr val="1C1C1C"/>
              </a:solidFill>
            </a:endParaRPr>
          </a:p>
          <a:p>
            <a:pPr>
              <a:spcBef>
                <a:spcPts val="200"/>
              </a:spcBef>
            </a:pPr>
            <a:r>
              <a:rPr sz="1150" dirty="0">
                <a:solidFill>
                  <a:srgbClr val="1C1C1C"/>
                </a:solidFill>
              </a:rPr>
              <a:t>   → </a:t>
            </a:r>
            <a:r>
              <a:rPr sz="1150" dirty="0" err="1">
                <a:solidFill>
                  <a:srgbClr val="1C1C1C"/>
                </a:solidFill>
              </a:rPr>
              <a:t>나머지</a:t>
            </a:r>
            <a:r>
              <a:rPr sz="1150" dirty="0">
                <a:solidFill>
                  <a:srgbClr val="1C1C1C"/>
                </a:solidFill>
              </a:rPr>
              <a:t> 4코어는 Silver/Gold </a:t>
            </a:r>
            <a:r>
              <a:rPr sz="1150" dirty="0" err="1">
                <a:solidFill>
                  <a:srgbClr val="1C1C1C"/>
                </a:solidFill>
              </a:rPr>
              <a:t>일배치용</a:t>
            </a:r>
            <a:endParaRPr sz="1150" dirty="0">
              <a:solidFill>
                <a:srgbClr val="1C1C1C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74320" y="4617720"/>
            <a:ext cx="5577840" cy="347472"/>
          </a:xfrm>
          <a:prstGeom prst="rect">
            <a:avLst/>
          </a:prstGeom>
          <a:solidFill>
            <a:srgbClr val="CD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46177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raw_date 파티션 = ingest_ts 기준 (수집 시각)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010912"/>
            <a:ext cx="539496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50" dirty="0" err="1">
                <a:solidFill>
                  <a:srgbClr val="1C1C1C"/>
                </a:solidFill>
              </a:rPr>
              <a:t>event_time</a:t>
            </a:r>
            <a:r>
              <a:rPr sz="1250" dirty="0">
                <a:solidFill>
                  <a:srgbClr val="1C1C1C"/>
                </a:solidFill>
              </a:rPr>
              <a:t>(</a:t>
            </a:r>
            <a:r>
              <a:rPr sz="1250" dirty="0" err="1">
                <a:solidFill>
                  <a:srgbClr val="1C1C1C"/>
                </a:solidFill>
              </a:rPr>
              <a:t>이벤트</a:t>
            </a:r>
            <a:r>
              <a:rPr sz="1250" dirty="0">
                <a:solidFill>
                  <a:srgbClr val="1C1C1C"/>
                </a:solidFill>
              </a:rPr>
              <a:t> </a:t>
            </a:r>
            <a:r>
              <a:rPr sz="1250" dirty="0" err="1">
                <a:solidFill>
                  <a:srgbClr val="1C1C1C"/>
                </a:solidFill>
              </a:rPr>
              <a:t>발생</a:t>
            </a:r>
            <a:r>
              <a:rPr sz="1250" dirty="0">
                <a:solidFill>
                  <a:srgbClr val="1C1C1C"/>
                </a:solidFill>
              </a:rPr>
              <a:t> </a:t>
            </a:r>
            <a:r>
              <a:rPr sz="1250" dirty="0" err="1">
                <a:solidFill>
                  <a:srgbClr val="1C1C1C"/>
                </a:solidFill>
              </a:rPr>
              <a:t>시각</a:t>
            </a:r>
            <a:r>
              <a:rPr sz="1250" dirty="0">
                <a:solidFill>
                  <a:srgbClr val="1C1C1C"/>
                </a:solidFill>
              </a:rPr>
              <a:t>) </a:t>
            </a:r>
            <a:r>
              <a:rPr sz="1250" dirty="0" err="1">
                <a:solidFill>
                  <a:srgbClr val="1C1C1C"/>
                </a:solidFill>
              </a:rPr>
              <a:t>기준으로</a:t>
            </a:r>
            <a:r>
              <a:rPr sz="1250" dirty="0">
                <a:solidFill>
                  <a:srgbClr val="1C1C1C"/>
                </a:solidFill>
              </a:rPr>
              <a:t> </a:t>
            </a:r>
            <a:r>
              <a:rPr sz="1250" dirty="0" err="1">
                <a:solidFill>
                  <a:srgbClr val="1C1C1C"/>
                </a:solidFill>
              </a:rPr>
              <a:t>하면</a:t>
            </a:r>
            <a:r>
              <a:rPr sz="1250" dirty="0">
                <a:solidFill>
                  <a:srgbClr val="1C1C1C"/>
                </a:solidFill>
              </a:rPr>
              <a:t>?</a:t>
            </a:r>
          </a:p>
          <a:p>
            <a:pPr>
              <a:spcBef>
                <a:spcPts val="200"/>
              </a:spcBef>
            </a:pPr>
            <a:r>
              <a:rPr sz="1100" dirty="0">
                <a:solidFill>
                  <a:srgbClr val="1C1C1C"/>
                </a:solidFill>
              </a:rPr>
              <a:t>   </a:t>
            </a:r>
            <a:r>
              <a:rPr sz="1100" dirty="0" err="1">
                <a:solidFill>
                  <a:srgbClr val="1C1C1C"/>
                </a:solidFill>
              </a:rPr>
              <a:t>오늘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수집된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conversion이</a:t>
            </a:r>
            <a:r>
              <a:rPr sz="1100" dirty="0">
                <a:solidFill>
                  <a:srgbClr val="1C1C1C"/>
                </a:solidFill>
              </a:rPr>
              <a:t> 30일 전 </a:t>
            </a:r>
            <a:r>
              <a:rPr sz="1100" dirty="0" err="1">
                <a:solidFill>
                  <a:srgbClr val="1C1C1C"/>
                </a:solidFill>
              </a:rPr>
              <a:t>파티션에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기록</a:t>
            </a:r>
            <a:r>
              <a:rPr sz="1100" dirty="0">
                <a:solidFill>
                  <a:srgbClr val="1C1C1C"/>
                </a:solidFill>
              </a:rPr>
              <a:t> → </a:t>
            </a:r>
            <a:r>
              <a:rPr sz="1100" dirty="0" err="1">
                <a:solidFill>
                  <a:srgbClr val="1C1C1C"/>
                </a:solidFill>
              </a:rPr>
              <a:t>파일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크기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예측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불가</a:t>
            </a:r>
            <a:endParaRPr sz="1100" dirty="0">
              <a:solidFill>
                <a:srgbClr val="1C1C1C"/>
              </a:solidFill>
            </a:endParaRPr>
          </a:p>
          <a:p>
            <a:pPr>
              <a:spcBef>
                <a:spcPts val="500"/>
              </a:spcBef>
            </a:pPr>
            <a:endParaRPr lang="en-US" sz="1250" b="1" dirty="0">
              <a:solidFill>
                <a:srgbClr val="1C1C1C"/>
              </a:solidFill>
            </a:endParaRPr>
          </a:p>
          <a:p>
            <a:pPr>
              <a:spcBef>
                <a:spcPts val="500"/>
              </a:spcBef>
            </a:pPr>
            <a:r>
              <a:rPr sz="1400" b="1" dirty="0" err="1">
                <a:solidFill>
                  <a:srgbClr val="1C1C1C"/>
                </a:solidFill>
              </a:rPr>
              <a:t>ingest_ts</a:t>
            </a:r>
            <a:r>
              <a:rPr sz="1400" b="1" dirty="0">
                <a:solidFill>
                  <a:srgbClr val="1C1C1C"/>
                </a:solidFill>
              </a:rPr>
              <a:t> </a:t>
            </a:r>
            <a:r>
              <a:rPr sz="1400" b="1" dirty="0" err="1">
                <a:solidFill>
                  <a:srgbClr val="1C1C1C"/>
                </a:solidFill>
              </a:rPr>
              <a:t>기준</a:t>
            </a:r>
            <a:r>
              <a:rPr sz="1400" b="1" dirty="0">
                <a:solidFill>
                  <a:srgbClr val="1C1C1C"/>
                </a:solidFill>
              </a:rPr>
              <a:t>: </a:t>
            </a:r>
            <a:r>
              <a:rPr sz="1400" b="1" dirty="0" err="1">
                <a:solidFill>
                  <a:srgbClr val="1C1C1C"/>
                </a:solidFill>
              </a:rPr>
              <a:t>오늘</a:t>
            </a:r>
            <a:r>
              <a:rPr sz="1400" b="1" dirty="0">
                <a:solidFill>
                  <a:srgbClr val="1C1C1C"/>
                </a:solidFill>
              </a:rPr>
              <a:t> </a:t>
            </a:r>
            <a:r>
              <a:rPr sz="1400" b="1" dirty="0" err="1">
                <a:solidFill>
                  <a:srgbClr val="1C1C1C"/>
                </a:solidFill>
              </a:rPr>
              <a:t>수집된</a:t>
            </a:r>
            <a:r>
              <a:rPr sz="1400" b="1" dirty="0">
                <a:solidFill>
                  <a:srgbClr val="1C1C1C"/>
                </a:solidFill>
              </a:rPr>
              <a:t> </a:t>
            </a:r>
            <a:r>
              <a:rPr sz="1400" b="1" dirty="0" err="1">
                <a:solidFill>
                  <a:srgbClr val="1C1C1C"/>
                </a:solidFill>
              </a:rPr>
              <a:t>모든</a:t>
            </a:r>
            <a:r>
              <a:rPr sz="1400" b="1" dirty="0">
                <a:solidFill>
                  <a:srgbClr val="1C1C1C"/>
                </a:solidFill>
              </a:rPr>
              <a:t> </a:t>
            </a:r>
            <a:r>
              <a:rPr sz="1400" b="1" dirty="0" err="1">
                <a:solidFill>
                  <a:srgbClr val="1C1C1C"/>
                </a:solidFill>
              </a:rPr>
              <a:t>이벤트가</a:t>
            </a:r>
            <a:r>
              <a:rPr sz="1400" b="1" dirty="0">
                <a:solidFill>
                  <a:srgbClr val="1C1C1C"/>
                </a:solidFill>
              </a:rPr>
              <a:t> </a:t>
            </a:r>
            <a:r>
              <a:rPr sz="1400" b="1" dirty="0" err="1">
                <a:solidFill>
                  <a:srgbClr val="1C1C1C"/>
                </a:solidFill>
              </a:rPr>
              <a:t>오늘</a:t>
            </a:r>
            <a:r>
              <a:rPr sz="1400" b="1" dirty="0">
                <a:solidFill>
                  <a:srgbClr val="1C1C1C"/>
                </a:solidFill>
              </a:rPr>
              <a:t> </a:t>
            </a:r>
            <a:r>
              <a:rPr sz="1400" b="1" dirty="0" err="1">
                <a:solidFill>
                  <a:srgbClr val="1C1C1C"/>
                </a:solidFill>
              </a:rPr>
              <a:t>파티션에</a:t>
            </a:r>
            <a:r>
              <a:rPr sz="1400" b="1" dirty="0">
                <a:solidFill>
                  <a:srgbClr val="1C1C1C"/>
                </a:solidFill>
              </a:rPr>
              <a:t> </a:t>
            </a:r>
            <a:r>
              <a:rPr sz="1400" b="1" dirty="0" err="1">
                <a:solidFill>
                  <a:srgbClr val="1C1C1C"/>
                </a:solidFill>
              </a:rPr>
              <a:t>균등</a:t>
            </a:r>
            <a:r>
              <a:rPr sz="1400" b="1" dirty="0">
                <a:solidFill>
                  <a:srgbClr val="1C1C1C"/>
                </a:solidFill>
              </a:rPr>
              <a:t> </a:t>
            </a:r>
            <a:r>
              <a:rPr sz="1400" b="1" dirty="0" err="1">
                <a:solidFill>
                  <a:srgbClr val="1C1C1C"/>
                </a:solidFill>
              </a:rPr>
              <a:t>적재</a:t>
            </a:r>
            <a:endParaRPr sz="1400" b="1" dirty="0">
              <a:solidFill>
                <a:srgbClr val="1C1C1C"/>
              </a:solidFill>
            </a:endParaRPr>
          </a:p>
          <a:p>
            <a:pPr>
              <a:spcBef>
                <a:spcPts val="200"/>
              </a:spcBef>
            </a:pPr>
            <a:r>
              <a:rPr sz="1100" dirty="0">
                <a:solidFill>
                  <a:srgbClr val="1C1C1C"/>
                </a:solidFill>
              </a:rPr>
              <a:t>   → </a:t>
            </a:r>
            <a:r>
              <a:rPr sz="1100" dirty="0" err="1">
                <a:solidFill>
                  <a:srgbClr val="1C1C1C"/>
                </a:solidFill>
              </a:rPr>
              <a:t>장애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복구</a:t>
            </a:r>
            <a:r>
              <a:rPr sz="1100" dirty="0">
                <a:solidFill>
                  <a:srgbClr val="1C1C1C"/>
                </a:solidFill>
              </a:rPr>
              <a:t> 시 '이 </a:t>
            </a:r>
            <a:r>
              <a:rPr sz="1100" dirty="0" err="1">
                <a:solidFill>
                  <a:srgbClr val="1C1C1C"/>
                </a:solidFill>
              </a:rPr>
              <a:t>날짜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파티션부터</a:t>
            </a:r>
            <a:r>
              <a:rPr sz="1100" dirty="0">
                <a:solidFill>
                  <a:srgbClr val="1C1C1C"/>
                </a:solidFill>
              </a:rPr>
              <a:t> Silver </a:t>
            </a:r>
            <a:r>
              <a:rPr sz="1100" dirty="0" err="1">
                <a:solidFill>
                  <a:srgbClr val="1C1C1C"/>
                </a:solidFill>
              </a:rPr>
              <a:t>재처리</a:t>
            </a:r>
            <a:r>
              <a:rPr sz="1100" dirty="0">
                <a:solidFill>
                  <a:srgbClr val="1C1C1C"/>
                </a:solidFill>
              </a:rPr>
              <a:t>' </a:t>
            </a:r>
            <a:r>
              <a:rPr sz="1100" dirty="0" err="1">
                <a:solidFill>
                  <a:srgbClr val="1C1C1C"/>
                </a:solidFill>
              </a:rPr>
              <a:t>범위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특정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가능</a:t>
            </a:r>
            <a:endParaRPr sz="1100" dirty="0">
              <a:solidFill>
                <a:srgbClr val="1C1C1C"/>
              </a:solidFill>
            </a:endParaRPr>
          </a:p>
          <a:p>
            <a:pPr>
              <a:spcBef>
                <a:spcPts val="200"/>
              </a:spcBef>
            </a:pPr>
            <a:r>
              <a:rPr sz="1100" dirty="0">
                <a:solidFill>
                  <a:srgbClr val="1C1C1C"/>
                </a:solidFill>
              </a:rPr>
              <a:t>   </a:t>
            </a:r>
            <a:r>
              <a:rPr sz="1100" dirty="0" err="1">
                <a:solidFill>
                  <a:srgbClr val="1C1C1C"/>
                </a:solidFill>
              </a:rPr>
              <a:t>Silver에서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event_date</a:t>
            </a:r>
            <a:r>
              <a:rPr sz="1100" dirty="0">
                <a:solidFill>
                  <a:srgbClr val="1C1C1C"/>
                </a:solidFill>
              </a:rPr>
              <a:t>(impression </a:t>
            </a:r>
            <a:r>
              <a:rPr sz="1100" dirty="0" err="1">
                <a:solidFill>
                  <a:srgbClr val="1C1C1C"/>
                </a:solidFill>
              </a:rPr>
              <a:t>발생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기준</a:t>
            </a:r>
            <a:r>
              <a:rPr sz="1100" dirty="0">
                <a:solidFill>
                  <a:srgbClr val="1C1C1C"/>
                </a:solidFill>
              </a:rPr>
              <a:t>)로 </a:t>
            </a:r>
            <a:r>
              <a:rPr sz="1100" dirty="0" err="1">
                <a:solidFill>
                  <a:srgbClr val="1C1C1C"/>
                </a:solidFill>
              </a:rPr>
              <a:t>재파티셔닝</a:t>
            </a:r>
            <a:endParaRPr sz="1100" dirty="0">
              <a:solidFill>
                <a:srgbClr val="1C1C1C"/>
              </a:solidFill>
            </a:endParaRPr>
          </a:p>
          <a:p>
            <a:pPr>
              <a:spcBef>
                <a:spcPts val="200"/>
              </a:spcBef>
            </a:pPr>
            <a:r>
              <a:rPr sz="1100" dirty="0">
                <a:solidFill>
                  <a:srgbClr val="1C1C1C"/>
                </a:solidFill>
              </a:rPr>
              <a:t>   → </a:t>
            </a:r>
            <a:r>
              <a:rPr sz="1100" dirty="0" err="1">
                <a:solidFill>
                  <a:srgbClr val="1C1C1C"/>
                </a:solidFill>
              </a:rPr>
              <a:t>Bronze는</a:t>
            </a:r>
            <a:r>
              <a:rPr sz="1100" dirty="0">
                <a:solidFill>
                  <a:srgbClr val="1C1C1C"/>
                </a:solidFill>
              </a:rPr>
              <a:t> append-only </a:t>
            </a:r>
            <a:r>
              <a:rPr sz="1100" dirty="0" err="1">
                <a:solidFill>
                  <a:srgbClr val="1C1C1C"/>
                </a:solidFill>
              </a:rPr>
              <a:t>원본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저장이므로</a:t>
            </a:r>
            <a:r>
              <a:rPr sz="1100" dirty="0">
                <a:solidFill>
                  <a:srgbClr val="1C1C1C"/>
                </a:solidFill>
              </a:rPr>
              <a:t> Iceberg </a:t>
            </a:r>
            <a:r>
              <a:rPr sz="1100" dirty="0" err="1">
                <a:solidFill>
                  <a:srgbClr val="1C1C1C"/>
                </a:solidFill>
              </a:rPr>
              <a:t>불필요</a:t>
            </a:r>
            <a:endParaRPr sz="1100" dirty="0">
              <a:solidFill>
                <a:srgbClr val="1C1C1C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035040" y="1143000"/>
            <a:ext cx="5760720" cy="34747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26480" y="114300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Spark Checkpoint — Streaming 장애 복구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1536192"/>
            <a:ext cx="5577840" cy="25186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 b="1" dirty="0">
                <a:solidFill>
                  <a:srgbClr val="1C1C1C"/>
                </a:solidFill>
              </a:rPr>
              <a:t>S3에 </a:t>
            </a:r>
            <a:r>
              <a:rPr sz="1400" b="1" dirty="0" err="1">
                <a:solidFill>
                  <a:srgbClr val="1C1C1C"/>
                </a:solidFill>
              </a:rPr>
              <a:t>토픽별</a:t>
            </a:r>
            <a:r>
              <a:rPr sz="1400" b="1" dirty="0">
                <a:solidFill>
                  <a:srgbClr val="1C1C1C"/>
                </a:solidFill>
              </a:rPr>
              <a:t> </a:t>
            </a:r>
            <a:r>
              <a:rPr sz="1400" b="1" dirty="0" err="1">
                <a:solidFill>
                  <a:srgbClr val="1C1C1C"/>
                </a:solidFill>
              </a:rPr>
              <a:t>독립</a:t>
            </a:r>
            <a:r>
              <a:rPr sz="1400" b="1" dirty="0">
                <a:solidFill>
                  <a:srgbClr val="1C1C1C"/>
                </a:solidFill>
              </a:rPr>
              <a:t> checkpoint </a:t>
            </a:r>
            <a:r>
              <a:rPr sz="1400" b="1" dirty="0" err="1">
                <a:solidFill>
                  <a:srgbClr val="1C1C1C"/>
                </a:solidFill>
              </a:rPr>
              <a:t>저장</a:t>
            </a:r>
            <a:endParaRPr sz="1400" b="1" dirty="0">
              <a:solidFill>
                <a:srgbClr val="1C1C1C"/>
              </a:solidFill>
            </a:endParaRPr>
          </a:p>
          <a:p>
            <a:pPr>
              <a:spcBef>
                <a:spcPts val="200"/>
              </a:spcBef>
            </a:pPr>
            <a:r>
              <a:rPr sz="1150" dirty="0">
                <a:solidFill>
                  <a:srgbClr val="1C1C1C"/>
                </a:solidFill>
              </a:rPr>
              <a:t>   s3a://…/checkpoints/</a:t>
            </a:r>
            <a:r>
              <a:rPr sz="1150" dirty="0" err="1">
                <a:solidFill>
                  <a:srgbClr val="1C1C1C"/>
                </a:solidFill>
              </a:rPr>
              <a:t>kafka_to_raw</a:t>
            </a:r>
            <a:r>
              <a:rPr sz="1150" dirty="0">
                <a:solidFill>
                  <a:srgbClr val="1C1C1C"/>
                </a:solidFill>
              </a:rPr>
              <a:t>/impressions/</a:t>
            </a:r>
          </a:p>
          <a:p>
            <a:pPr>
              <a:spcBef>
                <a:spcPts val="200"/>
              </a:spcBef>
            </a:pPr>
            <a:r>
              <a:rPr sz="1150" dirty="0">
                <a:solidFill>
                  <a:srgbClr val="1C1C1C"/>
                </a:solidFill>
              </a:rPr>
              <a:t>   s3a://…/checkpoints/</a:t>
            </a:r>
            <a:r>
              <a:rPr sz="1150" dirty="0" err="1">
                <a:solidFill>
                  <a:srgbClr val="1C1C1C"/>
                </a:solidFill>
              </a:rPr>
              <a:t>kafka_to_raw</a:t>
            </a:r>
            <a:r>
              <a:rPr sz="1150" dirty="0">
                <a:solidFill>
                  <a:srgbClr val="1C1C1C"/>
                </a:solidFill>
              </a:rPr>
              <a:t>/clicks/</a:t>
            </a:r>
          </a:p>
          <a:p>
            <a:pPr>
              <a:spcBef>
                <a:spcPts val="200"/>
              </a:spcBef>
            </a:pPr>
            <a:r>
              <a:rPr sz="1150" dirty="0">
                <a:solidFill>
                  <a:srgbClr val="1C1C1C"/>
                </a:solidFill>
              </a:rPr>
              <a:t>   s3a://…/checkpoints/</a:t>
            </a:r>
            <a:r>
              <a:rPr sz="1150" dirty="0" err="1">
                <a:solidFill>
                  <a:srgbClr val="1C1C1C"/>
                </a:solidFill>
              </a:rPr>
              <a:t>kafka_to_raw</a:t>
            </a:r>
            <a:r>
              <a:rPr sz="1150" dirty="0">
                <a:solidFill>
                  <a:srgbClr val="1C1C1C"/>
                </a:solidFill>
              </a:rPr>
              <a:t>/conversions/</a:t>
            </a:r>
          </a:p>
          <a:p>
            <a:pPr>
              <a:spcBef>
                <a:spcPts val="500"/>
              </a:spcBef>
            </a:pPr>
            <a:endParaRPr sz="1150" dirty="0">
              <a:solidFill>
                <a:srgbClr val="1C1C1C"/>
              </a:solidFill>
            </a:endParaRPr>
          </a:p>
          <a:p>
            <a:pPr>
              <a:spcBef>
                <a:spcPts val="500"/>
              </a:spcBef>
            </a:pPr>
            <a:r>
              <a:rPr sz="1300" dirty="0">
                <a:solidFill>
                  <a:srgbClr val="1C1C1C"/>
                </a:solidFill>
              </a:rPr>
              <a:t>Streaming job </a:t>
            </a:r>
            <a:r>
              <a:rPr sz="1300" dirty="0" err="1">
                <a:solidFill>
                  <a:srgbClr val="1C1C1C"/>
                </a:solidFill>
              </a:rPr>
              <a:t>크래시</a:t>
            </a:r>
            <a:r>
              <a:rPr sz="1300" dirty="0">
                <a:solidFill>
                  <a:srgbClr val="1C1C1C"/>
                </a:solidFill>
              </a:rPr>
              <a:t> 후 </a:t>
            </a:r>
            <a:r>
              <a:rPr sz="1300" dirty="0" err="1">
                <a:solidFill>
                  <a:srgbClr val="1C1C1C"/>
                </a:solidFill>
              </a:rPr>
              <a:t>재시작</a:t>
            </a:r>
            <a:r>
              <a:rPr sz="1300" dirty="0">
                <a:solidFill>
                  <a:srgbClr val="1C1C1C"/>
                </a:solidFill>
              </a:rPr>
              <a:t> 시</a:t>
            </a:r>
          </a:p>
          <a:p>
            <a:pPr>
              <a:spcBef>
                <a:spcPts val="200"/>
              </a:spcBef>
            </a:pPr>
            <a:r>
              <a:rPr sz="1150" dirty="0">
                <a:solidFill>
                  <a:srgbClr val="1C1C1C"/>
                </a:solidFill>
              </a:rPr>
              <a:t>   → </a:t>
            </a:r>
            <a:r>
              <a:rPr sz="1150" dirty="0" err="1">
                <a:solidFill>
                  <a:srgbClr val="1C1C1C"/>
                </a:solidFill>
              </a:rPr>
              <a:t>마지막</a:t>
            </a:r>
            <a:r>
              <a:rPr sz="1150" dirty="0">
                <a:solidFill>
                  <a:srgbClr val="1C1C1C"/>
                </a:solidFill>
              </a:rPr>
              <a:t> </a:t>
            </a:r>
            <a:r>
              <a:rPr sz="1150" dirty="0" err="1">
                <a:solidFill>
                  <a:srgbClr val="1C1C1C"/>
                </a:solidFill>
              </a:rPr>
              <a:t>처리된</a:t>
            </a:r>
            <a:r>
              <a:rPr sz="1150" dirty="0">
                <a:solidFill>
                  <a:srgbClr val="1C1C1C"/>
                </a:solidFill>
              </a:rPr>
              <a:t> Kafka </a:t>
            </a:r>
            <a:r>
              <a:rPr sz="1150" dirty="0" err="1">
                <a:solidFill>
                  <a:srgbClr val="1C1C1C"/>
                </a:solidFill>
              </a:rPr>
              <a:t>offset에서</a:t>
            </a:r>
            <a:r>
              <a:rPr sz="1150" dirty="0">
                <a:solidFill>
                  <a:srgbClr val="1C1C1C"/>
                </a:solidFill>
              </a:rPr>
              <a:t> </a:t>
            </a:r>
            <a:r>
              <a:rPr sz="1150" dirty="0" err="1">
                <a:solidFill>
                  <a:srgbClr val="1C1C1C"/>
                </a:solidFill>
              </a:rPr>
              <a:t>이어서</a:t>
            </a:r>
            <a:r>
              <a:rPr sz="1150" dirty="0">
                <a:solidFill>
                  <a:srgbClr val="1C1C1C"/>
                </a:solidFill>
              </a:rPr>
              <a:t> </a:t>
            </a:r>
            <a:r>
              <a:rPr sz="1150" dirty="0" err="1">
                <a:solidFill>
                  <a:srgbClr val="1C1C1C"/>
                </a:solidFill>
              </a:rPr>
              <a:t>처리</a:t>
            </a:r>
            <a:endParaRPr sz="1150" dirty="0">
              <a:solidFill>
                <a:srgbClr val="1C1C1C"/>
              </a:solidFill>
            </a:endParaRPr>
          </a:p>
          <a:p>
            <a:pPr>
              <a:spcBef>
                <a:spcPts val="200"/>
              </a:spcBef>
            </a:pPr>
            <a:r>
              <a:rPr sz="1150" dirty="0">
                <a:solidFill>
                  <a:srgbClr val="1C1C1C"/>
                </a:solidFill>
              </a:rPr>
              <a:t>   → </a:t>
            </a:r>
            <a:r>
              <a:rPr sz="1150" dirty="0" err="1">
                <a:solidFill>
                  <a:srgbClr val="1C1C1C"/>
                </a:solidFill>
              </a:rPr>
              <a:t>중복</a:t>
            </a:r>
            <a:r>
              <a:rPr sz="1150" dirty="0">
                <a:solidFill>
                  <a:srgbClr val="1C1C1C"/>
                </a:solidFill>
              </a:rPr>
              <a:t>/</a:t>
            </a:r>
            <a:r>
              <a:rPr sz="1150" dirty="0" err="1">
                <a:solidFill>
                  <a:srgbClr val="1C1C1C"/>
                </a:solidFill>
              </a:rPr>
              <a:t>누락</a:t>
            </a:r>
            <a:r>
              <a:rPr sz="1150" dirty="0">
                <a:solidFill>
                  <a:srgbClr val="1C1C1C"/>
                </a:solidFill>
              </a:rPr>
              <a:t> </a:t>
            </a:r>
            <a:r>
              <a:rPr sz="1150" dirty="0" err="1">
                <a:solidFill>
                  <a:srgbClr val="1C1C1C"/>
                </a:solidFill>
              </a:rPr>
              <a:t>없이</a:t>
            </a:r>
            <a:r>
              <a:rPr sz="1150" dirty="0">
                <a:solidFill>
                  <a:srgbClr val="1C1C1C"/>
                </a:solidFill>
              </a:rPr>
              <a:t> </a:t>
            </a:r>
            <a:r>
              <a:rPr sz="1150" dirty="0" err="1">
                <a:solidFill>
                  <a:srgbClr val="1C1C1C"/>
                </a:solidFill>
              </a:rPr>
              <a:t>재개</a:t>
            </a:r>
            <a:r>
              <a:rPr sz="1150" dirty="0">
                <a:solidFill>
                  <a:srgbClr val="1C1C1C"/>
                </a:solidFill>
              </a:rPr>
              <a:t> </a:t>
            </a:r>
            <a:r>
              <a:rPr sz="1150" dirty="0" err="1">
                <a:solidFill>
                  <a:srgbClr val="1C1C1C"/>
                </a:solidFill>
              </a:rPr>
              <a:t>가능</a:t>
            </a:r>
            <a:endParaRPr sz="1150" dirty="0">
              <a:solidFill>
                <a:srgbClr val="1C1C1C"/>
              </a:solidFill>
            </a:endParaRPr>
          </a:p>
          <a:p>
            <a:pPr>
              <a:spcBef>
                <a:spcPts val="500"/>
              </a:spcBef>
            </a:pPr>
            <a:endParaRPr sz="1150" dirty="0">
              <a:solidFill>
                <a:srgbClr val="1C1C1C"/>
              </a:solidFill>
            </a:endParaRPr>
          </a:p>
          <a:p>
            <a:pPr>
              <a:spcBef>
                <a:spcPts val="500"/>
              </a:spcBef>
            </a:pPr>
            <a:r>
              <a:rPr sz="1300" dirty="0">
                <a:solidFill>
                  <a:srgbClr val="1C1C1C"/>
                </a:solidFill>
              </a:rPr>
              <a:t>checkpoint </a:t>
            </a:r>
            <a:r>
              <a:rPr sz="1300" dirty="0" err="1">
                <a:solidFill>
                  <a:srgbClr val="1C1C1C"/>
                </a:solidFill>
              </a:rPr>
              <a:t>경로를</a:t>
            </a:r>
            <a:r>
              <a:rPr sz="1300" dirty="0">
                <a:solidFill>
                  <a:srgbClr val="1C1C1C"/>
                </a:solidFill>
              </a:rPr>
              <a:t> </a:t>
            </a:r>
            <a:r>
              <a:rPr sz="1300" dirty="0" err="1">
                <a:solidFill>
                  <a:srgbClr val="1C1C1C"/>
                </a:solidFill>
              </a:rPr>
              <a:t>토픽별로</a:t>
            </a:r>
            <a:r>
              <a:rPr sz="1300" dirty="0">
                <a:solidFill>
                  <a:srgbClr val="1C1C1C"/>
                </a:solidFill>
              </a:rPr>
              <a:t> </a:t>
            </a:r>
            <a:r>
              <a:rPr sz="1300" dirty="0" err="1">
                <a:solidFill>
                  <a:srgbClr val="1C1C1C"/>
                </a:solidFill>
              </a:rPr>
              <a:t>분리하는</a:t>
            </a:r>
            <a:r>
              <a:rPr sz="1300" dirty="0">
                <a:solidFill>
                  <a:srgbClr val="1C1C1C"/>
                </a:solidFill>
              </a:rPr>
              <a:t> </a:t>
            </a:r>
            <a:r>
              <a:rPr sz="1300" dirty="0" err="1">
                <a:solidFill>
                  <a:srgbClr val="1C1C1C"/>
                </a:solidFill>
              </a:rPr>
              <a:t>이유</a:t>
            </a:r>
            <a:endParaRPr sz="1300" dirty="0">
              <a:solidFill>
                <a:srgbClr val="1C1C1C"/>
              </a:solidFill>
            </a:endParaRPr>
          </a:p>
          <a:p>
            <a:pPr>
              <a:spcBef>
                <a:spcPts val="200"/>
              </a:spcBef>
            </a:pPr>
            <a:r>
              <a:rPr sz="1150" dirty="0">
                <a:solidFill>
                  <a:srgbClr val="1C1C1C"/>
                </a:solidFill>
              </a:rPr>
              <a:t>   </a:t>
            </a:r>
            <a:r>
              <a:rPr sz="1150" dirty="0" err="1">
                <a:solidFill>
                  <a:srgbClr val="1C1C1C"/>
                </a:solidFill>
              </a:rPr>
              <a:t>공유하면</a:t>
            </a:r>
            <a:r>
              <a:rPr sz="1150" dirty="0">
                <a:solidFill>
                  <a:srgbClr val="1C1C1C"/>
                </a:solidFill>
              </a:rPr>
              <a:t> offset </a:t>
            </a:r>
            <a:r>
              <a:rPr sz="1150" dirty="0" err="1">
                <a:solidFill>
                  <a:srgbClr val="1C1C1C"/>
                </a:solidFill>
              </a:rPr>
              <a:t>상태가</a:t>
            </a:r>
            <a:r>
              <a:rPr sz="1150" dirty="0">
                <a:solidFill>
                  <a:srgbClr val="1C1C1C"/>
                </a:solidFill>
              </a:rPr>
              <a:t> </a:t>
            </a:r>
            <a:r>
              <a:rPr sz="1150" dirty="0" err="1">
                <a:solidFill>
                  <a:srgbClr val="1C1C1C"/>
                </a:solidFill>
              </a:rPr>
              <a:t>섞여</a:t>
            </a:r>
            <a:r>
              <a:rPr sz="1150" dirty="0">
                <a:solidFill>
                  <a:srgbClr val="1C1C1C"/>
                </a:solidFill>
              </a:rPr>
              <a:t> </a:t>
            </a:r>
            <a:r>
              <a:rPr sz="1150" dirty="0" err="1">
                <a:solidFill>
                  <a:srgbClr val="1C1C1C"/>
                </a:solidFill>
              </a:rPr>
              <a:t>재처리</a:t>
            </a:r>
            <a:r>
              <a:rPr sz="1150" dirty="0">
                <a:solidFill>
                  <a:srgbClr val="1C1C1C"/>
                </a:solidFill>
              </a:rPr>
              <a:t> 시 </a:t>
            </a:r>
            <a:r>
              <a:rPr sz="1150" dirty="0" err="1">
                <a:solidFill>
                  <a:srgbClr val="1C1C1C"/>
                </a:solidFill>
              </a:rPr>
              <a:t>누락</a:t>
            </a:r>
            <a:r>
              <a:rPr sz="1150" dirty="0">
                <a:solidFill>
                  <a:srgbClr val="1C1C1C"/>
                </a:solidFill>
              </a:rPr>
              <a:t> </a:t>
            </a:r>
            <a:r>
              <a:rPr sz="1150" dirty="0" err="1">
                <a:solidFill>
                  <a:srgbClr val="1C1C1C"/>
                </a:solidFill>
              </a:rPr>
              <a:t>또는</a:t>
            </a:r>
            <a:r>
              <a:rPr sz="1150" dirty="0">
                <a:solidFill>
                  <a:srgbClr val="1C1C1C"/>
                </a:solidFill>
              </a:rPr>
              <a:t> </a:t>
            </a:r>
            <a:r>
              <a:rPr sz="1150" dirty="0" err="1">
                <a:solidFill>
                  <a:srgbClr val="1C1C1C"/>
                </a:solidFill>
              </a:rPr>
              <a:t>중복</a:t>
            </a:r>
            <a:r>
              <a:rPr sz="1150" dirty="0">
                <a:solidFill>
                  <a:srgbClr val="1C1C1C"/>
                </a:solidFill>
              </a:rPr>
              <a:t> </a:t>
            </a:r>
            <a:r>
              <a:rPr sz="1150" dirty="0" err="1">
                <a:solidFill>
                  <a:srgbClr val="1C1C1C"/>
                </a:solidFill>
              </a:rPr>
              <a:t>발생</a:t>
            </a:r>
            <a:endParaRPr sz="1150" dirty="0">
              <a:solidFill>
                <a:srgbClr val="1C1C1C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035040" y="5212080"/>
            <a:ext cx="5760720" cy="1508760"/>
          </a:xfrm>
          <a:prstGeom prst="rect">
            <a:avLst/>
          </a:prstGeom>
          <a:solidFill>
            <a:srgbClr val="FFF3E0"/>
          </a:solidFill>
          <a:ln w="12700">
            <a:solidFill>
              <a:srgbClr val="D46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26480" y="5257800"/>
            <a:ext cx="55778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D46A0A"/>
                </a:solidFill>
              </a:rPr>
              <a:t>⚠️ 한계</a:t>
            </a:r>
          </a:p>
          <a:p>
            <a:r>
              <a:rPr sz="1200">
                <a:solidFill>
                  <a:srgbClr val="D46A0A"/>
                </a:solidFill>
              </a:rPr>
              <a:t>• Kafka 단일 브로커 (replication factor=1) — 브로커 장애 시 메시지 손실</a:t>
            </a:r>
          </a:p>
          <a:p>
            <a:r>
              <a:rPr sz="1200">
                <a:solidFill>
                  <a:srgbClr val="D46A0A"/>
                </a:solidFill>
              </a:rPr>
              <a:t>  → 운영 환경에선 3+ 브로커 클러스터 + replication 구성 필요</a:t>
            </a:r>
          </a:p>
          <a:p>
            <a:r>
              <a:rPr sz="1200">
                <a:solidFill>
                  <a:srgbClr val="D46A0A"/>
                </a:solidFill>
              </a:rPr>
              <a:t>• Spark Worker가 단일 머신에 모두 있어 실제 분산 환경 아님 (흉내 수준)</a:t>
            </a:r>
          </a:p>
          <a:p>
            <a:r>
              <a:rPr sz="1200">
                <a:solidFill>
                  <a:srgbClr val="D46A0A"/>
                </a:solidFill>
              </a:rPr>
              <a:t>• producer.py 재시작 시 전체 데이터 처음부터 재발행 — 모든 이벤트 중복 가능 (Silver MERGE에서 흡수)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Silver — Attribution 2-Stage 일배치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CCDD"/>
                </a:solidFill>
              </a:rPr>
              <a:t>Dedup + Attribution Join + Iceberg MERGE INTO (MOR)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5577840" cy="347472"/>
          </a:xfrm>
          <a:prstGeom prst="rect">
            <a:avLst/>
          </a:prstGeom>
          <a:solidFill>
            <a:srgbClr val="709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왜 2-Stage인가 — 이벤트 도착 시점 문제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36192"/>
            <a:ext cx="5577840" cy="31495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50" dirty="0" err="1">
                <a:solidFill>
                  <a:srgbClr val="1C1C1C"/>
                </a:solidFill>
              </a:rPr>
              <a:t>어제</a:t>
            </a:r>
            <a:r>
              <a:rPr sz="1250" dirty="0">
                <a:solidFill>
                  <a:srgbClr val="1C1C1C"/>
                </a:solidFill>
              </a:rPr>
              <a:t>(6/24) Bronze </a:t>
            </a:r>
            <a:r>
              <a:rPr sz="1250" dirty="0" err="1">
                <a:solidFill>
                  <a:srgbClr val="1C1C1C"/>
                </a:solidFill>
              </a:rPr>
              <a:t>raw_date</a:t>
            </a:r>
            <a:r>
              <a:rPr sz="1250" dirty="0">
                <a:solidFill>
                  <a:srgbClr val="1C1C1C"/>
                </a:solidFill>
              </a:rPr>
              <a:t>=6/24에 </a:t>
            </a:r>
            <a:r>
              <a:rPr sz="1250" dirty="0" err="1">
                <a:solidFill>
                  <a:srgbClr val="1C1C1C"/>
                </a:solidFill>
              </a:rPr>
              <a:t>들어오는</a:t>
            </a:r>
            <a:r>
              <a:rPr sz="1250" dirty="0">
                <a:solidFill>
                  <a:srgbClr val="1C1C1C"/>
                </a:solidFill>
              </a:rPr>
              <a:t> 것:</a:t>
            </a:r>
          </a:p>
          <a:p>
            <a:pPr>
              <a:spcBef>
                <a:spcPts val="200"/>
              </a:spcBef>
            </a:pPr>
            <a:r>
              <a:rPr sz="1100" dirty="0">
                <a:solidFill>
                  <a:srgbClr val="1C1C1C"/>
                </a:solidFill>
              </a:rPr>
              <a:t>   impression: </a:t>
            </a:r>
            <a:r>
              <a:rPr sz="1100" dirty="0" err="1">
                <a:solidFill>
                  <a:srgbClr val="1C1C1C"/>
                </a:solidFill>
              </a:rPr>
              <a:t>어제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발생</a:t>
            </a:r>
            <a:r>
              <a:rPr sz="1100" dirty="0">
                <a:solidFill>
                  <a:srgbClr val="1C1C1C"/>
                </a:solidFill>
              </a:rPr>
              <a:t> → </a:t>
            </a:r>
            <a:r>
              <a:rPr sz="1100" dirty="0" err="1">
                <a:solidFill>
                  <a:srgbClr val="1C1C1C"/>
                </a:solidFill>
              </a:rPr>
              <a:t>event_date</a:t>
            </a:r>
            <a:r>
              <a:rPr sz="1100" dirty="0">
                <a:solidFill>
                  <a:srgbClr val="1C1C1C"/>
                </a:solidFill>
              </a:rPr>
              <a:t> = 6/24</a:t>
            </a:r>
          </a:p>
          <a:p>
            <a:pPr>
              <a:spcBef>
                <a:spcPts val="200"/>
              </a:spcBef>
            </a:pPr>
            <a:r>
              <a:rPr sz="1100" dirty="0">
                <a:solidFill>
                  <a:srgbClr val="1C1C1C"/>
                </a:solidFill>
              </a:rPr>
              <a:t>   click:      </a:t>
            </a:r>
            <a:r>
              <a:rPr sz="1100" dirty="0" err="1">
                <a:solidFill>
                  <a:srgbClr val="1C1C1C"/>
                </a:solidFill>
              </a:rPr>
              <a:t>어제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도착</a:t>
            </a:r>
            <a:r>
              <a:rPr sz="1100" dirty="0">
                <a:solidFill>
                  <a:srgbClr val="1C1C1C"/>
                </a:solidFill>
              </a:rPr>
              <a:t>, </a:t>
            </a:r>
            <a:r>
              <a:rPr sz="1100" dirty="0" err="1">
                <a:solidFill>
                  <a:srgbClr val="1C1C1C"/>
                </a:solidFill>
              </a:rPr>
              <a:t>원본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impression은</a:t>
            </a:r>
            <a:r>
              <a:rPr sz="1100" dirty="0">
                <a:solidFill>
                  <a:srgbClr val="1C1C1C"/>
                </a:solidFill>
              </a:rPr>
              <a:t> 6/17~6/24 (click window 7일)</a:t>
            </a:r>
          </a:p>
          <a:p>
            <a:pPr>
              <a:spcBef>
                <a:spcPts val="200"/>
              </a:spcBef>
            </a:pPr>
            <a:r>
              <a:rPr sz="1100" dirty="0">
                <a:solidFill>
                  <a:srgbClr val="1C1C1C"/>
                </a:solidFill>
              </a:rPr>
              <a:t>   conversion: </a:t>
            </a:r>
            <a:r>
              <a:rPr sz="1100" dirty="0" err="1">
                <a:solidFill>
                  <a:srgbClr val="1C1C1C"/>
                </a:solidFill>
              </a:rPr>
              <a:t>어제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도착</a:t>
            </a:r>
            <a:r>
              <a:rPr sz="1100" dirty="0">
                <a:solidFill>
                  <a:srgbClr val="1C1C1C"/>
                </a:solidFill>
              </a:rPr>
              <a:t>, </a:t>
            </a:r>
            <a:r>
              <a:rPr sz="1100" dirty="0" err="1">
                <a:solidFill>
                  <a:srgbClr val="1C1C1C"/>
                </a:solidFill>
              </a:rPr>
              <a:t>원본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impression은</a:t>
            </a:r>
            <a:r>
              <a:rPr sz="1100" dirty="0">
                <a:solidFill>
                  <a:srgbClr val="1C1C1C"/>
                </a:solidFill>
              </a:rPr>
              <a:t> 5/25~6/24 (window 30일)</a:t>
            </a:r>
          </a:p>
          <a:p>
            <a:pPr>
              <a:spcBef>
                <a:spcPts val="500"/>
              </a:spcBef>
            </a:pPr>
            <a:endParaRPr lang="en-US" sz="1100" dirty="0">
              <a:solidFill>
                <a:srgbClr val="1C1C1C"/>
              </a:solidFill>
            </a:endParaRPr>
          </a:p>
          <a:p>
            <a:pPr>
              <a:spcBef>
                <a:spcPts val="500"/>
              </a:spcBef>
            </a:pPr>
            <a:r>
              <a:rPr lang="en-US" sz="1400" b="1" dirty="0">
                <a:solidFill>
                  <a:srgbClr val="1C1C1C"/>
                </a:solidFill>
              </a:rPr>
              <a:t>Impression </a:t>
            </a:r>
            <a:r>
              <a:rPr lang="ko-KR" altLang="en-US" sz="1400" b="1" dirty="0">
                <a:solidFill>
                  <a:srgbClr val="1C1C1C"/>
                </a:solidFill>
              </a:rPr>
              <a:t>이벤트 발생 시간 기준 </a:t>
            </a:r>
            <a:r>
              <a:rPr lang="ko-KR" altLang="en-US" sz="1400" b="1" dirty="0" err="1">
                <a:solidFill>
                  <a:srgbClr val="1C1C1C"/>
                </a:solidFill>
              </a:rPr>
              <a:t>재파티셔닝</a:t>
            </a:r>
            <a:endParaRPr lang="en-US" sz="1400" b="1" dirty="0">
              <a:solidFill>
                <a:srgbClr val="1C1C1C"/>
              </a:solidFill>
            </a:endParaRPr>
          </a:p>
          <a:p>
            <a:pPr>
              <a:spcBef>
                <a:spcPts val="500"/>
              </a:spcBef>
            </a:pPr>
            <a:endParaRPr sz="1100" dirty="0">
              <a:solidFill>
                <a:srgbClr val="1C1C1C"/>
              </a:solidFill>
            </a:endParaRPr>
          </a:p>
          <a:p>
            <a:pPr>
              <a:spcBef>
                <a:spcPts val="500"/>
              </a:spcBef>
            </a:pPr>
            <a:r>
              <a:rPr sz="1400" b="1" dirty="0">
                <a:solidFill>
                  <a:srgbClr val="1C1C1C"/>
                </a:solidFill>
              </a:rPr>
              <a:t>Stage 1: </a:t>
            </a:r>
            <a:r>
              <a:rPr sz="1400" b="1" dirty="0" err="1">
                <a:solidFill>
                  <a:srgbClr val="1C1C1C"/>
                </a:solidFill>
              </a:rPr>
              <a:t>어제</a:t>
            </a:r>
            <a:r>
              <a:rPr sz="1400" b="1" dirty="0">
                <a:solidFill>
                  <a:srgbClr val="1C1C1C"/>
                </a:solidFill>
              </a:rPr>
              <a:t> </a:t>
            </a:r>
            <a:r>
              <a:rPr sz="1400" b="1" dirty="0" err="1">
                <a:solidFill>
                  <a:srgbClr val="1C1C1C"/>
                </a:solidFill>
              </a:rPr>
              <a:t>Bronze의</a:t>
            </a:r>
            <a:r>
              <a:rPr sz="1400" b="1" dirty="0">
                <a:solidFill>
                  <a:srgbClr val="1C1C1C"/>
                </a:solidFill>
              </a:rPr>
              <a:t> impression → Silver INSERT</a:t>
            </a:r>
          </a:p>
          <a:p>
            <a:pPr>
              <a:spcBef>
                <a:spcPts val="200"/>
              </a:spcBef>
            </a:pPr>
            <a:r>
              <a:rPr sz="1100" dirty="0">
                <a:solidFill>
                  <a:srgbClr val="1C1C1C"/>
                </a:solidFill>
              </a:rPr>
              <a:t>   </a:t>
            </a:r>
            <a:r>
              <a:rPr sz="1100" dirty="0" err="1">
                <a:solidFill>
                  <a:srgbClr val="1C1C1C"/>
                </a:solidFill>
              </a:rPr>
              <a:t>event_date</a:t>
            </a:r>
            <a:r>
              <a:rPr sz="1100" dirty="0">
                <a:solidFill>
                  <a:srgbClr val="1C1C1C"/>
                </a:solidFill>
              </a:rPr>
              <a:t> = impression </a:t>
            </a:r>
            <a:r>
              <a:rPr sz="1100" dirty="0" err="1">
                <a:solidFill>
                  <a:srgbClr val="1C1C1C"/>
                </a:solidFill>
              </a:rPr>
              <a:t>발생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시각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기준</a:t>
            </a:r>
            <a:r>
              <a:rPr sz="1100" dirty="0">
                <a:solidFill>
                  <a:srgbClr val="1C1C1C"/>
                </a:solidFill>
              </a:rPr>
              <a:t> (</a:t>
            </a:r>
            <a:r>
              <a:rPr sz="1100" dirty="0" err="1">
                <a:solidFill>
                  <a:srgbClr val="1C1C1C"/>
                </a:solidFill>
              </a:rPr>
              <a:t>여러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파티션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분산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가능</a:t>
            </a:r>
            <a:r>
              <a:rPr sz="1100" dirty="0">
                <a:solidFill>
                  <a:srgbClr val="1C1C1C"/>
                </a:solidFill>
              </a:rPr>
              <a:t>)</a:t>
            </a:r>
          </a:p>
          <a:p>
            <a:pPr>
              <a:spcBef>
                <a:spcPts val="200"/>
              </a:spcBef>
            </a:pPr>
            <a:r>
              <a:rPr sz="1100" dirty="0">
                <a:solidFill>
                  <a:srgbClr val="1C1C1C"/>
                </a:solidFill>
              </a:rPr>
              <a:t>   </a:t>
            </a:r>
            <a:r>
              <a:rPr sz="1100" dirty="0" err="1">
                <a:solidFill>
                  <a:srgbClr val="1C1C1C"/>
                </a:solidFill>
              </a:rPr>
              <a:t>이미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Silver에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있는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impression은</a:t>
            </a:r>
            <a:r>
              <a:rPr sz="1100" dirty="0">
                <a:solidFill>
                  <a:srgbClr val="1C1C1C"/>
                </a:solidFill>
              </a:rPr>
              <a:t> INSERT 안 함 (</a:t>
            </a:r>
            <a:r>
              <a:rPr sz="1100" dirty="0" err="1">
                <a:solidFill>
                  <a:srgbClr val="1C1C1C"/>
                </a:solidFill>
              </a:rPr>
              <a:t>멱등</a:t>
            </a:r>
            <a:r>
              <a:rPr sz="1100" dirty="0">
                <a:solidFill>
                  <a:srgbClr val="1C1C1C"/>
                </a:solidFill>
              </a:rPr>
              <a:t>)</a:t>
            </a:r>
          </a:p>
          <a:p>
            <a:pPr>
              <a:spcBef>
                <a:spcPts val="200"/>
              </a:spcBef>
            </a:pPr>
            <a:r>
              <a:rPr sz="1100" dirty="0">
                <a:solidFill>
                  <a:srgbClr val="1C1C1C"/>
                </a:solidFill>
              </a:rPr>
              <a:t>   click=0, conversion=0 </a:t>
            </a:r>
            <a:r>
              <a:rPr sz="1100" dirty="0" err="1">
                <a:solidFill>
                  <a:srgbClr val="1C1C1C"/>
                </a:solidFill>
              </a:rPr>
              <a:t>초기값으로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적재</a:t>
            </a:r>
            <a:endParaRPr sz="1100" dirty="0">
              <a:solidFill>
                <a:srgbClr val="1C1C1C"/>
              </a:solidFill>
            </a:endParaRPr>
          </a:p>
          <a:p>
            <a:pPr>
              <a:spcBef>
                <a:spcPts val="500"/>
              </a:spcBef>
            </a:pPr>
            <a:r>
              <a:rPr sz="1400" b="1" dirty="0">
                <a:solidFill>
                  <a:srgbClr val="1C1C1C"/>
                </a:solidFill>
              </a:rPr>
              <a:t>Stage 2: </a:t>
            </a:r>
            <a:r>
              <a:rPr sz="1400" b="1" dirty="0" err="1">
                <a:solidFill>
                  <a:srgbClr val="1C1C1C"/>
                </a:solidFill>
              </a:rPr>
              <a:t>어제</a:t>
            </a:r>
            <a:r>
              <a:rPr sz="1400" b="1" dirty="0">
                <a:solidFill>
                  <a:srgbClr val="1C1C1C"/>
                </a:solidFill>
              </a:rPr>
              <a:t> </a:t>
            </a:r>
            <a:r>
              <a:rPr sz="1400" b="1" dirty="0" err="1">
                <a:solidFill>
                  <a:srgbClr val="1C1C1C"/>
                </a:solidFill>
              </a:rPr>
              <a:t>Bronze의</a:t>
            </a:r>
            <a:r>
              <a:rPr sz="1400" b="1" dirty="0">
                <a:solidFill>
                  <a:srgbClr val="1C1C1C"/>
                </a:solidFill>
              </a:rPr>
              <a:t> click/conversion → Silver 7일/30일 </a:t>
            </a:r>
            <a:r>
              <a:rPr sz="1400" b="1" dirty="0" err="1">
                <a:solidFill>
                  <a:srgbClr val="1C1C1C"/>
                </a:solidFill>
              </a:rPr>
              <a:t>파티션에서</a:t>
            </a:r>
            <a:endParaRPr sz="1250" b="1" dirty="0">
              <a:solidFill>
                <a:srgbClr val="1C1C1C"/>
              </a:solidFill>
            </a:endParaRPr>
          </a:p>
          <a:p>
            <a:pPr>
              <a:spcBef>
                <a:spcPts val="200"/>
              </a:spcBef>
            </a:pPr>
            <a:r>
              <a:rPr sz="1100" dirty="0">
                <a:solidFill>
                  <a:srgbClr val="1C1C1C"/>
                </a:solidFill>
              </a:rPr>
              <a:t>   </a:t>
            </a:r>
            <a:r>
              <a:rPr sz="1100" dirty="0" err="1">
                <a:solidFill>
                  <a:srgbClr val="1C1C1C"/>
                </a:solidFill>
              </a:rPr>
              <a:t>eid로</a:t>
            </a:r>
            <a:r>
              <a:rPr sz="1100" dirty="0">
                <a:solidFill>
                  <a:srgbClr val="1C1C1C"/>
                </a:solidFill>
              </a:rPr>
              <a:t> impression </a:t>
            </a:r>
            <a:r>
              <a:rPr sz="1100" dirty="0" err="1">
                <a:solidFill>
                  <a:srgbClr val="1C1C1C"/>
                </a:solidFill>
              </a:rPr>
              <a:t>찾아</a:t>
            </a:r>
            <a:r>
              <a:rPr sz="1100" dirty="0">
                <a:solidFill>
                  <a:srgbClr val="1C1C1C"/>
                </a:solidFill>
              </a:rPr>
              <a:t> MERGE UPDATE</a:t>
            </a:r>
          </a:p>
          <a:p>
            <a:pPr>
              <a:spcBef>
                <a:spcPts val="200"/>
              </a:spcBef>
            </a:pPr>
            <a:r>
              <a:rPr sz="1100" dirty="0">
                <a:solidFill>
                  <a:srgbClr val="1C1C1C"/>
                </a:solidFill>
              </a:rPr>
              <a:t>   → </a:t>
            </a:r>
            <a:r>
              <a:rPr sz="1100" dirty="0" err="1">
                <a:solidFill>
                  <a:srgbClr val="1C1C1C"/>
                </a:solidFill>
              </a:rPr>
              <a:t>Silver가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중간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저장소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역할</a:t>
            </a:r>
            <a:r>
              <a:rPr sz="1100" dirty="0">
                <a:solidFill>
                  <a:srgbClr val="1C1C1C"/>
                </a:solidFill>
              </a:rPr>
              <a:t>, 30일치 Bronze </a:t>
            </a:r>
            <a:r>
              <a:rPr sz="1100" dirty="0" err="1">
                <a:solidFill>
                  <a:srgbClr val="1C1C1C"/>
                </a:solidFill>
              </a:rPr>
              <a:t>스캔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불필요</a:t>
            </a:r>
            <a:endParaRPr sz="1100" dirty="0">
              <a:solidFill>
                <a:srgbClr val="1C1C1C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094412" y="1143000"/>
            <a:ext cx="5577840" cy="347472"/>
          </a:xfrm>
          <a:prstGeom prst="rect">
            <a:avLst/>
          </a:prstGeom>
          <a:solidFill>
            <a:srgbClr val="709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85852" y="1143000"/>
            <a:ext cx="4572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FFFFFF"/>
                </a:solidFill>
              </a:rPr>
              <a:t>왜 MOR(Merge-On-Read)</a:t>
            </a:r>
            <a:r>
              <a:rPr sz="1300" b="1" i="0" dirty="0" err="1">
                <a:solidFill>
                  <a:srgbClr val="FFFFFF"/>
                </a:solidFill>
              </a:rPr>
              <a:t>인가</a:t>
            </a:r>
            <a:endParaRPr sz="1300" b="1" i="0" dirty="0">
              <a:solidFill>
                <a:srgbClr val="FFFFFF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231572" y="1553669"/>
            <a:ext cx="5394960" cy="133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 b="1" dirty="0">
                <a:solidFill>
                  <a:srgbClr val="1C1C1C"/>
                </a:solidFill>
              </a:rPr>
              <a:t>UPDATE </a:t>
            </a:r>
            <a:r>
              <a:rPr sz="1400" b="1" dirty="0" err="1">
                <a:solidFill>
                  <a:srgbClr val="1C1C1C"/>
                </a:solidFill>
              </a:rPr>
              <a:t>대상</a:t>
            </a:r>
            <a:r>
              <a:rPr sz="1400" b="1" dirty="0">
                <a:solidFill>
                  <a:srgbClr val="1C1C1C"/>
                </a:solidFill>
              </a:rPr>
              <a:t>(click/conversion </a:t>
            </a:r>
            <a:r>
              <a:rPr sz="1400" b="1" dirty="0" err="1">
                <a:solidFill>
                  <a:srgbClr val="1C1C1C"/>
                </a:solidFill>
              </a:rPr>
              <a:t>매칭</a:t>
            </a:r>
            <a:r>
              <a:rPr sz="1400" b="1" dirty="0">
                <a:solidFill>
                  <a:srgbClr val="1C1C1C"/>
                </a:solidFill>
              </a:rPr>
              <a:t> impression): </a:t>
            </a:r>
            <a:r>
              <a:rPr sz="1400" b="1" dirty="0" err="1">
                <a:solidFill>
                  <a:srgbClr val="1C1C1C"/>
                </a:solidFill>
              </a:rPr>
              <a:t>전체의</a:t>
            </a:r>
            <a:r>
              <a:rPr sz="1400" b="1" dirty="0">
                <a:solidFill>
                  <a:srgbClr val="1C1C1C"/>
                </a:solidFill>
              </a:rPr>
              <a:t> ~2%</a:t>
            </a:r>
          </a:p>
          <a:p>
            <a:pPr>
              <a:spcBef>
                <a:spcPts val="500"/>
              </a:spcBef>
            </a:pPr>
            <a:r>
              <a:rPr sz="1250" dirty="0">
                <a:solidFill>
                  <a:srgbClr val="1C1C1C"/>
                </a:solidFill>
              </a:rPr>
              <a:t>COW: 2% </a:t>
            </a:r>
            <a:r>
              <a:rPr sz="1250" dirty="0" err="1">
                <a:solidFill>
                  <a:srgbClr val="1C1C1C"/>
                </a:solidFill>
              </a:rPr>
              <a:t>행이</a:t>
            </a:r>
            <a:r>
              <a:rPr sz="1250" dirty="0">
                <a:solidFill>
                  <a:srgbClr val="1C1C1C"/>
                </a:solidFill>
              </a:rPr>
              <a:t> </a:t>
            </a:r>
            <a:r>
              <a:rPr sz="1250" dirty="0" err="1">
                <a:solidFill>
                  <a:srgbClr val="1C1C1C"/>
                </a:solidFill>
              </a:rPr>
              <a:t>바뀌어도</a:t>
            </a:r>
            <a:r>
              <a:rPr sz="1250" dirty="0">
                <a:solidFill>
                  <a:srgbClr val="1C1C1C"/>
                </a:solidFill>
              </a:rPr>
              <a:t> 그 </a:t>
            </a:r>
            <a:r>
              <a:rPr sz="1250" dirty="0" err="1">
                <a:solidFill>
                  <a:srgbClr val="1C1C1C"/>
                </a:solidFill>
              </a:rPr>
              <a:t>파티션</a:t>
            </a:r>
            <a:r>
              <a:rPr sz="1250" dirty="0">
                <a:solidFill>
                  <a:srgbClr val="1C1C1C"/>
                </a:solidFill>
              </a:rPr>
              <a:t> </a:t>
            </a:r>
            <a:r>
              <a:rPr sz="1250" dirty="0" err="1">
                <a:solidFill>
                  <a:srgbClr val="1C1C1C"/>
                </a:solidFill>
              </a:rPr>
              <a:t>파일</a:t>
            </a:r>
            <a:r>
              <a:rPr sz="1250" dirty="0">
                <a:solidFill>
                  <a:srgbClr val="1C1C1C"/>
                </a:solidFill>
              </a:rPr>
              <a:t> </a:t>
            </a:r>
            <a:r>
              <a:rPr sz="1250" dirty="0" err="1">
                <a:solidFill>
                  <a:srgbClr val="1C1C1C"/>
                </a:solidFill>
              </a:rPr>
              <a:t>전체</a:t>
            </a:r>
            <a:r>
              <a:rPr sz="1250" dirty="0">
                <a:solidFill>
                  <a:srgbClr val="1C1C1C"/>
                </a:solidFill>
              </a:rPr>
              <a:t> </a:t>
            </a:r>
            <a:r>
              <a:rPr sz="1250" dirty="0" err="1">
                <a:solidFill>
                  <a:srgbClr val="1C1C1C"/>
                </a:solidFill>
              </a:rPr>
              <a:t>재작성</a:t>
            </a:r>
            <a:r>
              <a:rPr sz="1250" dirty="0">
                <a:solidFill>
                  <a:srgbClr val="1C1C1C"/>
                </a:solidFill>
              </a:rPr>
              <a:t> </a:t>
            </a:r>
            <a:endParaRPr lang="en-US" sz="1250" dirty="0">
              <a:solidFill>
                <a:srgbClr val="1C1C1C"/>
              </a:solidFill>
            </a:endParaRPr>
          </a:p>
          <a:p>
            <a:pPr>
              <a:spcBef>
                <a:spcPts val="500"/>
              </a:spcBef>
            </a:pPr>
            <a:r>
              <a:rPr sz="1250" dirty="0">
                <a:solidFill>
                  <a:srgbClr val="1C1C1C"/>
                </a:solidFill>
              </a:rPr>
              <a:t>MOR: delta </a:t>
            </a:r>
            <a:r>
              <a:rPr sz="1250" dirty="0" err="1">
                <a:solidFill>
                  <a:srgbClr val="1C1C1C"/>
                </a:solidFill>
              </a:rPr>
              <a:t>file만</a:t>
            </a:r>
            <a:r>
              <a:rPr sz="1250" dirty="0">
                <a:solidFill>
                  <a:srgbClr val="1C1C1C"/>
                </a:solidFill>
              </a:rPr>
              <a:t> append → </a:t>
            </a:r>
            <a:r>
              <a:rPr sz="1250" dirty="0" err="1">
                <a:solidFill>
                  <a:srgbClr val="1C1C1C"/>
                </a:solidFill>
              </a:rPr>
              <a:t>쓰기</a:t>
            </a:r>
            <a:r>
              <a:rPr sz="1250" dirty="0">
                <a:solidFill>
                  <a:srgbClr val="1C1C1C"/>
                </a:solidFill>
              </a:rPr>
              <a:t> </a:t>
            </a:r>
            <a:r>
              <a:rPr sz="1250" dirty="0" err="1">
                <a:solidFill>
                  <a:srgbClr val="1C1C1C"/>
                </a:solidFill>
              </a:rPr>
              <a:t>비용</a:t>
            </a:r>
            <a:r>
              <a:rPr sz="1250" dirty="0">
                <a:solidFill>
                  <a:srgbClr val="1C1C1C"/>
                </a:solidFill>
              </a:rPr>
              <a:t> </a:t>
            </a:r>
            <a:r>
              <a:rPr sz="1250" dirty="0" err="1">
                <a:solidFill>
                  <a:srgbClr val="1C1C1C"/>
                </a:solidFill>
              </a:rPr>
              <a:t>절감</a:t>
            </a:r>
            <a:endParaRPr lang="en-US" sz="1250" dirty="0">
              <a:solidFill>
                <a:srgbClr val="1C1C1C"/>
              </a:solidFill>
            </a:endParaRPr>
          </a:p>
          <a:p>
            <a:pPr>
              <a:spcBef>
                <a:spcPts val="500"/>
              </a:spcBef>
            </a:pPr>
            <a:endParaRPr sz="1250" dirty="0">
              <a:solidFill>
                <a:srgbClr val="1C1C1C"/>
              </a:solidFill>
            </a:endParaRPr>
          </a:p>
          <a:p>
            <a:pPr>
              <a:spcBef>
                <a:spcPts val="500"/>
              </a:spcBef>
            </a:pPr>
            <a:r>
              <a:rPr sz="1250" b="1" dirty="0" err="1">
                <a:solidFill>
                  <a:srgbClr val="1C1C1C"/>
                </a:solidFill>
              </a:rPr>
              <a:t>읽기</a:t>
            </a:r>
            <a:r>
              <a:rPr sz="1250" b="1" dirty="0">
                <a:solidFill>
                  <a:srgbClr val="1C1C1C"/>
                </a:solidFill>
              </a:rPr>
              <a:t> 시 delta </a:t>
            </a:r>
            <a:r>
              <a:rPr sz="1250" b="1" dirty="0" err="1">
                <a:solidFill>
                  <a:srgbClr val="1C1C1C"/>
                </a:solidFill>
              </a:rPr>
              <a:t>병합</a:t>
            </a:r>
            <a:r>
              <a:rPr sz="1250" b="1" dirty="0">
                <a:solidFill>
                  <a:srgbClr val="1C1C1C"/>
                </a:solidFill>
              </a:rPr>
              <a:t> </a:t>
            </a:r>
            <a:r>
              <a:rPr sz="1250" b="1" dirty="0" err="1">
                <a:solidFill>
                  <a:srgbClr val="1C1C1C"/>
                </a:solidFill>
              </a:rPr>
              <a:t>오버헤드</a:t>
            </a:r>
            <a:r>
              <a:rPr sz="1250" b="1" dirty="0">
                <a:solidFill>
                  <a:srgbClr val="1C1C1C"/>
                </a:solidFill>
              </a:rPr>
              <a:t> → </a:t>
            </a:r>
            <a:r>
              <a:rPr sz="1250" b="1" dirty="0" err="1">
                <a:solidFill>
                  <a:srgbClr val="1C1C1C"/>
                </a:solidFill>
              </a:rPr>
              <a:t>유지보수</a:t>
            </a:r>
            <a:r>
              <a:rPr sz="1250" b="1" dirty="0">
                <a:solidFill>
                  <a:srgbClr val="1C1C1C"/>
                </a:solidFill>
              </a:rPr>
              <a:t> </a:t>
            </a:r>
            <a:r>
              <a:rPr sz="1250" b="1" dirty="0" err="1">
                <a:solidFill>
                  <a:srgbClr val="1C1C1C"/>
                </a:solidFill>
              </a:rPr>
              <a:t>DAG의</a:t>
            </a:r>
            <a:r>
              <a:rPr sz="1250" b="1" dirty="0">
                <a:solidFill>
                  <a:srgbClr val="1C1C1C"/>
                </a:solidFill>
              </a:rPr>
              <a:t> daily </a:t>
            </a:r>
            <a:r>
              <a:rPr sz="1250" b="1" dirty="0" err="1">
                <a:solidFill>
                  <a:srgbClr val="1C1C1C"/>
                </a:solidFill>
              </a:rPr>
              <a:t>compaction이</a:t>
            </a:r>
            <a:r>
              <a:rPr sz="1250" b="1" dirty="0">
                <a:solidFill>
                  <a:srgbClr val="1C1C1C"/>
                </a:solidFill>
              </a:rPr>
              <a:t> </a:t>
            </a:r>
            <a:r>
              <a:rPr sz="1250" b="1" dirty="0" err="1">
                <a:solidFill>
                  <a:srgbClr val="1C1C1C"/>
                </a:solidFill>
              </a:rPr>
              <a:t>해결</a:t>
            </a:r>
            <a:endParaRPr sz="1250" b="1" dirty="0">
              <a:solidFill>
                <a:srgbClr val="1C1C1C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300216" y="5860011"/>
            <a:ext cx="5394960" cy="548640"/>
          </a:xfrm>
          <a:prstGeom prst="rect">
            <a:avLst/>
          </a:prstGeom>
          <a:solidFill>
            <a:srgbClr val="FFF3E0"/>
          </a:solidFill>
          <a:ln w="12700">
            <a:solidFill>
              <a:srgbClr val="D46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91656" y="5905731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D46A0A"/>
                </a:solidFill>
              </a:rPr>
              <a:t>⚠️  </a:t>
            </a:r>
            <a:r>
              <a:rPr sz="1200" dirty="0" err="1">
                <a:solidFill>
                  <a:srgbClr val="D46A0A"/>
                </a:solidFill>
              </a:rPr>
              <a:t>백필</a:t>
            </a:r>
            <a:r>
              <a:rPr sz="1200" dirty="0">
                <a:solidFill>
                  <a:srgbClr val="D46A0A"/>
                </a:solidFill>
              </a:rPr>
              <a:t> 시 </a:t>
            </a:r>
            <a:r>
              <a:rPr sz="1200" dirty="0" err="1">
                <a:solidFill>
                  <a:srgbClr val="D46A0A"/>
                </a:solidFill>
              </a:rPr>
              <a:t>Silver도</a:t>
            </a:r>
            <a:r>
              <a:rPr sz="1200" dirty="0">
                <a:solidFill>
                  <a:srgbClr val="D46A0A"/>
                </a:solidFill>
              </a:rPr>
              <a:t> </a:t>
            </a:r>
            <a:r>
              <a:rPr sz="1200" dirty="0" err="1">
                <a:solidFill>
                  <a:srgbClr val="D46A0A"/>
                </a:solidFill>
              </a:rPr>
              <a:t>명시</a:t>
            </a:r>
            <a:r>
              <a:rPr sz="1200" dirty="0">
                <a:solidFill>
                  <a:srgbClr val="D46A0A"/>
                </a:solidFill>
              </a:rPr>
              <a:t> </a:t>
            </a:r>
            <a:r>
              <a:rPr sz="1200" dirty="0" err="1">
                <a:solidFill>
                  <a:srgbClr val="D46A0A"/>
                </a:solidFill>
              </a:rPr>
              <a:t>재처리</a:t>
            </a:r>
            <a:r>
              <a:rPr sz="1200" dirty="0">
                <a:solidFill>
                  <a:srgbClr val="D46A0A"/>
                </a:solidFill>
              </a:rPr>
              <a:t> </a:t>
            </a:r>
            <a:r>
              <a:rPr sz="1200" dirty="0" err="1">
                <a:solidFill>
                  <a:srgbClr val="D46A0A"/>
                </a:solidFill>
              </a:rPr>
              <a:t>모드</a:t>
            </a:r>
            <a:r>
              <a:rPr sz="1200" dirty="0">
                <a:solidFill>
                  <a:srgbClr val="D46A0A"/>
                </a:solidFill>
              </a:rPr>
              <a:t>(--run-date-start </a:t>
            </a:r>
            <a:r>
              <a:rPr sz="1200" dirty="0" err="1">
                <a:solidFill>
                  <a:srgbClr val="D46A0A"/>
                </a:solidFill>
              </a:rPr>
              <a:t>지정</a:t>
            </a:r>
            <a:r>
              <a:rPr sz="1200" dirty="0">
                <a:solidFill>
                  <a:srgbClr val="D46A0A"/>
                </a:solidFill>
              </a:rPr>
              <a:t>) </a:t>
            </a:r>
            <a:r>
              <a:rPr sz="1200" dirty="0" err="1">
                <a:solidFill>
                  <a:srgbClr val="D46A0A"/>
                </a:solidFill>
              </a:rPr>
              <a:t>사용</a:t>
            </a:r>
            <a:r>
              <a:rPr sz="1200" dirty="0">
                <a:solidFill>
                  <a:srgbClr val="D46A0A"/>
                </a:solidFill>
              </a:rPr>
              <a:t> </a:t>
            </a:r>
            <a:r>
              <a:rPr sz="1200" dirty="0" err="1">
                <a:solidFill>
                  <a:srgbClr val="D46A0A"/>
                </a:solidFill>
              </a:rPr>
              <a:t>필요</a:t>
            </a:r>
            <a:endParaRPr sz="1200" dirty="0">
              <a:solidFill>
                <a:srgbClr val="D46A0A"/>
              </a:solidFill>
            </a:endParaRPr>
          </a:p>
          <a:p>
            <a:r>
              <a:rPr sz="1200" dirty="0">
                <a:solidFill>
                  <a:srgbClr val="D46A0A"/>
                </a:solidFill>
              </a:rPr>
              <a:t>   </a:t>
            </a:r>
            <a:r>
              <a:rPr sz="1200" dirty="0" err="1">
                <a:solidFill>
                  <a:srgbClr val="D46A0A"/>
                </a:solidFill>
              </a:rPr>
              <a:t>일배치</a:t>
            </a:r>
            <a:r>
              <a:rPr sz="1200" dirty="0">
                <a:solidFill>
                  <a:srgbClr val="D46A0A"/>
                </a:solidFill>
              </a:rPr>
              <a:t> </a:t>
            </a:r>
            <a:r>
              <a:rPr sz="1200" dirty="0" err="1">
                <a:solidFill>
                  <a:srgbClr val="D46A0A"/>
                </a:solidFill>
              </a:rPr>
              <a:t>기본</a:t>
            </a:r>
            <a:r>
              <a:rPr sz="1200" dirty="0">
                <a:solidFill>
                  <a:srgbClr val="D46A0A"/>
                </a:solidFill>
              </a:rPr>
              <a:t> </a:t>
            </a:r>
            <a:r>
              <a:rPr sz="1200" dirty="0" err="1">
                <a:solidFill>
                  <a:srgbClr val="D46A0A"/>
                </a:solidFill>
              </a:rPr>
              <a:t>모드</a:t>
            </a:r>
            <a:r>
              <a:rPr sz="1200" dirty="0">
                <a:solidFill>
                  <a:srgbClr val="D46A0A"/>
                </a:solidFill>
              </a:rPr>
              <a:t>(snapshot diff)는 </a:t>
            </a:r>
            <a:r>
              <a:rPr sz="1200" dirty="0" err="1">
                <a:solidFill>
                  <a:srgbClr val="D46A0A"/>
                </a:solidFill>
              </a:rPr>
              <a:t>같은</a:t>
            </a:r>
            <a:r>
              <a:rPr sz="1200" dirty="0">
                <a:solidFill>
                  <a:srgbClr val="D46A0A"/>
                </a:solidFill>
              </a:rPr>
              <a:t> 날 </a:t>
            </a:r>
            <a:r>
              <a:rPr sz="1200" dirty="0" err="1">
                <a:solidFill>
                  <a:srgbClr val="D46A0A"/>
                </a:solidFill>
              </a:rPr>
              <a:t>여러</a:t>
            </a:r>
            <a:r>
              <a:rPr sz="1200" dirty="0">
                <a:solidFill>
                  <a:srgbClr val="D46A0A"/>
                </a:solidFill>
              </a:rPr>
              <a:t> 번 </a:t>
            </a:r>
            <a:r>
              <a:rPr sz="1200" dirty="0" err="1">
                <a:solidFill>
                  <a:srgbClr val="D46A0A"/>
                </a:solidFill>
              </a:rPr>
              <a:t>실행</a:t>
            </a:r>
            <a:r>
              <a:rPr sz="1200" dirty="0">
                <a:solidFill>
                  <a:srgbClr val="D46A0A"/>
                </a:solidFill>
              </a:rPr>
              <a:t> 시 </a:t>
            </a:r>
            <a:r>
              <a:rPr sz="1200" dirty="0" err="1">
                <a:solidFill>
                  <a:srgbClr val="D46A0A"/>
                </a:solidFill>
              </a:rPr>
              <a:t>변경</a:t>
            </a:r>
            <a:r>
              <a:rPr sz="1200" dirty="0">
                <a:solidFill>
                  <a:srgbClr val="D46A0A"/>
                </a:solidFill>
              </a:rPr>
              <a:t> </a:t>
            </a:r>
            <a:r>
              <a:rPr sz="1200" dirty="0" err="1">
                <a:solidFill>
                  <a:srgbClr val="D46A0A"/>
                </a:solidFill>
              </a:rPr>
              <a:t>감지가</a:t>
            </a:r>
            <a:r>
              <a:rPr sz="1200" dirty="0">
                <a:solidFill>
                  <a:srgbClr val="D46A0A"/>
                </a:solidFill>
              </a:rPr>
              <a:t> </a:t>
            </a:r>
            <a:r>
              <a:rPr sz="1200" dirty="0" err="1">
                <a:solidFill>
                  <a:srgbClr val="D46A0A"/>
                </a:solidFill>
              </a:rPr>
              <a:t>깨짐</a:t>
            </a:r>
            <a:endParaRPr sz="1200" dirty="0">
              <a:solidFill>
                <a:srgbClr val="D46A0A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Gold — Snapshot Diff + KPI 집계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CCDD"/>
                </a:solidFill>
              </a:rPr>
              <a:t>Silver 변경분만 재집계  →  Iceberg MERGE INTO (COW)  →  일배치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5577840" cy="347472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Snapshot Diff — Silver 변경 파티션만 재집계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36192"/>
            <a:ext cx="5394960" cy="20056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 b="1" dirty="0" err="1">
                <a:solidFill>
                  <a:srgbClr val="1C1C1C"/>
                </a:solidFill>
              </a:rPr>
              <a:t>아이디어</a:t>
            </a:r>
            <a:r>
              <a:rPr sz="1400" b="1" dirty="0">
                <a:solidFill>
                  <a:srgbClr val="1C1C1C"/>
                </a:solidFill>
              </a:rPr>
              <a:t>: </a:t>
            </a:r>
            <a:r>
              <a:rPr sz="1400" b="1" dirty="0" err="1">
                <a:solidFill>
                  <a:srgbClr val="1C1C1C"/>
                </a:solidFill>
              </a:rPr>
              <a:t>일배치</a:t>
            </a:r>
            <a:r>
              <a:rPr sz="1400" b="1" dirty="0">
                <a:solidFill>
                  <a:srgbClr val="1C1C1C"/>
                </a:solidFill>
              </a:rPr>
              <a:t> → </a:t>
            </a:r>
            <a:r>
              <a:rPr sz="1400" b="1" dirty="0" err="1">
                <a:solidFill>
                  <a:srgbClr val="1C1C1C"/>
                </a:solidFill>
              </a:rPr>
              <a:t>오늘</a:t>
            </a:r>
            <a:r>
              <a:rPr sz="1400" b="1" dirty="0">
                <a:solidFill>
                  <a:srgbClr val="1C1C1C"/>
                </a:solidFill>
              </a:rPr>
              <a:t> </a:t>
            </a:r>
            <a:r>
              <a:rPr sz="1400" b="1" dirty="0" err="1">
                <a:solidFill>
                  <a:srgbClr val="1C1C1C"/>
                </a:solidFill>
              </a:rPr>
              <a:t>Silver에서</a:t>
            </a:r>
            <a:r>
              <a:rPr sz="1400" b="1" dirty="0">
                <a:solidFill>
                  <a:srgbClr val="1C1C1C"/>
                </a:solidFill>
              </a:rPr>
              <a:t> </a:t>
            </a:r>
            <a:r>
              <a:rPr sz="1400" b="1" dirty="0" err="1">
                <a:solidFill>
                  <a:srgbClr val="1C1C1C"/>
                </a:solidFill>
              </a:rPr>
              <a:t>바뀐</a:t>
            </a:r>
            <a:r>
              <a:rPr sz="1400" b="1" dirty="0">
                <a:solidFill>
                  <a:srgbClr val="1C1C1C"/>
                </a:solidFill>
              </a:rPr>
              <a:t> </a:t>
            </a:r>
            <a:r>
              <a:rPr sz="1400" b="1" dirty="0" err="1">
                <a:solidFill>
                  <a:srgbClr val="1C1C1C"/>
                </a:solidFill>
              </a:rPr>
              <a:t>것만</a:t>
            </a:r>
            <a:r>
              <a:rPr sz="1400" b="1" dirty="0">
                <a:solidFill>
                  <a:srgbClr val="1C1C1C"/>
                </a:solidFill>
              </a:rPr>
              <a:t> </a:t>
            </a:r>
            <a:r>
              <a:rPr sz="1400" b="1" dirty="0" err="1">
                <a:solidFill>
                  <a:srgbClr val="1C1C1C"/>
                </a:solidFill>
              </a:rPr>
              <a:t>재집계하면</a:t>
            </a:r>
            <a:r>
              <a:rPr sz="1400" b="1" dirty="0">
                <a:solidFill>
                  <a:srgbClr val="1C1C1C"/>
                </a:solidFill>
              </a:rPr>
              <a:t> </a:t>
            </a:r>
            <a:r>
              <a:rPr sz="1400" b="1" dirty="0" err="1">
                <a:solidFill>
                  <a:srgbClr val="1C1C1C"/>
                </a:solidFill>
              </a:rPr>
              <a:t>충분</a:t>
            </a:r>
            <a:endParaRPr sz="1400" b="1" dirty="0">
              <a:solidFill>
                <a:srgbClr val="1C1C1C"/>
              </a:solidFill>
            </a:endParaRPr>
          </a:p>
          <a:p>
            <a:pPr>
              <a:spcBef>
                <a:spcPts val="200"/>
              </a:spcBef>
            </a:pPr>
            <a:r>
              <a:rPr sz="1100" dirty="0">
                <a:solidFill>
                  <a:srgbClr val="1C1C1C"/>
                </a:solidFill>
              </a:rPr>
              <a:t>   Silver </a:t>
            </a:r>
            <a:r>
              <a:rPr sz="1100" dirty="0" err="1">
                <a:solidFill>
                  <a:srgbClr val="1C1C1C"/>
                </a:solidFill>
              </a:rPr>
              <a:t>전체를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매번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재스캔하는</a:t>
            </a:r>
            <a:r>
              <a:rPr sz="1100" dirty="0">
                <a:solidFill>
                  <a:srgbClr val="1C1C1C"/>
                </a:solidFill>
              </a:rPr>
              <a:t> 건 </a:t>
            </a:r>
            <a:r>
              <a:rPr sz="1100" dirty="0" err="1">
                <a:solidFill>
                  <a:srgbClr val="1C1C1C"/>
                </a:solidFill>
              </a:rPr>
              <a:t>낭비</a:t>
            </a:r>
            <a:endParaRPr sz="1100" dirty="0">
              <a:solidFill>
                <a:srgbClr val="1C1C1C"/>
              </a:solidFill>
            </a:endParaRPr>
          </a:p>
          <a:p>
            <a:pPr>
              <a:spcBef>
                <a:spcPts val="200"/>
              </a:spcBef>
            </a:pPr>
            <a:r>
              <a:rPr sz="1100" dirty="0">
                <a:solidFill>
                  <a:srgbClr val="1C1C1C"/>
                </a:solidFill>
              </a:rPr>
              <a:t>   (attribution window 30일치만 </a:t>
            </a:r>
            <a:r>
              <a:rPr sz="1100" dirty="0" err="1">
                <a:solidFill>
                  <a:srgbClr val="1C1C1C"/>
                </a:solidFill>
              </a:rPr>
              <a:t>봐도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되지만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그것도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매일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전부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재집계하면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비효율</a:t>
            </a:r>
            <a:r>
              <a:rPr sz="1100" dirty="0">
                <a:solidFill>
                  <a:srgbClr val="1C1C1C"/>
                </a:solidFill>
              </a:rPr>
              <a:t>)</a:t>
            </a:r>
          </a:p>
          <a:p>
            <a:pPr>
              <a:spcBef>
                <a:spcPts val="500"/>
              </a:spcBef>
            </a:pPr>
            <a:endParaRPr sz="1200" dirty="0">
              <a:solidFill>
                <a:srgbClr val="1C1C1C"/>
              </a:solidFill>
            </a:endParaRPr>
          </a:p>
          <a:p>
            <a:pPr>
              <a:spcBef>
                <a:spcPts val="500"/>
              </a:spcBef>
            </a:pPr>
            <a:r>
              <a:rPr sz="1400" b="1" dirty="0" err="1">
                <a:solidFill>
                  <a:srgbClr val="1C1C1C"/>
                </a:solidFill>
              </a:rPr>
              <a:t>구현</a:t>
            </a:r>
            <a:r>
              <a:rPr sz="1400" b="1" dirty="0">
                <a:solidFill>
                  <a:srgbClr val="1C1C1C"/>
                </a:solidFill>
              </a:rPr>
              <a:t>: Silver Iceberg </a:t>
            </a:r>
            <a:r>
              <a:rPr sz="1400" b="1" dirty="0" err="1">
                <a:solidFill>
                  <a:srgbClr val="1C1C1C"/>
                </a:solidFill>
              </a:rPr>
              <a:t>스냅샷으로</a:t>
            </a:r>
            <a:r>
              <a:rPr sz="1400" b="1" dirty="0">
                <a:solidFill>
                  <a:srgbClr val="1C1C1C"/>
                </a:solidFill>
              </a:rPr>
              <a:t> </a:t>
            </a:r>
            <a:r>
              <a:rPr sz="1400" b="1" dirty="0" err="1">
                <a:solidFill>
                  <a:srgbClr val="1C1C1C"/>
                </a:solidFill>
              </a:rPr>
              <a:t>변경</a:t>
            </a:r>
            <a:r>
              <a:rPr sz="1400" b="1" dirty="0">
                <a:solidFill>
                  <a:srgbClr val="1C1C1C"/>
                </a:solidFill>
              </a:rPr>
              <a:t> </a:t>
            </a:r>
            <a:r>
              <a:rPr sz="1400" b="1" dirty="0" err="1">
                <a:solidFill>
                  <a:srgbClr val="1C1C1C"/>
                </a:solidFill>
              </a:rPr>
              <a:t>파티션</a:t>
            </a:r>
            <a:r>
              <a:rPr sz="1400" b="1" dirty="0">
                <a:solidFill>
                  <a:srgbClr val="1C1C1C"/>
                </a:solidFill>
              </a:rPr>
              <a:t> </a:t>
            </a:r>
            <a:r>
              <a:rPr sz="1400" b="1" dirty="0" err="1">
                <a:solidFill>
                  <a:srgbClr val="1C1C1C"/>
                </a:solidFill>
              </a:rPr>
              <a:t>감지</a:t>
            </a:r>
            <a:endParaRPr sz="1400" b="1" dirty="0">
              <a:solidFill>
                <a:srgbClr val="1C1C1C"/>
              </a:solidFill>
            </a:endParaRPr>
          </a:p>
          <a:p>
            <a:pPr>
              <a:spcBef>
                <a:spcPts val="200"/>
              </a:spcBef>
            </a:pPr>
            <a:r>
              <a:rPr sz="1100" dirty="0">
                <a:solidFill>
                  <a:srgbClr val="1C1C1C"/>
                </a:solidFill>
              </a:rPr>
              <a:t>   ① </a:t>
            </a:r>
            <a:r>
              <a:rPr sz="1100" dirty="0" err="1">
                <a:solidFill>
                  <a:srgbClr val="1C1C1C"/>
                </a:solidFill>
              </a:rPr>
              <a:t>오늘</a:t>
            </a:r>
            <a:r>
              <a:rPr sz="1100" dirty="0">
                <a:solidFill>
                  <a:srgbClr val="1C1C1C"/>
                </a:solidFill>
              </a:rPr>
              <a:t> Silver 첫 </a:t>
            </a:r>
            <a:r>
              <a:rPr sz="1100" dirty="0" err="1">
                <a:solidFill>
                  <a:srgbClr val="1C1C1C"/>
                </a:solidFill>
              </a:rPr>
              <a:t>번째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커밋의</a:t>
            </a:r>
            <a:r>
              <a:rPr sz="1100" dirty="0">
                <a:solidFill>
                  <a:srgbClr val="1C1C1C"/>
                </a:solidFill>
              </a:rPr>
              <a:t> parent = </a:t>
            </a:r>
            <a:r>
              <a:rPr sz="1100" dirty="0" err="1">
                <a:solidFill>
                  <a:srgbClr val="1C1C1C"/>
                </a:solidFill>
              </a:rPr>
              <a:t>배치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이전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상태</a:t>
            </a:r>
            <a:endParaRPr sz="1100" dirty="0">
              <a:solidFill>
                <a:srgbClr val="1C1C1C"/>
              </a:solidFill>
            </a:endParaRPr>
          </a:p>
          <a:p>
            <a:pPr>
              <a:spcBef>
                <a:spcPts val="200"/>
              </a:spcBef>
            </a:pPr>
            <a:r>
              <a:rPr sz="1100" dirty="0">
                <a:solidFill>
                  <a:srgbClr val="1C1C1C"/>
                </a:solidFill>
              </a:rPr>
              <a:t>   ② </a:t>
            </a:r>
            <a:r>
              <a:rPr sz="1100" dirty="0" err="1">
                <a:solidFill>
                  <a:srgbClr val="1C1C1C"/>
                </a:solidFill>
              </a:rPr>
              <a:t>현재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스냅샷</a:t>
            </a:r>
            <a:r>
              <a:rPr sz="1100" dirty="0">
                <a:solidFill>
                  <a:srgbClr val="1C1C1C"/>
                </a:solidFill>
              </a:rPr>
              <a:t> vs parent </a:t>
            </a:r>
            <a:r>
              <a:rPr sz="1100" dirty="0" err="1">
                <a:solidFill>
                  <a:srgbClr val="1C1C1C"/>
                </a:solidFill>
              </a:rPr>
              <a:t>스냅샷을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event_date별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행수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비교</a:t>
            </a:r>
            <a:endParaRPr sz="1100" dirty="0">
              <a:solidFill>
                <a:srgbClr val="1C1C1C"/>
              </a:solidFill>
            </a:endParaRPr>
          </a:p>
          <a:p>
            <a:pPr>
              <a:spcBef>
                <a:spcPts val="200"/>
              </a:spcBef>
            </a:pPr>
            <a:r>
              <a:rPr sz="1100" dirty="0">
                <a:solidFill>
                  <a:srgbClr val="1C1C1C"/>
                </a:solidFill>
              </a:rPr>
              <a:t>   ③ </a:t>
            </a:r>
            <a:r>
              <a:rPr sz="1100" dirty="0" err="1">
                <a:solidFill>
                  <a:srgbClr val="1C1C1C"/>
                </a:solidFill>
              </a:rPr>
              <a:t>달라진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event_date</a:t>
            </a:r>
            <a:r>
              <a:rPr sz="1100" dirty="0">
                <a:solidFill>
                  <a:srgbClr val="1C1C1C"/>
                </a:solidFill>
              </a:rPr>
              <a:t> = </a:t>
            </a:r>
            <a:r>
              <a:rPr sz="1100" dirty="0" err="1">
                <a:solidFill>
                  <a:srgbClr val="1C1C1C"/>
                </a:solidFill>
              </a:rPr>
              <a:t>오늘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변경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파티션</a:t>
            </a:r>
            <a:r>
              <a:rPr sz="1100" dirty="0">
                <a:solidFill>
                  <a:srgbClr val="1C1C1C"/>
                </a:solidFill>
              </a:rPr>
              <a:t> → Gold </a:t>
            </a:r>
            <a:r>
              <a:rPr sz="1100" dirty="0" err="1">
                <a:solidFill>
                  <a:srgbClr val="1C1C1C"/>
                </a:solidFill>
              </a:rPr>
              <a:t>재집계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대상</a:t>
            </a:r>
            <a:endParaRPr sz="1100" dirty="0">
              <a:solidFill>
                <a:srgbClr val="1C1C1C"/>
              </a:solidFill>
            </a:endParaRPr>
          </a:p>
          <a:p>
            <a:pPr>
              <a:spcBef>
                <a:spcPts val="200"/>
              </a:spcBef>
            </a:pPr>
            <a:r>
              <a:rPr sz="1100" dirty="0">
                <a:solidFill>
                  <a:srgbClr val="1C1C1C"/>
                </a:solidFill>
              </a:rPr>
              <a:t>      (</a:t>
            </a:r>
            <a:r>
              <a:rPr sz="1100" dirty="0" err="1">
                <a:solidFill>
                  <a:srgbClr val="1C1C1C"/>
                </a:solidFill>
              </a:rPr>
              <a:t>당일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신규</a:t>
            </a:r>
            <a:r>
              <a:rPr sz="1100" dirty="0">
                <a:solidFill>
                  <a:srgbClr val="1C1C1C"/>
                </a:solidFill>
              </a:rPr>
              <a:t> + </a:t>
            </a:r>
            <a:r>
              <a:rPr sz="1100" dirty="0" err="1">
                <a:solidFill>
                  <a:srgbClr val="1C1C1C"/>
                </a:solidFill>
              </a:rPr>
              <a:t>지연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attribution으로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변경된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과거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파티션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자동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포함</a:t>
            </a:r>
            <a:r>
              <a:rPr sz="1100" dirty="0">
                <a:solidFill>
                  <a:srgbClr val="1C1C1C"/>
                </a:solidFill>
              </a:rPr>
              <a:t>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5440680"/>
            <a:ext cx="5577840" cy="347472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544068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왜 COW(Copy-On-Write)인가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5806440"/>
            <a:ext cx="5577840" cy="564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50" dirty="0" err="1">
                <a:solidFill>
                  <a:srgbClr val="1C1C1C"/>
                </a:solidFill>
              </a:rPr>
              <a:t>Gold는</a:t>
            </a:r>
            <a:r>
              <a:rPr sz="1250" dirty="0">
                <a:solidFill>
                  <a:srgbClr val="1C1C1C"/>
                </a:solidFill>
              </a:rPr>
              <a:t> Superset/</a:t>
            </a:r>
            <a:r>
              <a:rPr sz="1250" dirty="0" err="1">
                <a:solidFill>
                  <a:srgbClr val="1C1C1C"/>
                </a:solidFill>
              </a:rPr>
              <a:t>Athena에서</a:t>
            </a:r>
            <a:r>
              <a:rPr sz="1250" dirty="0">
                <a:solidFill>
                  <a:srgbClr val="1C1C1C"/>
                </a:solidFill>
              </a:rPr>
              <a:t> </a:t>
            </a:r>
            <a:r>
              <a:rPr sz="1250" dirty="0" err="1">
                <a:solidFill>
                  <a:srgbClr val="1C1C1C"/>
                </a:solidFill>
              </a:rPr>
              <a:t>가장</a:t>
            </a:r>
            <a:r>
              <a:rPr sz="1250" dirty="0">
                <a:solidFill>
                  <a:srgbClr val="1C1C1C"/>
                </a:solidFill>
              </a:rPr>
              <a:t> </a:t>
            </a:r>
            <a:r>
              <a:rPr sz="1250" dirty="0" err="1">
                <a:solidFill>
                  <a:srgbClr val="1C1C1C"/>
                </a:solidFill>
              </a:rPr>
              <a:t>많이</a:t>
            </a:r>
            <a:r>
              <a:rPr sz="1250" dirty="0">
                <a:solidFill>
                  <a:srgbClr val="1C1C1C"/>
                </a:solidFill>
              </a:rPr>
              <a:t> </a:t>
            </a:r>
            <a:r>
              <a:rPr sz="1250" dirty="0" err="1">
                <a:solidFill>
                  <a:srgbClr val="1C1C1C"/>
                </a:solidFill>
              </a:rPr>
              <a:t>읽히는</a:t>
            </a:r>
            <a:r>
              <a:rPr sz="1250" dirty="0">
                <a:solidFill>
                  <a:srgbClr val="1C1C1C"/>
                </a:solidFill>
              </a:rPr>
              <a:t> </a:t>
            </a:r>
            <a:r>
              <a:rPr sz="1250" dirty="0" err="1">
                <a:solidFill>
                  <a:srgbClr val="1C1C1C"/>
                </a:solidFill>
              </a:rPr>
              <a:t>테이블</a:t>
            </a:r>
            <a:r>
              <a:rPr sz="1250" dirty="0">
                <a:solidFill>
                  <a:srgbClr val="1C1C1C"/>
                </a:solidFill>
              </a:rPr>
              <a:t> → </a:t>
            </a:r>
            <a:r>
              <a:rPr sz="1400" b="1" dirty="0" err="1">
                <a:solidFill>
                  <a:srgbClr val="1C1C1C"/>
                </a:solidFill>
              </a:rPr>
              <a:t>읽기</a:t>
            </a:r>
            <a:r>
              <a:rPr sz="1400" b="1" dirty="0">
                <a:solidFill>
                  <a:srgbClr val="1C1C1C"/>
                </a:solidFill>
              </a:rPr>
              <a:t> </a:t>
            </a:r>
            <a:r>
              <a:rPr sz="1400" b="1" dirty="0" err="1">
                <a:solidFill>
                  <a:srgbClr val="1C1C1C"/>
                </a:solidFill>
              </a:rPr>
              <a:t>성능이</a:t>
            </a:r>
            <a:r>
              <a:rPr sz="1400" b="1" dirty="0">
                <a:solidFill>
                  <a:srgbClr val="1C1C1C"/>
                </a:solidFill>
              </a:rPr>
              <a:t> </a:t>
            </a:r>
            <a:r>
              <a:rPr sz="1400" b="1" dirty="0" err="1">
                <a:solidFill>
                  <a:srgbClr val="1C1C1C"/>
                </a:solidFill>
              </a:rPr>
              <a:t>최우선</a:t>
            </a:r>
            <a:endParaRPr sz="1400" b="1" dirty="0">
              <a:solidFill>
                <a:srgbClr val="1C1C1C"/>
              </a:solidFill>
            </a:endParaRPr>
          </a:p>
          <a:p>
            <a:pPr>
              <a:spcBef>
                <a:spcPts val="500"/>
              </a:spcBef>
            </a:pPr>
            <a:r>
              <a:rPr sz="1250" dirty="0">
                <a:solidFill>
                  <a:srgbClr val="1C1C1C"/>
                </a:solidFill>
              </a:rPr>
              <a:t>COW: </a:t>
            </a:r>
            <a:r>
              <a:rPr sz="1250" dirty="0" err="1">
                <a:solidFill>
                  <a:srgbClr val="1C1C1C"/>
                </a:solidFill>
              </a:rPr>
              <a:t>파티션</a:t>
            </a:r>
            <a:r>
              <a:rPr sz="1250" dirty="0">
                <a:solidFill>
                  <a:srgbClr val="1C1C1C"/>
                </a:solidFill>
              </a:rPr>
              <a:t> </a:t>
            </a:r>
            <a:r>
              <a:rPr sz="1250" dirty="0" err="1">
                <a:solidFill>
                  <a:srgbClr val="1C1C1C"/>
                </a:solidFill>
              </a:rPr>
              <a:t>파일</a:t>
            </a:r>
            <a:r>
              <a:rPr sz="1250" dirty="0">
                <a:solidFill>
                  <a:srgbClr val="1C1C1C"/>
                </a:solidFill>
              </a:rPr>
              <a:t> </a:t>
            </a:r>
            <a:r>
              <a:rPr sz="1250" dirty="0" err="1">
                <a:solidFill>
                  <a:srgbClr val="1C1C1C"/>
                </a:solidFill>
              </a:rPr>
              <a:t>재작성</a:t>
            </a:r>
            <a:r>
              <a:rPr sz="1250" dirty="0">
                <a:solidFill>
                  <a:srgbClr val="1C1C1C"/>
                </a:solidFill>
              </a:rPr>
              <a:t> 후 </a:t>
            </a:r>
            <a:r>
              <a:rPr sz="1250" dirty="0" err="1">
                <a:solidFill>
                  <a:srgbClr val="1C1C1C"/>
                </a:solidFill>
              </a:rPr>
              <a:t>항상</a:t>
            </a:r>
            <a:r>
              <a:rPr sz="1250" dirty="0">
                <a:solidFill>
                  <a:srgbClr val="1C1C1C"/>
                </a:solidFill>
              </a:rPr>
              <a:t> clean → Athena </a:t>
            </a:r>
            <a:r>
              <a:rPr sz="1250" dirty="0" err="1">
                <a:solidFill>
                  <a:srgbClr val="1C1C1C"/>
                </a:solidFill>
              </a:rPr>
              <a:t>스캔</a:t>
            </a:r>
            <a:r>
              <a:rPr sz="1250" dirty="0">
                <a:solidFill>
                  <a:srgbClr val="1C1C1C"/>
                </a:solidFill>
              </a:rPr>
              <a:t> </a:t>
            </a:r>
            <a:r>
              <a:rPr sz="1250" dirty="0" err="1">
                <a:solidFill>
                  <a:srgbClr val="1C1C1C"/>
                </a:solidFill>
              </a:rPr>
              <a:t>성능</a:t>
            </a:r>
            <a:r>
              <a:rPr sz="1250" dirty="0">
                <a:solidFill>
                  <a:srgbClr val="1C1C1C"/>
                </a:solidFill>
              </a:rPr>
              <a:t> </a:t>
            </a:r>
            <a:r>
              <a:rPr sz="1250" dirty="0" err="1">
                <a:solidFill>
                  <a:srgbClr val="1C1C1C"/>
                </a:solidFill>
              </a:rPr>
              <a:t>일정</a:t>
            </a:r>
            <a:endParaRPr sz="1250" dirty="0">
              <a:solidFill>
                <a:srgbClr val="1C1C1C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035040" y="1143000"/>
            <a:ext cx="5760720" cy="34747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26480" y="114300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Gold KPI — campaign_summary 스키마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600200"/>
            <a:ext cx="5760720" cy="374904"/>
          </a:xfrm>
          <a:prstGeom prst="rect">
            <a:avLst/>
          </a:prstGeom>
          <a:solidFill>
            <a:srgbClr val="F4F6F9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26480" y="163677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02C"/>
                </a:solidFill>
              </a:rPr>
              <a:t>impressions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1636776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</a:rPr>
              <a:t>COUNT(*)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1984248"/>
            <a:ext cx="576072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26480" y="202082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02C"/>
                </a:solidFill>
              </a:rPr>
              <a:t>clicks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20" y="2020824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</a:rPr>
              <a:t>SUM(click)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2368296"/>
            <a:ext cx="5760720" cy="374904"/>
          </a:xfrm>
          <a:prstGeom prst="rect">
            <a:avLst/>
          </a:prstGeom>
          <a:solidFill>
            <a:srgbClr val="F4F6F9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26480" y="240487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02C"/>
                </a:solidFill>
              </a:rPr>
              <a:t>conversions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240487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</a:rPr>
              <a:t>SUM(conversion)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2752344"/>
            <a:ext cx="576072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26480" y="27889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02C"/>
                </a:solidFill>
              </a:rPr>
              <a:t>unique_users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8120" y="278892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</a:rPr>
              <a:t>COUNT(DISTINCT uid)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3136392"/>
            <a:ext cx="5760720" cy="374904"/>
          </a:xfrm>
          <a:prstGeom prst="rect">
            <a:avLst/>
          </a:prstGeom>
          <a:solidFill>
            <a:srgbClr val="F4F6F9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26480" y="317296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02C"/>
                </a:solidFill>
              </a:rPr>
              <a:t>CTR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8120" y="3172968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</a:rPr>
              <a:t>clicks / impressions × 100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3520440"/>
            <a:ext cx="576072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126480" y="355701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02C"/>
                </a:solidFill>
              </a:rPr>
              <a:t>CVR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18120" y="3557016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</a:rPr>
              <a:t>conversions / clicks × 100  (clicks=0 → NULL)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3904488"/>
            <a:ext cx="5760720" cy="374904"/>
          </a:xfrm>
          <a:prstGeom prst="rect">
            <a:avLst/>
          </a:prstGeom>
          <a:solidFill>
            <a:srgbClr val="F4F6F9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126480" y="394106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02C"/>
                </a:solidFill>
              </a:rPr>
              <a:t>CPC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18120" y="3941064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</a:rPr>
              <a:t>total_cost / clicks  (clicks=0 → NULL)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35040" y="4288536"/>
            <a:ext cx="576072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126480" y="432511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02C"/>
                </a:solidFill>
              </a:rPr>
              <a:t>CPA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18120" y="432511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</a:rPr>
              <a:t>total_cost / conversions  (conversions=0 → NULL)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35040" y="4672584"/>
            <a:ext cx="5760720" cy="374904"/>
          </a:xfrm>
          <a:prstGeom prst="rect">
            <a:avLst/>
          </a:prstGeom>
          <a:solidFill>
            <a:srgbClr val="F4F6F9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126480" y="47091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02C"/>
                </a:solidFill>
              </a:rPr>
              <a:t>CPM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18120" y="470916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</a:rPr>
              <a:t>total_cost / impressions × 1,000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35040" y="5056632"/>
            <a:ext cx="576072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126480" y="509320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02C"/>
                </a:solidFill>
              </a:rPr>
              <a:t>frequency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18120" y="5093208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</a:rPr>
              <a:t>impressions / unique_users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5440680"/>
            <a:ext cx="5760720" cy="374904"/>
          </a:xfrm>
          <a:prstGeom prst="rect">
            <a:avLst/>
          </a:prstGeom>
          <a:solidFill>
            <a:srgbClr val="F4F6F9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126480" y="547725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02C"/>
                </a:solidFill>
              </a:rPr>
              <a:t>avg_conv_delay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18120" y="5477256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</a:rPr>
              <a:t>AVG(conversion_delay_sec ≥ 0)  — sentinel(-1) 제외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35040" y="5824728"/>
            <a:ext cx="576072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126480" y="586130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02C"/>
                </a:solidFill>
              </a:rPr>
              <a:t>CTC / VTC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18120" y="5861304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</a:rPr>
              <a:t>click=1&amp;conversion=1  /  click=0&amp;conversion=1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35040" y="6473952"/>
            <a:ext cx="5760720" cy="320040"/>
          </a:xfrm>
          <a:prstGeom prst="rect">
            <a:avLst/>
          </a:prstGeom>
          <a:solidFill>
            <a:srgbClr val="FFF3E0"/>
          </a:solidFill>
          <a:ln w="12700">
            <a:solidFill>
              <a:srgbClr val="D46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126480" y="6519672"/>
            <a:ext cx="5577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D46A0A"/>
                </a:solidFill>
              </a:rPr>
              <a:t>⚠️  백필 시 Gold는 명시 재처리 모드(--run-date-start 지정) 사용 필요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운영 자동화 — Airflow DAG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CCDD"/>
                </a:solidFill>
              </a:rPr>
              <a:t>3개 DAG + 검증 게이트 + ExternalTaskSensor 의존성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7772400" cy="347472"/>
          </a:xfrm>
          <a:prstGeom prst="rect">
            <a:avLst/>
          </a:prstGeom>
          <a:solidFill>
            <a:srgbClr val="20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7680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DAG 의존 관계</a:t>
            </a:r>
          </a:p>
        </p:txBody>
      </p:sp>
      <p:pic>
        <p:nvPicPr>
          <p:cNvPr id="8" name="Picture 7" descr="airflow DAG 구조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19" y="1536191"/>
            <a:ext cx="5820093" cy="479229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321040" y="114300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검증 게이트 설계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52412" y="5164922"/>
            <a:ext cx="7027487" cy="1384995"/>
          </a:xfrm>
          <a:prstGeom prst="rect">
            <a:avLst/>
          </a:prstGeom>
          <a:solidFill>
            <a:srgbClr val="FFF3E0"/>
          </a:solidFill>
          <a:ln w="12700">
            <a:solidFill>
              <a:srgbClr val="D46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52413" y="5184865"/>
            <a:ext cx="687006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D46A0A"/>
                </a:solidFill>
              </a:rPr>
              <a:t>⚠️ </a:t>
            </a:r>
            <a:r>
              <a:rPr sz="1200" dirty="0" err="1">
                <a:solidFill>
                  <a:srgbClr val="D46A0A"/>
                </a:solidFill>
              </a:rPr>
              <a:t>한계</a:t>
            </a:r>
            <a:endParaRPr sz="1200" dirty="0">
              <a:solidFill>
                <a:srgbClr val="D46A0A"/>
              </a:solidFill>
            </a:endParaRPr>
          </a:p>
          <a:p>
            <a:r>
              <a:rPr sz="1200" dirty="0">
                <a:solidFill>
                  <a:srgbClr val="D46A0A"/>
                </a:solidFill>
              </a:rPr>
              <a:t>• </a:t>
            </a:r>
            <a:r>
              <a:rPr sz="1200" dirty="0" err="1">
                <a:solidFill>
                  <a:srgbClr val="D46A0A"/>
                </a:solidFill>
              </a:rPr>
              <a:t>검증</a:t>
            </a:r>
            <a:r>
              <a:rPr sz="1200" dirty="0">
                <a:solidFill>
                  <a:srgbClr val="D46A0A"/>
                </a:solidFill>
              </a:rPr>
              <a:t> </a:t>
            </a:r>
            <a:r>
              <a:rPr sz="1200" dirty="0" err="1">
                <a:solidFill>
                  <a:srgbClr val="D46A0A"/>
                </a:solidFill>
              </a:rPr>
              <a:t>범위</a:t>
            </a:r>
            <a:r>
              <a:rPr sz="1200" dirty="0">
                <a:solidFill>
                  <a:srgbClr val="D46A0A"/>
                </a:solidFill>
              </a:rPr>
              <a:t>: </a:t>
            </a:r>
            <a:r>
              <a:rPr sz="1200" dirty="0" err="1">
                <a:solidFill>
                  <a:srgbClr val="D46A0A"/>
                </a:solidFill>
              </a:rPr>
              <a:t>어제</a:t>
            </a:r>
            <a:r>
              <a:rPr sz="1200" dirty="0">
                <a:solidFill>
                  <a:srgbClr val="D46A0A"/>
                </a:solidFill>
              </a:rPr>
              <a:t> </a:t>
            </a:r>
            <a:r>
              <a:rPr sz="1200" dirty="0" err="1">
                <a:solidFill>
                  <a:srgbClr val="D46A0A"/>
                </a:solidFill>
              </a:rPr>
              <a:t>파티션</a:t>
            </a:r>
            <a:r>
              <a:rPr sz="1200" dirty="0">
                <a:solidFill>
                  <a:srgbClr val="D46A0A"/>
                </a:solidFill>
              </a:rPr>
              <a:t> 1개만 </a:t>
            </a:r>
            <a:r>
              <a:rPr sz="1200" dirty="0" err="1">
                <a:solidFill>
                  <a:srgbClr val="D46A0A"/>
                </a:solidFill>
              </a:rPr>
              <a:t>확인</a:t>
            </a:r>
            <a:endParaRPr sz="1200" dirty="0">
              <a:solidFill>
                <a:srgbClr val="D46A0A"/>
              </a:solidFill>
            </a:endParaRPr>
          </a:p>
          <a:p>
            <a:r>
              <a:rPr sz="1200" dirty="0">
                <a:solidFill>
                  <a:srgbClr val="D46A0A"/>
                </a:solidFill>
              </a:rPr>
              <a:t>  </a:t>
            </a:r>
            <a:r>
              <a:rPr sz="1200" dirty="0" err="1">
                <a:solidFill>
                  <a:srgbClr val="D46A0A"/>
                </a:solidFill>
              </a:rPr>
              <a:t>Attribution으로</a:t>
            </a:r>
            <a:r>
              <a:rPr sz="1200" dirty="0">
                <a:solidFill>
                  <a:srgbClr val="D46A0A"/>
                </a:solidFill>
              </a:rPr>
              <a:t> </a:t>
            </a:r>
            <a:r>
              <a:rPr sz="1200" dirty="0" err="1">
                <a:solidFill>
                  <a:srgbClr val="D46A0A"/>
                </a:solidFill>
              </a:rPr>
              <a:t>갱신된</a:t>
            </a:r>
            <a:r>
              <a:rPr sz="1200" dirty="0">
                <a:solidFill>
                  <a:srgbClr val="D46A0A"/>
                </a:solidFill>
              </a:rPr>
              <a:t> </a:t>
            </a:r>
            <a:r>
              <a:rPr sz="1200" dirty="0" err="1">
                <a:solidFill>
                  <a:srgbClr val="D46A0A"/>
                </a:solidFill>
              </a:rPr>
              <a:t>어제</a:t>
            </a:r>
            <a:r>
              <a:rPr sz="1200" dirty="0">
                <a:solidFill>
                  <a:srgbClr val="D46A0A"/>
                </a:solidFill>
              </a:rPr>
              <a:t> </a:t>
            </a:r>
            <a:r>
              <a:rPr sz="1200" dirty="0" err="1">
                <a:solidFill>
                  <a:srgbClr val="D46A0A"/>
                </a:solidFill>
              </a:rPr>
              <a:t>이전</a:t>
            </a:r>
            <a:r>
              <a:rPr sz="1200" dirty="0">
                <a:solidFill>
                  <a:srgbClr val="D46A0A"/>
                </a:solidFill>
              </a:rPr>
              <a:t> </a:t>
            </a:r>
            <a:r>
              <a:rPr sz="1200" dirty="0" err="1">
                <a:solidFill>
                  <a:srgbClr val="D46A0A"/>
                </a:solidFill>
              </a:rPr>
              <a:t>파티션</a:t>
            </a:r>
            <a:r>
              <a:rPr sz="1200" dirty="0">
                <a:solidFill>
                  <a:srgbClr val="D46A0A"/>
                </a:solidFill>
              </a:rPr>
              <a:t> </a:t>
            </a:r>
            <a:r>
              <a:rPr sz="1200" dirty="0" err="1">
                <a:solidFill>
                  <a:srgbClr val="D46A0A"/>
                </a:solidFill>
              </a:rPr>
              <a:t>Silver↔Gold</a:t>
            </a:r>
            <a:r>
              <a:rPr sz="1200" dirty="0">
                <a:solidFill>
                  <a:srgbClr val="D46A0A"/>
                </a:solidFill>
              </a:rPr>
              <a:t> </a:t>
            </a:r>
            <a:r>
              <a:rPr sz="1200" dirty="0" err="1">
                <a:solidFill>
                  <a:srgbClr val="D46A0A"/>
                </a:solidFill>
              </a:rPr>
              <a:t>정합성</a:t>
            </a:r>
            <a:r>
              <a:rPr sz="1200" dirty="0">
                <a:solidFill>
                  <a:srgbClr val="D46A0A"/>
                </a:solidFill>
              </a:rPr>
              <a:t> </a:t>
            </a:r>
            <a:r>
              <a:rPr sz="1200" dirty="0" err="1">
                <a:solidFill>
                  <a:srgbClr val="D46A0A"/>
                </a:solidFill>
              </a:rPr>
              <a:t>미커버</a:t>
            </a:r>
            <a:endParaRPr sz="1200" dirty="0">
              <a:solidFill>
                <a:srgbClr val="D46A0A"/>
              </a:solidFill>
            </a:endParaRPr>
          </a:p>
          <a:p>
            <a:r>
              <a:rPr sz="1200" dirty="0">
                <a:solidFill>
                  <a:srgbClr val="D46A0A"/>
                </a:solidFill>
              </a:rPr>
              <a:t>• 이 DAG </a:t>
            </a:r>
            <a:r>
              <a:rPr sz="1200" dirty="0" err="1">
                <a:solidFill>
                  <a:srgbClr val="D46A0A"/>
                </a:solidFill>
              </a:rPr>
              <a:t>구조는</a:t>
            </a:r>
            <a:r>
              <a:rPr sz="1200" dirty="0">
                <a:solidFill>
                  <a:srgbClr val="D46A0A"/>
                </a:solidFill>
              </a:rPr>
              <a:t> Silver/Gold </a:t>
            </a:r>
            <a:r>
              <a:rPr sz="1200" dirty="0" err="1">
                <a:solidFill>
                  <a:srgbClr val="D46A0A"/>
                </a:solidFill>
              </a:rPr>
              <a:t>테이블이</a:t>
            </a:r>
            <a:r>
              <a:rPr sz="1200" dirty="0">
                <a:solidFill>
                  <a:srgbClr val="D46A0A"/>
                </a:solidFill>
              </a:rPr>
              <a:t> 각 1개라는 </a:t>
            </a:r>
            <a:r>
              <a:rPr sz="1200" dirty="0" err="1">
                <a:solidFill>
                  <a:srgbClr val="D46A0A"/>
                </a:solidFill>
              </a:rPr>
              <a:t>전제에</a:t>
            </a:r>
            <a:r>
              <a:rPr sz="1200" dirty="0">
                <a:solidFill>
                  <a:srgbClr val="D46A0A"/>
                </a:solidFill>
              </a:rPr>
              <a:t> </a:t>
            </a:r>
            <a:r>
              <a:rPr sz="1200" dirty="0" err="1">
                <a:solidFill>
                  <a:srgbClr val="D46A0A"/>
                </a:solidFill>
              </a:rPr>
              <a:t>의존</a:t>
            </a:r>
            <a:endParaRPr sz="1200" dirty="0">
              <a:solidFill>
                <a:srgbClr val="D46A0A"/>
              </a:solidFill>
            </a:endParaRPr>
          </a:p>
          <a:p>
            <a:r>
              <a:rPr sz="1200" dirty="0">
                <a:solidFill>
                  <a:srgbClr val="D46A0A"/>
                </a:solidFill>
              </a:rPr>
              <a:t>  새 </a:t>
            </a:r>
            <a:r>
              <a:rPr sz="1200" dirty="0" err="1">
                <a:solidFill>
                  <a:srgbClr val="D46A0A"/>
                </a:solidFill>
              </a:rPr>
              <a:t>테이블</a:t>
            </a:r>
            <a:r>
              <a:rPr sz="1200" dirty="0">
                <a:solidFill>
                  <a:srgbClr val="D46A0A"/>
                </a:solidFill>
              </a:rPr>
              <a:t> </a:t>
            </a:r>
            <a:r>
              <a:rPr sz="1200" dirty="0" err="1">
                <a:solidFill>
                  <a:srgbClr val="D46A0A"/>
                </a:solidFill>
              </a:rPr>
              <a:t>추가</a:t>
            </a:r>
            <a:r>
              <a:rPr sz="1200" dirty="0">
                <a:solidFill>
                  <a:srgbClr val="D46A0A"/>
                </a:solidFill>
              </a:rPr>
              <a:t> 시 </a:t>
            </a:r>
            <a:r>
              <a:rPr sz="1200" dirty="0" err="1">
                <a:solidFill>
                  <a:srgbClr val="D46A0A"/>
                </a:solidFill>
              </a:rPr>
              <a:t>전체</a:t>
            </a:r>
            <a:r>
              <a:rPr sz="1200" dirty="0">
                <a:solidFill>
                  <a:srgbClr val="D46A0A"/>
                </a:solidFill>
              </a:rPr>
              <a:t> </a:t>
            </a:r>
            <a:r>
              <a:rPr sz="1200" dirty="0" err="1">
                <a:solidFill>
                  <a:srgbClr val="D46A0A"/>
                </a:solidFill>
              </a:rPr>
              <a:t>DAG가</a:t>
            </a:r>
            <a:r>
              <a:rPr sz="1200" dirty="0">
                <a:solidFill>
                  <a:srgbClr val="D46A0A"/>
                </a:solidFill>
              </a:rPr>
              <a:t> </a:t>
            </a:r>
            <a:r>
              <a:rPr sz="1200" dirty="0" err="1">
                <a:solidFill>
                  <a:srgbClr val="D46A0A"/>
                </a:solidFill>
              </a:rPr>
              <a:t>무너지는</a:t>
            </a:r>
            <a:r>
              <a:rPr sz="1200" dirty="0">
                <a:solidFill>
                  <a:srgbClr val="D46A0A"/>
                </a:solidFill>
              </a:rPr>
              <a:t> </a:t>
            </a:r>
            <a:r>
              <a:rPr sz="1200" dirty="0" err="1">
                <a:solidFill>
                  <a:srgbClr val="D46A0A"/>
                </a:solidFill>
              </a:rPr>
              <a:t>구조</a:t>
            </a:r>
            <a:r>
              <a:rPr lang="en-US" sz="1200" dirty="0">
                <a:solidFill>
                  <a:srgbClr val="D46A0A"/>
                </a:solidFill>
              </a:rPr>
              <a:t> </a:t>
            </a:r>
            <a:r>
              <a:rPr sz="1200" dirty="0">
                <a:solidFill>
                  <a:srgbClr val="D46A0A"/>
                </a:solidFill>
              </a:rPr>
              <a:t>→ </a:t>
            </a:r>
            <a:r>
              <a:rPr sz="1200" dirty="0" err="1">
                <a:solidFill>
                  <a:srgbClr val="D46A0A"/>
                </a:solidFill>
              </a:rPr>
              <a:t>레이어별</a:t>
            </a:r>
            <a:r>
              <a:rPr sz="1200" dirty="0">
                <a:solidFill>
                  <a:srgbClr val="D46A0A"/>
                </a:solidFill>
              </a:rPr>
              <a:t> </a:t>
            </a:r>
            <a:r>
              <a:rPr sz="1200" dirty="0" err="1">
                <a:solidFill>
                  <a:srgbClr val="D46A0A"/>
                </a:solidFill>
              </a:rPr>
              <a:t>유지보수</a:t>
            </a:r>
            <a:r>
              <a:rPr sz="1200" dirty="0">
                <a:solidFill>
                  <a:srgbClr val="D46A0A"/>
                </a:solidFill>
              </a:rPr>
              <a:t> DAG </a:t>
            </a:r>
            <a:r>
              <a:rPr sz="1200" dirty="0" err="1">
                <a:solidFill>
                  <a:srgbClr val="D46A0A"/>
                </a:solidFill>
              </a:rPr>
              <a:t>분리가</a:t>
            </a:r>
            <a:r>
              <a:rPr sz="1200" dirty="0">
                <a:solidFill>
                  <a:srgbClr val="D46A0A"/>
                </a:solidFill>
              </a:rPr>
              <a:t> 더 </a:t>
            </a:r>
            <a:r>
              <a:rPr sz="1200" dirty="0" err="1">
                <a:solidFill>
                  <a:srgbClr val="D46A0A"/>
                </a:solidFill>
              </a:rPr>
              <a:t>적합한</a:t>
            </a:r>
            <a:r>
              <a:rPr sz="1200" dirty="0">
                <a:solidFill>
                  <a:srgbClr val="D46A0A"/>
                </a:solidFill>
              </a:rPr>
              <a:t> </a:t>
            </a:r>
            <a:r>
              <a:rPr sz="1200" dirty="0" err="1">
                <a:solidFill>
                  <a:srgbClr val="D46A0A"/>
                </a:solidFill>
              </a:rPr>
              <a:t>설계였음</a:t>
            </a:r>
            <a:endParaRPr sz="1200" dirty="0">
              <a:solidFill>
                <a:srgbClr val="D46A0A"/>
              </a:solidFill>
            </a:endParaRPr>
          </a:p>
          <a:p>
            <a:r>
              <a:rPr sz="1200" dirty="0">
                <a:solidFill>
                  <a:srgbClr val="D46A0A"/>
                </a:solidFill>
              </a:rPr>
              <a:t>• </a:t>
            </a:r>
            <a:r>
              <a:rPr sz="1200" dirty="0" err="1">
                <a:solidFill>
                  <a:srgbClr val="D46A0A"/>
                </a:solidFill>
              </a:rPr>
              <a:t>백필</a:t>
            </a:r>
            <a:r>
              <a:rPr sz="1200" dirty="0">
                <a:solidFill>
                  <a:srgbClr val="D46A0A"/>
                </a:solidFill>
              </a:rPr>
              <a:t>: --run-date-start/end </a:t>
            </a:r>
            <a:r>
              <a:rPr sz="1200" dirty="0" err="1">
                <a:solidFill>
                  <a:srgbClr val="D46A0A"/>
                </a:solidFill>
              </a:rPr>
              <a:t>인자</a:t>
            </a:r>
            <a:r>
              <a:rPr sz="1200" dirty="0">
                <a:solidFill>
                  <a:srgbClr val="D46A0A"/>
                </a:solidFill>
              </a:rPr>
              <a:t> </a:t>
            </a:r>
            <a:r>
              <a:rPr sz="1200" dirty="0" err="1">
                <a:solidFill>
                  <a:srgbClr val="D46A0A"/>
                </a:solidFill>
              </a:rPr>
              <a:t>있으나</a:t>
            </a:r>
            <a:r>
              <a:rPr sz="1200" dirty="0">
                <a:solidFill>
                  <a:srgbClr val="D46A0A"/>
                </a:solidFill>
              </a:rPr>
              <a:t> Airflow </a:t>
            </a:r>
            <a:r>
              <a:rPr sz="1200" dirty="0" err="1">
                <a:solidFill>
                  <a:srgbClr val="D46A0A"/>
                </a:solidFill>
              </a:rPr>
              <a:t>UI에서</a:t>
            </a:r>
            <a:r>
              <a:rPr lang="en-US" sz="1200" dirty="0">
                <a:solidFill>
                  <a:srgbClr val="D46A0A"/>
                </a:solidFill>
              </a:rPr>
              <a:t> </a:t>
            </a:r>
            <a:r>
              <a:rPr sz="1200" dirty="0" err="1">
                <a:solidFill>
                  <a:srgbClr val="D46A0A"/>
                </a:solidFill>
              </a:rPr>
              <a:t>날짜</a:t>
            </a:r>
            <a:r>
              <a:rPr sz="1200" dirty="0">
                <a:solidFill>
                  <a:srgbClr val="D46A0A"/>
                </a:solidFill>
              </a:rPr>
              <a:t> </a:t>
            </a:r>
            <a:r>
              <a:rPr sz="1200" dirty="0" err="1">
                <a:solidFill>
                  <a:srgbClr val="D46A0A"/>
                </a:solidFill>
              </a:rPr>
              <a:t>지정</a:t>
            </a:r>
            <a:r>
              <a:rPr sz="1200" dirty="0">
                <a:solidFill>
                  <a:srgbClr val="D46A0A"/>
                </a:solidFill>
              </a:rPr>
              <a:t> </a:t>
            </a:r>
            <a:r>
              <a:rPr sz="1200" dirty="0" err="1">
                <a:solidFill>
                  <a:srgbClr val="D46A0A"/>
                </a:solidFill>
              </a:rPr>
              <a:t>연결</a:t>
            </a:r>
            <a:r>
              <a:rPr sz="1200" dirty="0">
                <a:solidFill>
                  <a:srgbClr val="D46A0A"/>
                </a:solidFill>
              </a:rPr>
              <a:t> </a:t>
            </a:r>
            <a:r>
              <a:rPr sz="1200" dirty="0" err="1">
                <a:solidFill>
                  <a:srgbClr val="D46A0A"/>
                </a:solidFill>
              </a:rPr>
              <a:t>미구현</a:t>
            </a:r>
            <a:r>
              <a:rPr sz="1200" dirty="0">
                <a:solidFill>
                  <a:srgbClr val="D46A0A"/>
                </a:solidFill>
              </a:rPr>
              <a:t> </a:t>
            </a:r>
            <a:endParaRPr lang="en-US" sz="1200" dirty="0">
              <a:solidFill>
                <a:srgbClr val="D46A0A"/>
              </a:solidFill>
            </a:endParaRPr>
          </a:p>
          <a:p>
            <a:r>
              <a:rPr sz="1200" dirty="0">
                <a:solidFill>
                  <a:srgbClr val="D46A0A"/>
                </a:solidFill>
              </a:rPr>
              <a:t>— docker compose </a:t>
            </a:r>
            <a:r>
              <a:rPr sz="1200" dirty="0" err="1">
                <a:solidFill>
                  <a:srgbClr val="D46A0A"/>
                </a:solidFill>
              </a:rPr>
              <a:t>명령</a:t>
            </a:r>
            <a:r>
              <a:rPr sz="1200" dirty="0">
                <a:solidFill>
                  <a:srgbClr val="D46A0A"/>
                </a:solidFill>
              </a:rPr>
              <a:t> </a:t>
            </a:r>
            <a:r>
              <a:rPr sz="1200" dirty="0" err="1">
                <a:solidFill>
                  <a:srgbClr val="D46A0A"/>
                </a:solidFill>
              </a:rPr>
              <a:t>직접</a:t>
            </a:r>
            <a:r>
              <a:rPr sz="1200" dirty="0">
                <a:solidFill>
                  <a:srgbClr val="D46A0A"/>
                </a:solidFill>
              </a:rPr>
              <a:t> </a:t>
            </a:r>
            <a:r>
              <a:rPr sz="1200" dirty="0" err="1">
                <a:solidFill>
                  <a:srgbClr val="D46A0A"/>
                </a:solidFill>
              </a:rPr>
              <a:t>실행</a:t>
            </a:r>
            <a:r>
              <a:rPr sz="1200" dirty="0">
                <a:solidFill>
                  <a:srgbClr val="D46A0A"/>
                </a:solidFill>
              </a:rPr>
              <a:t> </a:t>
            </a:r>
            <a:r>
              <a:rPr sz="1200" dirty="0" err="1">
                <a:solidFill>
                  <a:srgbClr val="D46A0A"/>
                </a:solidFill>
              </a:rPr>
              <a:t>필요</a:t>
            </a:r>
            <a:endParaRPr sz="1200" dirty="0">
              <a:solidFill>
                <a:srgbClr val="D46A0A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Iceberg 유지보수 전략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CCDD"/>
                </a:solidFill>
              </a:rPr>
              <a:t>Compaction / Expire / Orphan / Manifest 재편성 / metadata.json 보존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5577840" cy="347472"/>
          </a:xfrm>
          <a:prstGeom prst="rect">
            <a:avLst/>
          </a:prstGeom>
          <a:solidFill>
            <a:srgbClr val="709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Silver (MOR) 일간 유지보수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36192"/>
            <a:ext cx="5394960" cy="24570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50" b="1" dirty="0" err="1">
                <a:solidFill>
                  <a:srgbClr val="1C1C1C"/>
                </a:solidFill>
              </a:rPr>
              <a:t>compact_silver</a:t>
            </a:r>
            <a:r>
              <a:rPr sz="1250" b="1" dirty="0">
                <a:solidFill>
                  <a:srgbClr val="1C1C1C"/>
                </a:solidFill>
              </a:rPr>
              <a:t>  (</a:t>
            </a:r>
            <a:r>
              <a:rPr sz="1250" b="1" dirty="0" err="1">
                <a:solidFill>
                  <a:srgbClr val="1C1C1C"/>
                </a:solidFill>
              </a:rPr>
              <a:t>rewrite_data_files</a:t>
            </a:r>
            <a:r>
              <a:rPr sz="1250" b="1" dirty="0">
                <a:solidFill>
                  <a:srgbClr val="1C1C1C"/>
                </a:solidFill>
              </a:rPr>
              <a:t>)</a:t>
            </a:r>
          </a:p>
          <a:p>
            <a:pPr>
              <a:spcBef>
                <a:spcPts val="200"/>
              </a:spcBef>
            </a:pPr>
            <a:r>
              <a:rPr lang="en-US" sz="1100" dirty="0">
                <a:solidFill>
                  <a:srgbClr val="1C1C1C"/>
                </a:solidFill>
              </a:rPr>
              <a:t>    </a:t>
            </a:r>
            <a:r>
              <a:rPr sz="1100" dirty="0">
                <a:solidFill>
                  <a:srgbClr val="1C1C1C"/>
                </a:solidFill>
              </a:rPr>
              <a:t>MOR </a:t>
            </a:r>
            <a:r>
              <a:rPr sz="1100" dirty="0" err="1">
                <a:solidFill>
                  <a:srgbClr val="1C1C1C"/>
                </a:solidFill>
              </a:rPr>
              <a:t>MERGE가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매일</a:t>
            </a:r>
            <a:r>
              <a:rPr sz="1100" dirty="0">
                <a:solidFill>
                  <a:srgbClr val="1C1C1C"/>
                </a:solidFill>
              </a:rPr>
              <a:t> delete file </a:t>
            </a:r>
            <a:r>
              <a:rPr sz="1100" dirty="0" err="1">
                <a:solidFill>
                  <a:srgbClr val="1C1C1C"/>
                </a:solidFill>
              </a:rPr>
              <a:t>누적</a:t>
            </a:r>
            <a:r>
              <a:rPr sz="1100" dirty="0">
                <a:solidFill>
                  <a:srgbClr val="1C1C1C"/>
                </a:solidFill>
              </a:rPr>
              <a:t> → base + delta </a:t>
            </a:r>
            <a:r>
              <a:rPr sz="1100" dirty="0" err="1">
                <a:solidFill>
                  <a:srgbClr val="1C1C1C"/>
                </a:solidFill>
              </a:rPr>
              <a:t>병합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오버헤드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제거</a:t>
            </a:r>
            <a:endParaRPr lang="en-US" sz="1100" dirty="0">
              <a:solidFill>
                <a:srgbClr val="1C1C1C"/>
              </a:solidFill>
            </a:endParaRPr>
          </a:p>
          <a:p>
            <a:pPr>
              <a:spcBef>
                <a:spcPts val="500"/>
              </a:spcBef>
            </a:pPr>
            <a:endParaRPr sz="1100" dirty="0">
              <a:solidFill>
                <a:srgbClr val="1C1C1C"/>
              </a:solidFill>
            </a:endParaRPr>
          </a:p>
          <a:p>
            <a:pPr>
              <a:spcBef>
                <a:spcPts val="500"/>
              </a:spcBef>
            </a:pPr>
            <a:r>
              <a:rPr sz="1250" b="1" dirty="0" err="1">
                <a:solidFill>
                  <a:srgbClr val="1C1C1C"/>
                </a:solidFill>
              </a:rPr>
              <a:t>expire_silver_snapshots</a:t>
            </a:r>
            <a:endParaRPr sz="1250" b="1" dirty="0">
              <a:solidFill>
                <a:srgbClr val="1C1C1C"/>
              </a:solidFill>
            </a:endParaRPr>
          </a:p>
          <a:p>
            <a:pPr>
              <a:spcBef>
                <a:spcPts val="200"/>
              </a:spcBef>
            </a:pPr>
            <a:r>
              <a:rPr lang="ko-KR" altLang="en-US" sz="1100" dirty="0">
                <a:solidFill>
                  <a:srgbClr val="1C1C1C"/>
                </a:solidFill>
              </a:rPr>
              <a:t>   스냅샷 정리</a:t>
            </a:r>
            <a:endParaRPr lang="en-US" altLang="en-US" sz="1100" dirty="0">
              <a:solidFill>
                <a:srgbClr val="1C1C1C"/>
              </a:solidFill>
            </a:endParaRPr>
          </a:p>
          <a:p>
            <a:pPr>
              <a:spcBef>
                <a:spcPts val="200"/>
              </a:spcBef>
            </a:pPr>
            <a:endParaRPr lang="ko-KR" altLang="en-US" sz="1100" dirty="0">
              <a:solidFill>
                <a:srgbClr val="1C1C1C"/>
              </a:solidFill>
            </a:endParaRPr>
          </a:p>
          <a:p>
            <a:pPr>
              <a:spcBef>
                <a:spcPts val="500"/>
              </a:spcBef>
            </a:pPr>
            <a:r>
              <a:rPr sz="1250" b="1" dirty="0" err="1">
                <a:solidFill>
                  <a:srgbClr val="1C1C1C"/>
                </a:solidFill>
              </a:rPr>
              <a:t>remove_silver_orphans</a:t>
            </a:r>
            <a:endParaRPr sz="1250" b="1" dirty="0">
              <a:solidFill>
                <a:srgbClr val="1C1C1C"/>
              </a:solidFill>
            </a:endParaRPr>
          </a:p>
          <a:p>
            <a:pPr>
              <a:spcBef>
                <a:spcPts val="200"/>
              </a:spcBef>
            </a:pPr>
            <a:r>
              <a:rPr lang="en-US" sz="1100" dirty="0">
                <a:solidFill>
                  <a:srgbClr val="1C1C1C"/>
                </a:solidFill>
              </a:rPr>
              <a:t> </a:t>
            </a:r>
            <a:r>
              <a:rPr lang="ko-KR" altLang="en-US" sz="1100" dirty="0">
                <a:solidFill>
                  <a:srgbClr val="1C1C1C"/>
                </a:solidFill>
              </a:rPr>
              <a:t>   고아파일 정리 </a:t>
            </a:r>
            <a:endParaRPr lang="en-US" altLang="ko-KR" sz="1100" dirty="0">
              <a:solidFill>
                <a:srgbClr val="1C1C1C"/>
              </a:solidFill>
            </a:endParaRPr>
          </a:p>
          <a:p>
            <a:pPr>
              <a:spcBef>
                <a:spcPts val="200"/>
              </a:spcBef>
            </a:pPr>
            <a:endParaRPr sz="1100" dirty="0">
              <a:solidFill>
                <a:srgbClr val="1C1C1C"/>
              </a:solidFill>
            </a:endParaRPr>
          </a:p>
          <a:p>
            <a:pPr>
              <a:spcBef>
                <a:spcPts val="500"/>
              </a:spcBef>
            </a:pPr>
            <a:r>
              <a:rPr sz="1250" b="1" dirty="0" err="1">
                <a:solidFill>
                  <a:srgbClr val="1C1C1C"/>
                </a:solidFill>
              </a:rPr>
              <a:t>metadata.json</a:t>
            </a:r>
            <a:r>
              <a:rPr sz="1250" b="1" dirty="0">
                <a:solidFill>
                  <a:srgbClr val="1C1C1C"/>
                </a:solidFill>
              </a:rPr>
              <a:t> </a:t>
            </a:r>
            <a:r>
              <a:rPr sz="1250" b="1" dirty="0" err="1">
                <a:solidFill>
                  <a:srgbClr val="1C1C1C"/>
                </a:solidFill>
              </a:rPr>
              <a:t>보존</a:t>
            </a:r>
            <a:r>
              <a:rPr sz="1250" b="1" dirty="0">
                <a:solidFill>
                  <a:srgbClr val="1C1C1C"/>
                </a:solidFill>
              </a:rPr>
              <a:t> </a:t>
            </a:r>
            <a:r>
              <a:rPr sz="1250" b="1" dirty="0" err="1">
                <a:solidFill>
                  <a:srgbClr val="1C1C1C"/>
                </a:solidFill>
              </a:rPr>
              <a:t>설정</a:t>
            </a:r>
            <a:r>
              <a:rPr sz="1250" b="1" dirty="0">
                <a:solidFill>
                  <a:srgbClr val="1C1C1C"/>
                </a:solidFill>
              </a:rPr>
              <a:t> (TBLPROPERTIES)</a:t>
            </a:r>
          </a:p>
          <a:p>
            <a:pPr>
              <a:spcBef>
                <a:spcPts val="200"/>
              </a:spcBef>
            </a:pPr>
            <a:r>
              <a:rPr lang="en-US" sz="1100" dirty="0">
                <a:solidFill>
                  <a:srgbClr val="1C1C1C"/>
                </a:solidFill>
              </a:rPr>
              <a:t>    </a:t>
            </a:r>
            <a:r>
              <a:rPr sz="1100" dirty="0" err="1">
                <a:solidFill>
                  <a:srgbClr val="1C1C1C"/>
                </a:solidFill>
              </a:rPr>
              <a:t>커밋마다</a:t>
            </a:r>
            <a:r>
              <a:rPr sz="1100" dirty="0">
                <a:solidFill>
                  <a:srgbClr val="1C1C1C"/>
                </a:solidFill>
              </a:rPr>
              <a:t> 새 </a:t>
            </a:r>
            <a:r>
              <a:rPr sz="1100" dirty="0" err="1">
                <a:solidFill>
                  <a:srgbClr val="1C1C1C"/>
                </a:solidFill>
              </a:rPr>
              <a:t>metadata.json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생성</a:t>
            </a:r>
            <a:r>
              <a:rPr sz="1100" dirty="0">
                <a:solidFill>
                  <a:srgbClr val="1C1C1C"/>
                </a:solidFill>
              </a:rPr>
              <a:t> → </a:t>
            </a:r>
            <a:r>
              <a:rPr sz="1100" dirty="0" err="1">
                <a:solidFill>
                  <a:srgbClr val="1C1C1C"/>
                </a:solidFill>
              </a:rPr>
              <a:t>무한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누적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방지</a:t>
            </a:r>
            <a:endParaRPr sz="1100" dirty="0">
              <a:solidFill>
                <a:srgbClr val="1C1C1C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035040" y="1143000"/>
            <a:ext cx="5760720" cy="347472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26480" y="114300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Gold (COW) 일간 유지보수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536192"/>
            <a:ext cx="5577840" cy="2846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50" b="1" dirty="0">
                <a:solidFill>
                  <a:srgbClr val="1C1C1C"/>
                </a:solidFill>
              </a:rPr>
              <a:t>Compaction: </a:t>
            </a:r>
            <a:r>
              <a:rPr sz="1250" b="1" dirty="0" err="1">
                <a:solidFill>
                  <a:srgbClr val="1C1C1C"/>
                </a:solidFill>
              </a:rPr>
              <a:t>현재</a:t>
            </a:r>
            <a:r>
              <a:rPr sz="1250" b="1" dirty="0">
                <a:solidFill>
                  <a:srgbClr val="1C1C1C"/>
                </a:solidFill>
              </a:rPr>
              <a:t> </a:t>
            </a:r>
            <a:r>
              <a:rPr sz="1250" b="1" dirty="0" err="1">
                <a:solidFill>
                  <a:srgbClr val="1C1C1C"/>
                </a:solidFill>
              </a:rPr>
              <a:t>규모에서</a:t>
            </a:r>
            <a:r>
              <a:rPr sz="1250" b="1" dirty="0">
                <a:solidFill>
                  <a:srgbClr val="1C1C1C"/>
                </a:solidFill>
              </a:rPr>
              <a:t> </a:t>
            </a:r>
            <a:r>
              <a:rPr sz="1250" b="1" dirty="0" err="1">
                <a:solidFill>
                  <a:srgbClr val="1C1C1C"/>
                </a:solidFill>
              </a:rPr>
              <a:t>불필요</a:t>
            </a:r>
            <a:endParaRPr sz="1250" b="1" dirty="0">
              <a:solidFill>
                <a:srgbClr val="1C1C1C"/>
              </a:solidFill>
            </a:endParaRPr>
          </a:p>
          <a:p>
            <a:pPr>
              <a:spcBef>
                <a:spcPts val="200"/>
              </a:spcBef>
            </a:pPr>
            <a:r>
              <a:rPr sz="1100" dirty="0">
                <a:solidFill>
                  <a:srgbClr val="1C1C1C"/>
                </a:solidFill>
              </a:rPr>
              <a:t>   </a:t>
            </a:r>
            <a:r>
              <a:rPr sz="1100" dirty="0" err="1">
                <a:solidFill>
                  <a:srgbClr val="1C1C1C"/>
                </a:solidFill>
              </a:rPr>
              <a:t>COW는</a:t>
            </a:r>
            <a:r>
              <a:rPr sz="1100" dirty="0">
                <a:solidFill>
                  <a:srgbClr val="1C1C1C"/>
                </a:solidFill>
              </a:rPr>
              <a:t> delete file </a:t>
            </a:r>
            <a:r>
              <a:rPr sz="1100" dirty="0" err="1">
                <a:solidFill>
                  <a:srgbClr val="1C1C1C"/>
                </a:solidFill>
              </a:rPr>
              <a:t>없음</a:t>
            </a:r>
            <a:r>
              <a:rPr sz="1100" dirty="0">
                <a:solidFill>
                  <a:srgbClr val="1C1C1C"/>
                </a:solidFill>
              </a:rPr>
              <a:t> → </a:t>
            </a:r>
            <a:r>
              <a:rPr sz="1100" dirty="0" err="1">
                <a:solidFill>
                  <a:srgbClr val="1C1C1C"/>
                </a:solidFill>
              </a:rPr>
              <a:t>MOR처럼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매일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필수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아님</a:t>
            </a:r>
            <a:endParaRPr sz="1100" dirty="0">
              <a:solidFill>
                <a:srgbClr val="1C1C1C"/>
              </a:solidFill>
            </a:endParaRPr>
          </a:p>
          <a:p>
            <a:pPr>
              <a:spcBef>
                <a:spcPts val="200"/>
              </a:spcBef>
            </a:pPr>
            <a:r>
              <a:rPr sz="1100" dirty="0">
                <a:solidFill>
                  <a:srgbClr val="1C1C1C"/>
                </a:solidFill>
              </a:rPr>
              <a:t>   </a:t>
            </a:r>
            <a:r>
              <a:rPr sz="1100" dirty="0" err="1">
                <a:solidFill>
                  <a:srgbClr val="1C1C1C"/>
                </a:solidFill>
              </a:rPr>
              <a:t>현재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데이터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규모</a:t>
            </a:r>
            <a:r>
              <a:rPr sz="1100" dirty="0">
                <a:solidFill>
                  <a:srgbClr val="1C1C1C"/>
                </a:solidFill>
              </a:rPr>
              <a:t>: </a:t>
            </a:r>
            <a:r>
              <a:rPr sz="1100" dirty="0" err="1">
                <a:solidFill>
                  <a:srgbClr val="1C1C1C"/>
                </a:solidFill>
              </a:rPr>
              <a:t>파티션당</a:t>
            </a:r>
            <a:r>
              <a:rPr sz="1100" dirty="0">
                <a:solidFill>
                  <a:srgbClr val="1C1C1C"/>
                </a:solidFill>
              </a:rPr>
              <a:t> Parquet </a:t>
            </a:r>
            <a:r>
              <a:rPr sz="1100" dirty="0" err="1">
                <a:solidFill>
                  <a:srgbClr val="1C1C1C"/>
                </a:solidFill>
              </a:rPr>
              <a:t>파일</a:t>
            </a:r>
            <a:r>
              <a:rPr sz="1100" dirty="0">
                <a:solidFill>
                  <a:srgbClr val="1C1C1C"/>
                </a:solidFill>
              </a:rPr>
              <a:t> 1개 </a:t>
            </a:r>
            <a:r>
              <a:rPr sz="1100" dirty="0" err="1">
                <a:solidFill>
                  <a:srgbClr val="1C1C1C"/>
                </a:solidFill>
              </a:rPr>
              <a:t>수준</a:t>
            </a:r>
            <a:r>
              <a:rPr sz="1100" dirty="0">
                <a:solidFill>
                  <a:srgbClr val="1C1C1C"/>
                </a:solidFill>
              </a:rPr>
              <a:t> → </a:t>
            </a:r>
            <a:r>
              <a:rPr sz="1100" dirty="0" err="1">
                <a:solidFill>
                  <a:srgbClr val="1C1C1C"/>
                </a:solidFill>
              </a:rPr>
              <a:t>소형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파일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누적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없음</a:t>
            </a:r>
            <a:endParaRPr sz="1100" dirty="0">
              <a:solidFill>
                <a:srgbClr val="1C1C1C"/>
              </a:solidFill>
            </a:endParaRPr>
          </a:p>
          <a:p>
            <a:pPr>
              <a:spcBef>
                <a:spcPts val="200"/>
              </a:spcBef>
            </a:pPr>
            <a:r>
              <a:rPr sz="1100" dirty="0">
                <a:solidFill>
                  <a:srgbClr val="1C1C1C"/>
                </a:solidFill>
              </a:rPr>
              <a:t>   </a:t>
            </a:r>
            <a:r>
              <a:rPr sz="1100" dirty="0" err="1">
                <a:solidFill>
                  <a:srgbClr val="1C1C1C"/>
                </a:solidFill>
              </a:rPr>
              <a:t>데이터가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커지면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소형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파일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병합을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위한</a:t>
            </a:r>
            <a:r>
              <a:rPr sz="1100" dirty="0">
                <a:solidFill>
                  <a:srgbClr val="1C1C1C"/>
                </a:solidFill>
              </a:rPr>
              <a:t> compaction </a:t>
            </a:r>
            <a:r>
              <a:rPr sz="1100" dirty="0" err="1">
                <a:solidFill>
                  <a:srgbClr val="1C1C1C"/>
                </a:solidFill>
              </a:rPr>
              <a:t>필요해질</a:t>
            </a:r>
            <a:r>
              <a:rPr sz="1100" dirty="0">
                <a:solidFill>
                  <a:srgbClr val="1C1C1C"/>
                </a:solidFill>
              </a:rPr>
              <a:t> 수 </a:t>
            </a:r>
            <a:r>
              <a:rPr sz="1100" dirty="0" err="1">
                <a:solidFill>
                  <a:srgbClr val="1C1C1C"/>
                </a:solidFill>
              </a:rPr>
              <a:t>있음</a:t>
            </a:r>
            <a:endParaRPr sz="1100" dirty="0">
              <a:solidFill>
                <a:srgbClr val="1C1C1C"/>
              </a:solidFill>
            </a:endParaRPr>
          </a:p>
          <a:p>
            <a:pPr>
              <a:spcBef>
                <a:spcPts val="500"/>
              </a:spcBef>
            </a:pPr>
            <a:endParaRPr sz="1100" dirty="0">
              <a:solidFill>
                <a:srgbClr val="1C1C1C"/>
              </a:solidFill>
            </a:endParaRPr>
          </a:p>
          <a:p>
            <a:pPr>
              <a:spcBef>
                <a:spcPts val="500"/>
              </a:spcBef>
            </a:pPr>
            <a:r>
              <a:rPr sz="1250" b="1" dirty="0" err="1">
                <a:solidFill>
                  <a:srgbClr val="1C1C1C"/>
                </a:solidFill>
              </a:rPr>
              <a:t>expire_gold_snapshots</a:t>
            </a:r>
            <a:endParaRPr sz="1250" b="1" dirty="0">
              <a:solidFill>
                <a:srgbClr val="1C1C1C"/>
              </a:solidFill>
            </a:endParaRPr>
          </a:p>
          <a:p>
            <a:pPr>
              <a:spcBef>
                <a:spcPts val="200"/>
              </a:spcBef>
            </a:pPr>
            <a:r>
              <a:rPr sz="1100" dirty="0">
                <a:solidFill>
                  <a:srgbClr val="1C1C1C"/>
                </a:solidFill>
              </a:rPr>
              <a:t>   </a:t>
            </a:r>
            <a:r>
              <a:rPr lang="ko-KR" altLang="en-US" sz="1100" dirty="0">
                <a:solidFill>
                  <a:srgbClr val="1C1C1C"/>
                </a:solidFill>
              </a:rPr>
              <a:t>스냅샷 정리</a:t>
            </a:r>
            <a:endParaRPr lang="en-US" altLang="ko-KR" sz="1100" dirty="0">
              <a:solidFill>
                <a:srgbClr val="1C1C1C"/>
              </a:solidFill>
            </a:endParaRPr>
          </a:p>
          <a:p>
            <a:pPr>
              <a:spcBef>
                <a:spcPts val="200"/>
              </a:spcBef>
            </a:pPr>
            <a:endParaRPr sz="1100" dirty="0">
              <a:solidFill>
                <a:srgbClr val="1C1C1C"/>
              </a:solidFill>
            </a:endParaRPr>
          </a:p>
          <a:p>
            <a:pPr>
              <a:spcBef>
                <a:spcPts val="500"/>
              </a:spcBef>
            </a:pPr>
            <a:r>
              <a:rPr sz="1250" b="1" dirty="0" err="1">
                <a:solidFill>
                  <a:srgbClr val="1C1C1C"/>
                </a:solidFill>
              </a:rPr>
              <a:t>remove_gold_orphans</a:t>
            </a:r>
            <a:endParaRPr sz="1250" b="1" dirty="0">
              <a:solidFill>
                <a:srgbClr val="1C1C1C"/>
              </a:solidFill>
            </a:endParaRPr>
          </a:p>
          <a:p>
            <a:pPr>
              <a:spcBef>
                <a:spcPts val="200"/>
              </a:spcBef>
            </a:pPr>
            <a:r>
              <a:rPr sz="1100" dirty="0">
                <a:solidFill>
                  <a:srgbClr val="1C1C1C"/>
                </a:solidFill>
              </a:rPr>
              <a:t>   </a:t>
            </a:r>
            <a:r>
              <a:rPr lang="ko-KR" altLang="en-US" sz="1100" dirty="0">
                <a:solidFill>
                  <a:srgbClr val="1C1C1C"/>
                </a:solidFill>
              </a:rPr>
              <a:t>고아파일 정리</a:t>
            </a:r>
            <a:endParaRPr lang="en-US" altLang="ko-KR" sz="1100" dirty="0">
              <a:solidFill>
                <a:srgbClr val="1C1C1C"/>
              </a:solidFill>
            </a:endParaRPr>
          </a:p>
          <a:p>
            <a:pPr>
              <a:spcBef>
                <a:spcPts val="200"/>
              </a:spcBef>
            </a:pPr>
            <a:endParaRPr sz="1100" dirty="0">
              <a:solidFill>
                <a:srgbClr val="1C1C1C"/>
              </a:solidFill>
            </a:endParaRPr>
          </a:p>
          <a:p>
            <a:pPr>
              <a:spcBef>
                <a:spcPts val="500"/>
              </a:spcBef>
            </a:pPr>
            <a:r>
              <a:rPr sz="1250" b="1" dirty="0" err="1">
                <a:solidFill>
                  <a:srgbClr val="1C1C1C"/>
                </a:solidFill>
              </a:rPr>
              <a:t>metadata.json</a:t>
            </a:r>
            <a:r>
              <a:rPr sz="1250" b="1" dirty="0">
                <a:solidFill>
                  <a:srgbClr val="1C1C1C"/>
                </a:solidFill>
              </a:rPr>
              <a:t> </a:t>
            </a:r>
            <a:r>
              <a:rPr sz="1250" b="1" dirty="0" err="1">
                <a:solidFill>
                  <a:srgbClr val="1C1C1C"/>
                </a:solidFill>
              </a:rPr>
              <a:t>보존</a:t>
            </a:r>
            <a:r>
              <a:rPr sz="1250" b="1" dirty="0">
                <a:solidFill>
                  <a:srgbClr val="1C1C1C"/>
                </a:solidFill>
              </a:rPr>
              <a:t> </a:t>
            </a:r>
            <a:r>
              <a:rPr sz="1250" b="1" dirty="0" err="1">
                <a:solidFill>
                  <a:srgbClr val="1C1C1C"/>
                </a:solidFill>
              </a:rPr>
              <a:t>설정</a:t>
            </a:r>
            <a:endParaRPr sz="1250" b="1" dirty="0">
              <a:solidFill>
                <a:srgbClr val="1C1C1C"/>
              </a:solidFill>
            </a:endParaRPr>
          </a:p>
          <a:p>
            <a:pPr>
              <a:spcBef>
                <a:spcPts val="200"/>
              </a:spcBef>
            </a:pPr>
            <a:r>
              <a:rPr sz="1100" dirty="0">
                <a:solidFill>
                  <a:srgbClr val="1C1C1C"/>
                </a:solidFill>
              </a:rPr>
              <a:t>  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4413186"/>
            <a:ext cx="5760720" cy="34747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26480" y="4428845"/>
            <a:ext cx="50901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월간 유지보수 (매월 1일)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4754377"/>
            <a:ext cx="5577840" cy="8694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50" b="1" dirty="0" err="1">
                <a:solidFill>
                  <a:srgbClr val="1C1C1C"/>
                </a:solidFill>
              </a:rPr>
              <a:t>rewrite_manifests</a:t>
            </a:r>
            <a:r>
              <a:rPr sz="1250" b="1" dirty="0">
                <a:solidFill>
                  <a:srgbClr val="1C1C1C"/>
                </a:solidFill>
              </a:rPr>
              <a:t> (Silver + Gold </a:t>
            </a:r>
            <a:r>
              <a:rPr sz="1250" b="1" dirty="0" err="1">
                <a:solidFill>
                  <a:srgbClr val="1C1C1C"/>
                </a:solidFill>
              </a:rPr>
              <a:t>병렬</a:t>
            </a:r>
            <a:r>
              <a:rPr sz="1250" b="1" dirty="0">
                <a:solidFill>
                  <a:srgbClr val="1C1C1C"/>
                </a:solidFill>
              </a:rPr>
              <a:t>)</a:t>
            </a:r>
          </a:p>
          <a:p>
            <a:pPr>
              <a:spcBef>
                <a:spcPts val="200"/>
              </a:spcBef>
            </a:pPr>
            <a:r>
              <a:rPr sz="1100" dirty="0">
                <a:solidFill>
                  <a:srgbClr val="1C1C1C"/>
                </a:solidFill>
              </a:rPr>
              <a:t>   </a:t>
            </a:r>
            <a:r>
              <a:rPr sz="1100" dirty="0" err="1">
                <a:solidFill>
                  <a:srgbClr val="1C1C1C"/>
                </a:solidFill>
              </a:rPr>
              <a:t>스냅샷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누적으로</a:t>
            </a:r>
            <a:r>
              <a:rPr sz="1100" dirty="0">
                <a:solidFill>
                  <a:srgbClr val="1C1C1C"/>
                </a:solidFill>
              </a:rPr>
              <a:t> manifest </a:t>
            </a:r>
            <a:r>
              <a:rPr sz="1100" dirty="0" err="1">
                <a:solidFill>
                  <a:srgbClr val="1C1C1C"/>
                </a:solidFill>
              </a:rPr>
              <a:t>파편화</a:t>
            </a:r>
            <a:r>
              <a:rPr sz="1100" dirty="0">
                <a:solidFill>
                  <a:srgbClr val="1C1C1C"/>
                </a:solidFill>
              </a:rPr>
              <a:t> → </a:t>
            </a:r>
            <a:r>
              <a:rPr sz="1100" dirty="0" err="1">
                <a:solidFill>
                  <a:srgbClr val="1C1C1C"/>
                </a:solidFill>
              </a:rPr>
              <a:t>소수의</a:t>
            </a:r>
            <a:r>
              <a:rPr sz="1100" dirty="0">
                <a:solidFill>
                  <a:srgbClr val="1C1C1C"/>
                </a:solidFill>
              </a:rPr>
              <a:t> 큰 </a:t>
            </a:r>
            <a:r>
              <a:rPr sz="1100" dirty="0" err="1">
                <a:solidFill>
                  <a:srgbClr val="1C1C1C"/>
                </a:solidFill>
              </a:rPr>
              <a:t>파일로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재편성</a:t>
            </a:r>
            <a:endParaRPr sz="1100" dirty="0">
              <a:solidFill>
                <a:srgbClr val="1C1C1C"/>
              </a:solidFill>
            </a:endParaRPr>
          </a:p>
          <a:p>
            <a:pPr>
              <a:spcBef>
                <a:spcPts val="200"/>
              </a:spcBef>
            </a:pPr>
            <a:r>
              <a:rPr sz="1100" dirty="0">
                <a:solidFill>
                  <a:srgbClr val="1C1C1C"/>
                </a:solidFill>
              </a:rPr>
              <a:t>   </a:t>
            </a:r>
            <a:r>
              <a:rPr sz="1100" dirty="0" err="1">
                <a:solidFill>
                  <a:srgbClr val="1C1C1C"/>
                </a:solidFill>
              </a:rPr>
              <a:t>데이터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파일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변경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없이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쿼리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플래닝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오버헤드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감소</a:t>
            </a:r>
            <a:endParaRPr sz="1100" dirty="0">
              <a:solidFill>
                <a:srgbClr val="1C1C1C"/>
              </a:solidFill>
            </a:endParaRPr>
          </a:p>
          <a:p>
            <a:pPr>
              <a:spcBef>
                <a:spcPts val="200"/>
              </a:spcBef>
            </a:pPr>
            <a:r>
              <a:rPr sz="1100" dirty="0">
                <a:solidFill>
                  <a:srgbClr val="1C1C1C"/>
                </a:solidFill>
              </a:rPr>
              <a:t>   </a:t>
            </a:r>
            <a:r>
              <a:rPr sz="1100" dirty="0" err="1">
                <a:solidFill>
                  <a:srgbClr val="1C1C1C"/>
                </a:solidFill>
              </a:rPr>
              <a:t>현재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규모</a:t>
            </a:r>
            <a:r>
              <a:rPr sz="1100" dirty="0">
                <a:solidFill>
                  <a:srgbClr val="1C1C1C"/>
                </a:solidFill>
              </a:rPr>
              <a:t>(일 </a:t>
            </a:r>
            <a:r>
              <a:rPr sz="1100" dirty="0" err="1">
                <a:solidFill>
                  <a:srgbClr val="1C1C1C"/>
                </a:solidFill>
              </a:rPr>
              <a:t>파티션</a:t>
            </a:r>
            <a:r>
              <a:rPr sz="1100" dirty="0">
                <a:solidFill>
                  <a:srgbClr val="1C1C1C"/>
                </a:solidFill>
              </a:rPr>
              <a:t> 1개)</a:t>
            </a:r>
            <a:r>
              <a:rPr sz="1100" dirty="0" err="1">
                <a:solidFill>
                  <a:srgbClr val="1C1C1C"/>
                </a:solidFill>
              </a:rPr>
              <a:t>에서는</a:t>
            </a:r>
            <a:r>
              <a:rPr sz="1100" dirty="0">
                <a:solidFill>
                  <a:srgbClr val="1C1C1C"/>
                </a:solidFill>
              </a:rPr>
              <a:t> 월 1회로 </a:t>
            </a:r>
            <a:r>
              <a:rPr sz="1100" dirty="0" err="1">
                <a:solidFill>
                  <a:srgbClr val="1C1C1C"/>
                </a:solidFill>
              </a:rPr>
              <a:t>충분</a:t>
            </a:r>
            <a:endParaRPr sz="1100" dirty="0">
              <a:solidFill>
                <a:srgbClr val="1C1C1C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74320" y="5818843"/>
            <a:ext cx="11612880" cy="34747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" y="5818843"/>
            <a:ext cx="101955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MERGE와 Compaction 충돌 방지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166315"/>
            <a:ext cx="11430000" cy="541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50" dirty="0" err="1">
                <a:solidFill>
                  <a:srgbClr val="1C1C1C"/>
                </a:solidFill>
              </a:rPr>
              <a:t>ExternalTaskSensor</a:t>
            </a:r>
            <a:r>
              <a:rPr sz="1250" dirty="0">
                <a:solidFill>
                  <a:srgbClr val="1C1C1C"/>
                </a:solidFill>
              </a:rPr>
              <a:t>: </a:t>
            </a:r>
            <a:r>
              <a:rPr sz="1250" b="1" dirty="0">
                <a:solidFill>
                  <a:srgbClr val="1C1C1C"/>
                </a:solidFill>
              </a:rPr>
              <a:t>medallion DAG </a:t>
            </a:r>
            <a:r>
              <a:rPr sz="1250" b="1" dirty="0" err="1">
                <a:solidFill>
                  <a:srgbClr val="1C1C1C"/>
                </a:solidFill>
              </a:rPr>
              <a:t>gold_batch</a:t>
            </a:r>
            <a:r>
              <a:rPr sz="1250" b="1" dirty="0">
                <a:solidFill>
                  <a:srgbClr val="1C1C1C"/>
                </a:solidFill>
              </a:rPr>
              <a:t> SUCCESS </a:t>
            </a:r>
            <a:r>
              <a:rPr sz="1250" b="1" dirty="0" err="1">
                <a:solidFill>
                  <a:srgbClr val="1C1C1C"/>
                </a:solidFill>
              </a:rPr>
              <a:t>감지</a:t>
            </a:r>
            <a:r>
              <a:rPr sz="1250" b="1" dirty="0">
                <a:solidFill>
                  <a:srgbClr val="1C1C1C"/>
                </a:solidFill>
              </a:rPr>
              <a:t> 후 maintenance </a:t>
            </a:r>
            <a:r>
              <a:rPr sz="1250" b="1" dirty="0" err="1">
                <a:solidFill>
                  <a:srgbClr val="1C1C1C"/>
                </a:solidFill>
              </a:rPr>
              <a:t>시작</a:t>
            </a:r>
            <a:endParaRPr sz="1250" b="1" dirty="0">
              <a:solidFill>
                <a:srgbClr val="1C1C1C"/>
              </a:solidFill>
            </a:endParaRPr>
          </a:p>
          <a:p>
            <a:pPr>
              <a:spcBef>
                <a:spcPts val="500"/>
              </a:spcBef>
            </a:pPr>
            <a:r>
              <a:rPr sz="1250" dirty="0">
                <a:solidFill>
                  <a:srgbClr val="1C1C1C"/>
                </a:solidFill>
              </a:rPr>
              <a:t>→ Silver/Gold MERGE </a:t>
            </a:r>
            <a:r>
              <a:rPr sz="1250" dirty="0" err="1">
                <a:solidFill>
                  <a:srgbClr val="1C1C1C"/>
                </a:solidFill>
              </a:rPr>
              <a:t>완전히</a:t>
            </a:r>
            <a:r>
              <a:rPr sz="1250" dirty="0">
                <a:solidFill>
                  <a:srgbClr val="1C1C1C"/>
                </a:solidFill>
              </a:rPr>
              <a:t> </a:t>
            </a:r>
            <a:r>
              <a:rPr sz="1250" dirty="0" err="1">
                <a:solidFill>
                  <a:srgbClr val="1C1C1C"/>
                </a:solidFill>
              </a:rPr>
              <a:t>끝난</a:t>
            </a:r>
            <a:r>
              <a:rPr sz="1250" dirty="0">
                <a:solidFill>
                  <a:srgbClr val="1C1C1C"/>
                </a:solidFill>
              </a:rPr>
              <a:t> 뒤 Compaction </a:t>
            </a:r>
            <a:r>
              <a:rPr sz="1250" dirty="0" err="1">
                <a:solidFill>
                  <a:srgbClr val="1C1C1C"/>
                </a:solidFill>
              </a:rPr>
              <a:t>실행</a:t>
            </a:r>
            <a:r>
              <a:rPr sz="1250" dirty="0">
                <a:solidFill>
                  <a:srgbClr val="1C1C1C"/>
                </a:solidFill>
              </a:rPr>
              <a:t> → Iceberg </a:t>
            </a:r>
            <a:r>
              <a:rPr sz="1250" dirty="0" err="1">
                <a:solidFill>
                  <a:srgbClr val="1C1C1C"/>
                </a:solidFill>
              </a:rPr>
              <a:t>낙관적</a:t>
            </a:r>
            <a:r>
              <a:rPr sz="1250" dirty="0">
                <a:solidFill>
                  <a:srgbClr val="1C1C1C"/>
                </a:solidFill>
              </a:rPr>
              <a:t> </a:t>
            </a:r>
            <a:r>
              <a:rPr sz="1250" dirty="0" err="1">
                <a:solidFill>
                  <a:srgbClr val="1C1C1C"/>
                </a:solidFill>
              </a:rPr>
              <a:t>잠금</a:t>
            </a:r>
            <a:r>
              <a:rPr sz="1250" dirty="0">
                <a:solidFill>
                  <a:srgbClr val="1C1C1C"/>
                </a:solidFill>
              </a:rPr>
              <a:t> </a:t>
            </a:r>
            <a:r>
              <a:rPr sz="1250" dirty="0" err="1">
                <a:solidFill>
                  <a:srgbClr val="1C1C1C"/>
                </a:solidFill>
              </a:rPr>
              <a:t>충돌</a:t>
            </a:r>
            <a:r>
              <a:rPr sz="1250" dirty="0">
                <a:solidFill>
                  <a:srgbClr val="1C1C1C"/>
                </a:solidFill>
              </a:rPr>
              <a:t> </a:t>
            </a:r>
            <a:r>
              <a:rPr sz="1250" dirty="0" err="1">
                <a:solidFill>
                  <a:srgbClr val="1C1C1C"/>
                </a:solidFill>
              </a:rPr>
              <a:t>없음</a:t>
            </a:r>
            <a:endParaRPr sz="1250" dirty="0">
              <a:solidFill>
                <a:srgbClr val="1C1C1C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Superset 대시보드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CCDD"/>
                </a:solidFill>
              </a:rPr>
              <a:t>Gold → 비즈니스 KPI  |  Silver → 운영 모니터링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7315200" cy="347472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7223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비즈니스 대시보드 — Gold 기반 (Campaign팀/BI팀)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36192"/>
            <a:ext cx="713232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dirty="0" err="1">
                <a:solidFill>
                  <a:srgbClr val="1C1C1C"/>
                </a:solidFill>
              </a:rPr>
              <a:t>데이터</a:t>
            </a:r>
            <a:r>
              <a:rPr sz="1300" dirty="0">
                <a:solidFill>
                  <a:srgbClr val="1C1C1C"/>
                </a:solidFill>
              </a:rPr>
              <a:t> </a:t>
            </a:r>
            <a:r>
              <a:rPr sz="1300" dirty="0" err="1">
                <a:solidFill>
                  <a:srgbClr val="1C1C1C"/>
                </a:solidFill>
              </a:rPr>
              <a:t>소스</a:t>
            </a:r>
            <a:r>
              <a:rPr sz="1300" dirty="0">
                <a:solidFill>
                  <a:srgbClr val="1C1C1C"/>
                </a:solidFill>
              </a:rPr>
              <a:t>: Gold </a:t>
            </a:r>
            <a:r>
              <a:rPr sz="1300" dirty="0" err="1">
                <a:solidFill>
                  <a:srgbClr val="1C1C1C"/>
                </a:solidFill>
              </a:rPr>
              <a:t>campaign_summary</a:t>
            </a:r>
            <a:r>
              <a:rPr sz="1300" dirty="0">
                <a:solidFill>
                  <a:srgbClr val="1C1C1C"/>
                </a:solidFill>
              </a:rPr>
              <a:t> </a:t>
            </a:r>
            <a:endParaRPr lang="en-US" sz="1300" dirty="0">
              <a:solidFill>
                <a:srgbClr val="1C1C1C"/>
              </a:solidFill>
            </a:endParaRPr>
          </a:p>
          <a:p>
            <a:pPr>
              <a:spcBef>
                <a:spcPts val="500"/>
              </a:spcBef>
            </a:pPr>
            <a:r>
              <a:rPr sz="1300" dirty="0">
                <a:solidFill>
                  <a:srgbClr val="1C1C1C"/>
                </a:solidFill>
              </a:rPr>
              <a:t>(</a:t>
            </a:r>
            <a:r>
              <a:rPr sz="1300" dirty="0" err="1">
                <a:solidFill>
                  <a:srgbClr val="1C1C1C"/>
                </a:solidFill>
              </a:rPr>
              <a:t>집계</a:t>
            </a:r>
            <a:r>
              <a:rPr sz="1300" dirty="0">
                <a:solidFill>
                  <a:srgbClr val="1C1C1C"/>
                </a:solidFill>
              </a:rPr>
              <a:t> </a:t>
            </a:r>
            <a:r>
              <a:rPr sz="1300" dirty="0" err="1">
                <a:solidFill>
                  <a:srgbClr val="1C1C1C"/>
                </a:solidFill>
              </a:rPr>
              <a:t>테이블</a:t>
            </a:r>
            <a:r>
              <a:rPr sz="1300" dirty="0">
                <a:solidFill>
                  <a:srgbClr val="1C1C1C"/>
                </a:solidFill>
              </a:rPr>
              <a:t> → Athena </a:t>
            </a:r>
            <a:r>
              <a:rPr sz="1300" dirty="0" err="1">
                <a:solidFill>
                  <a:srgbClr val="1C1C1C"/>
                </a:solidFill>
              </a:rPr>
              <a:t>스캔</a:t>
            </a:r>
            <a:r>
              <a:rPr sz="1300" dirty="0">
                <a:solidFill>
                  <a:srgbClr val="1C1C1C"/>
                </a:solidFill>
              </a:rPr>
              <a:t> </a:t>
            </a:r>
            <a:r>
              <a:rPr sz="1300" dirty="0" err="1">
                <a:solidFill>
                  <a:srgbClr val="1C1C1C"/>
                </a:solidFill>
              </a:rPr>
              <a:t>비용</a:t>
            </a:r>
            <a:r>
              <a:rPr sz="1300" dirty="0">
                <a:solidFill>
                  <a:srgbClr val="1C1C1C"/>
                </a:solidFill>
              </a:rPr>
              <a:t> </a:t>
            </a:r>
            <a:r>
              <a:rPr sz="1300" dirty="0" err="1">
                <a:solidFill>
                  <a:srgbClr val="1C1C1C"/>
                </a:solidFill>
              </a:rPr>
              <a:t>낮음</a:t>
            </a:r>
            <a:r>
              <a:rPr sz="1300" dirty="0">
                <a:solidFill>
                  <a:srgbClr val="1C1C1C"/>
                </a:solidFill>
              </a:rPr>
              <a:t>)</a:t>
            </a:r>
          </a:p>
          <a:p>
            <a:pPr>
              <a:spcBef>
                <a:spcPts val="500"/>
              </a:spcBef>
            </a:pPr>
            <a:endParaRPr sz="1300" dirty="0">
              <a:solidFill>
                <a:srgbClr val="1C1C1C"/>
              </a:solidFill>
            </a:endParaRPr>
          </a:p>
          <a:p>
            <a:pPr>
              <a:spcBef>
                <a:spcPts val="500"/>
              </a:spcBef>
            </a:pPr>
            <a:r>
              <a:rPr sz="1300" dirty="0">
                <a:solidFill>
                  <a:srgbClr val="1C1C1C"/>
                </a:solidFill>
              </a:rPr>
              <a:t>business/01  30일 </a:t>
            </a:r>
            <a:r>
              <a:rPr sz="1300" dirty="0" err="1">
                <a:solidFill>
                  <a:srgbClr val="1C1C1C"/>
                </a:solidFill>
              </a:rPr>
              <a:t>캠페인별</a:t>
            </a:r>
            <a:r>
              <a:rPr sz="1300" dirty="0">
                <a:solidFill>
                  <a:srgbClr val="1C1C1C"/>
                </a:solidFill>
              </a:rPr>
              <a:t> KPI </a:t>
            </a:r>
            <a:r>
              <a:rPr sz="1300" dirty="0" err="1">
                <a:solidFill>
                  <a:srgbClr val="1C1C1C"/>
                </a:solidFill>
              </a:rPr>
              <a:t>추이</a:t>
            </a:r>
            <a:endParaRPr sz="1300" dirty="0">
              <a:solidFill>
                <a:srgbClr val="1C1C1C"/>
              </a:solidFill>
            </a:endParaRPr>
          </a:p>
          <a:p>
            <a:pPr>
              <a:spcBef>
                <a:spcPts val="200"/>
              </a:spcBef>
            </a:pPr>
            <a:r>
              <a:rPr sz="1150" dirty="0">
                <a:solidFill>
                  <a:srgbClr val="1C1C1C"/>
                </a:solidFill>
              </a:rPr>
              <a:t>   CTR / CVR / CPC / CPA / CPM / frequency</a:t>
            </a:r>
          </a:p>
          <a:p>
            <a:pPr>
              <a:spcBef>
                <a:spcPts val="200"/>
              </a:spcBef>
            </a:pPr>
            <a:r>
              <a:rPr sz="1150" dirty="0">
                <a:solidFill>
                  <a:srgbClr val="1C1C1C"/>
                </a:solidFill>
              </a:rPr>
              <a:t>   click-through conversion vs view-through conversion</a:t>
            </a:r>
          </a:p>
          <a:p>
            <a:pPr>
              <a:spcBef>
                <a:spcPts val="500"/>
              </a:spcBef>
            </a:pPr>
            <a:endParaRPr sz="1150" dirty="0">
              <a:solidFill>
                <a:srgbClr val="1C1C1C"/>
              </a:solidFill>
            </a:endParaRPr>
          </a:p>
          <a:p>
            <a:pPr>
              <a:spcBef>
                <a:spcPts val="500"/>
              </a:spcBef>
            </a:pPr>
            <a:r>
              <a:rPr sz="1300" dirty="0">
                <a:solidFill>
                  <a:srgbClr val="1C1C1C"/>
                </a:solidFill>
              </a:rPr>
              <a:t>business/02  Conversion </a:t>
            </a:r>
            <a:r>
              <a:rPr sz="1300" dirty="0" err="1">
                <a:solidFill>
                  <a:srgbClr val="1C1C1C"/>
                </a:solidFill>
              </a:rPr>
              <a:t>지연</a:t>
            </a:r>
            <a:r>
              <a:rPr sz="1300" dirty="0">
                <a:solidFill>
                  <a:srgbClr val="1C1C1C"/>
                </a:solidFill>
              </a:rPr>
              <a:t> </a:t>
            </a:r>
            <a:r>
              <a:rPr sz="1300" dirty="0" err="1">
                <a:solidFill>
                  <a:srgbClr val="1C1C1C"/>
                </a:solidFill>
              </a:rPr>
              <a:t>분포</a:t>
            </a:r>
            <a:r>
              <a:rPr sz="1300" dirty="0">
                <a:solidFill>
                  <a:srgbClr val="1C1C1C"/>
                </a:solidFill>
              </a:rPr>
              <a:t> (</a:t>
            </a:r>
            <a:r>
              <a:rPr sz="1300" dirty="0" err="1">
                <a:solidFill>
                  <a:srgbClr val="1C1C1C"/>
                </a:solidFill>
              </a:rPr>
              <a:t>주간</a:t>
            </a:r>
            <a:r>
              <a:rPr sz="1300" dirty="0">
                <a:solidFill>
                  <a:srgbClr val="1C1C1C"/>
                </a:solidFill>
              </a:rPr>
              <a:t> refresh)</a:t>
            </a:r>
          </a:p>
          <a:p>
            <a:pPr>
              <a:spcBef>
                <a:spcPts val="200"/>
              </a:spcBef>
            </a:pPr>
            <a:r>
              <a:rPr sz="1150" dirty="0">
                <a:solidFill>
                  <a:srgbClr val="1C1C1C"/>
                </a:solidFill>
              </a:rPr>
              <a:t>   p25 / p50 / p75 / p90 / p95</a:t>
            </a:r>
          </a:p>
          <a:p>
            <a:pPr>
              <a:spcBef>
                <a:spcPts val="200"/>
              </a:spcBef>
            </a:pPr>
            <a:r>
              <a:rPr sz="1150" dirty="0">
                <a:solidFill>
                  <a:srgbClr val="1C1C1C"/>
                </a:solidFill>
              </a:rPr>
              <a:t>   Attribution window(30일) </a:t>
            </a:r>
            <a:r>
              <a:rPr sz="1150" dirty="0" err="1">
                <a:solidFill>
                  <a:srgbClr val="1C1C1C"/>
                </a:solidFill>
              </a:rPr>
              <a:t>적정성</a:t>
            </a:r>
            <a:r>
              <a:rPr sz="1150" dirty="0">
                <a:solidFill>
                  <a:srgbClr val="1C1C1C"/>
                </a:solidFill>
              </a:rPr>
              <a:t> </a:t>
            </a:r>
            <a:r>
              <a:rPr sz="1150" dirty="0" err="1">
                <a:solidFill>
                  <a:srgbClr val="1C1C1C"/>
                </a:solidFill>
              </a:rPr>
              <a:t>검증</a:t>
            </a:r>
            <a:r>
              <a:rPr sz="1150" dirty="0">
                <a:solidFill>
                  <a:srgbClr val="1C1C1C"/>
                </a:solidFill>
              </a:rPr>
              <a:t> </a:t>
            </a:r>
            <a:r>
              <a:rPr sz="1150" dirty="0" err="1">
                <a:solidFill>
                  <a:srgbClr val="1C1C1C"/>
                </a:solidFill>
              </a:rPr>
              <a:t>지표</a:t>
            </a:r>
            <a:endParaRPr sz="1150" dirty="0">
              <a:solidFill>
                <a:srgbClr val="1C1C1C"/>
              </a:solidFill>
            </a:endParaRPr>
          </a:p>
          <a:p>
            <a:pPr>
              <a:spcBef>
                <a:spcPts val="500"/>
              </a:spcBef>
            </a:pPr>
            <a:endParaRPr sz="1150" dirty="0">
              <a:solidFill>
                <a:srgbClr val="1C1C1C"/>
              </a:solidFill>
            </a:endParaRPr>
          </a:p>
          <a:p>
            <a:pPr>
              <a:spcBef>
                <a:spcPts val="500"/>
              </a:spcBef>
            </a:pPr>
            <a:r>
              <a:rPr sz="1300" dirty="0">
                <a:solidFill>
                  <a:srgbClr val="1C1C1C"/>
                </a:solidFill>
              </a:rPr>
              <a:t>Superset Dataset </a:t>
            </a:r>
            <a:r>
              <a:rPr sz="1300" dirty="0" err="1">
                <a:solidFill>
                  <a:srgbClr val="1C1C1C"/>
                </a:solidFill>
              </a:rPr>
              <a:t>캐싱</a:t>
            </a:r>
            <a:r>
              <a:rPr sz="1300" dirty="0">
                <a:solidFill>
                  <a:srgbClr val="1C1C1C"/>
                </a:solidFill>
              </a:rPr>
              <a:t> (</a:t>
            </a:r>
            <a:r>
              <a:rPr sz="1300" dirty="0" err="1">
                <a:solidFill>
                  <a:srgbClr val="1C1C1C"/>
                </a:solidFill>
              </a:rPr>
              <a:t>미구현</a:t>
            </a:r>
            <a:r>
              <a:rPr sz="1300" dirty="0">
                <a:solidFill>
                  <a:srgbClr val="1C1C1C"/>
                </a:solidFill>
              </a:rPr>
              <a:t> — </a:t>
            </a:r>
            <a:r>
              <a:rPr sz="1300" dirty="0" err="1">
                <a:solidFill>
                  <a:srgbClr val="1C1C1C"/>
                </a:solidFill>
              </a:rPr>
              <a:t>적용</a:t>
            </a:r>
            <a:r>
              <a:rPr sz="1300" dirty="0">
                <a:solidFill>
                  <a:srgbClr val="1C1C1C"/>
                </a:solidFill>
              </a:rPr>
              <a:t> 시 </a:t>
            </a:r>
            <a:r>
              <a:rPr sz="1300" dirty="0" err="1">
                <a:solidFill>
                  <a:srgbClr val="1C1C1C"/>
                </a:solidFill>
              </a:rPr>
              <a:t>비용</a:t>
            </a:r>
            <a:r>
              <a:rPr sz="1300" dirty="0">
                <a:solidFill>
                  <a:srgbClr val="1C1C1C"/>
                </a:solidFill>
              </a:rPr>
              <a:t> </a:t>
            </a:r>
            <a:r>
              <a:rPr sz="1300" dirty="0" err="1">
                <a:solidFill>
                  <a:srgbClr val="1C1C1C"/>
                </a:solidFill>
              </a:rPr>
              <a:t>절감</a:t>
            </a:r>
            <a:r>
              <a:rPr sz="1300" dirty="0">
                <a:solidFill>
                  <a:srgbClr val="1C1C1C"/>
                </a:solidFill>
              </a:rPr>
              <a:t> </a:t>
            </a:r>
            <a:r>
              <a:rPr sz="1300" dirty="0" err="1">
                <a:solidFill>
                  <a:srgbClr val="1C1C1C"/>
                </a:solidFill>
              </a:rPr>
              <a:t>가능</a:t>
            </a:r>
            <a:r>
              <a:rPr sz="1300" dirty="0">
                <a:solidFill>
                  <a:srgbClr val="1C1C1C"/>
                </a:solidFill>
              </a:rPr>
              <a:t>)</a:t>
            </a:r>
          </a:p>
          <a:p>
            <a:pPr>
              <a:spcBef>
                <a:spcPts val="200"/>
              </a:spcBef>
            </a:pPr>
            <a:r>
              <a:rPr sz="1150" dirty="0">
                <a:solidFill>
                  <a:srgbClr val="1C1C1C"/>
                </a:solidFill>
              </a:rPr>
              <a:t>   24h </a:t>
            </a:r>
            <a:r>
              <a:rPr sz="1150" dirty="0" err="1">
                <a:solidFill>
                  <a:srgbClr val="1C1C1C"/>
                </a:solidFill>
              </a:rPr>
              <a:t>캐싱</a:t>
            </a:r>
            <a:r>
              <a:rPr sz="1150" dirty="0">
                <a:solidFill>
                  <a:srgbClr val="1C1C1C"/>
                </a:solidFill>
              </a:rPr>
              <a:t> </a:t>
            </a:r>
            <a:r>
              <a:rPr sz="1150" dirty="0" err="1">
                <a:solidFill>
                  <a:srgbClr val="1C1C1C"/>
                </a:solidFill>
              </a:rPr>
              <a:t>설정</a:t>
            </a:r>
            <a:r>
              <a:rPr sz="1150" dirty="0">
                <a:solidFill>
                  <a:srgbClr val="1C1C1C"/>
                </a:solidFill>
              </a:rPr>
              <a:t> 시 </a:t>
            </a:r>
            <a:r>
              <a:rPr sz="1150" dirty="0" err="1">
                <a:solidFill>
                  <a:srgbClr val="1C1C1C"/>
                </a:solidFill>
              </a:rPr>
              <a:t>하루</a:t>
            </a:r>
            <a:r>
              <a:rPr sz="1150" dirty="0">
                <a:solidFill>
                  <a:srgbClr val="1C1C1C"/>
                </a:solidFill>
              </a:rPr>
              <a:t> 1번 Athena </a:t>
            </a:r>
            <a:r>
              <a:rPr sz="1150" dirty="0" err="1">
                <a:solidFill>
                  <a:srgbClr val="1C1C1C"/>
                </a:solidFill>
              </a:rPr>
              <a:t>스캔으로</a:t>
            </a:r>
            <a:r>
              <a:rPr sz="1150" dirty="0">
                <a:solidFill>
                  <a:srgbClr val="1C1C1C"/>
                </a:solidFill>
              </a:rPr>
              <a:t> </a:t>
            </a:r>
            <a:r>
              <a:rPr sz="1150" dirty="0" err="1">
                <a:solidFill>
                  <a:srgbClr val="1C1C1C"/>
                </a:solidFill>
              </a:rPr>
              <a:t>여러</a:t>
            </a:r>
            <a:r>
              <a:rPr sz="1150" dirty="0">
                <a:solidFill>
                  <a:srgbClr val="1C1C1C"/>
                </a:solidFill>
              </a:rPr>
              <a:t> 팀 </a:t>
            </a:r>
            <a:r>
              <a:rPr sz="1150" dirty="0" err="1">
                <a:solidFill>
                  <a:srgbClr val="1C1C1C"/>
                </a:solidFill>
              </a:rPr>
              <a:t>조회</a:t>
            </a:r>
            <a:r>
              <a:rPr sz="1150" dirty="0">
                <a:solidFill>
                  <a:srgbClr val="1C1C1C"/>
                </a:solidFill>
              </a:rPr>
              <a:t> </a:t>
            </a:r>
            <a:r>
              <a:rPr sz="1150" dirty="0" err="1">
                <a:solidFill>
                  <a:srgbClr val="1C1C1C"/>
                </a:solidFill>
              </a:rPr>
              <a:t>커버</a:t>
            </a:r>
            <a:endParaRPr sz="1150" dirty="0">
              <a:solidFill>
                <a:srgbClr val="1C1C1C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74320" y="5166360"/>
            <a:ext cx="7315200" cy="34747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5166360"/>
            <a:ext cx="7223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운영 대시보드 — Silver 기반 (DE용)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559552"/>
            <a:ext cx="7132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1C1C1C"/>
                </a:solidFill>
              </a:rPr>
              <a:t>Silver를 데이터 소스로 사용 — 파이프라인 정상 동작 여부 확인 전용</a:t>
            </a:r>
          </a:p>
          <a:p>
            <a:pPr>
              <a:spcBef>
                <a:spcPts val="200"/>
              </a:spcBef>
            </a:pPr>
            <a:r>
              <a:rPr sz="1150">
                <a:solidFill>
                  <a:srgbClr val="1C1C1C"/>
                </a:solidFill>
              </a:rPr>
              <a:t>   일별 볼륨 추이 / attribution 커버리지 / 단계별 파이프라인 지연 추이 (p50)</a:t>
            </a:r>
          </a:p>
          <a:p>
            <a:pPr>
              <a:spcBef>
                <a:spcPts val="200"/>
              </a:spcBef>
            </a:pPr>
            <a:r>
              <a:rPr sz="1150">
                <a:solidFill>
                  <a:srgbClr val="1C1C1C"/>
                </a:solidFill>
              </a:rPr>
              <a:t>   운영 이상 신호(급증/급감/attribution 0%)를 시각적으로 모니터링</a:t>
            </a:r>
          </a:p>
        </p:txBody>
      </p:sp>
      <p:pic>
        <p:nvPicPr>
          <p:cNvPr id="12" name="Picture 11" descr="대시보드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05840"/>
            <a:ext cx="7277109" cy="2808964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F505E1C7-394F-92E0-3FCF-E02CF9E656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8514" y="3084004"/>
            <a:ext cx="4628092" cy="366426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 err="1">
                <a:solidFill>
                  <a:srgbClr val="FFFFFF"/>
                </a:solidFill>
              </a:rPr>
              <a:t>회고</a:t>
            </a:r>
            <a:endParaRPr sz="2600" b="1" i="0" dirty="0">
              <a:solidFill>
                <a:srgbClr val="FFFFFF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5577840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설계 한계 — 고려하지 못한 것들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36192"/>
            <a:ext cx="5394960" cy="4919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 b="1" dirty="0" err="1">
                <a:solidFill>
                  <a:srgbClr val="1C1C1C"/>
                </a:solidFill>
              </a:rPr>
              <a:t>인프라</a:t>
            </a:r>
            <a:r>
              <a:rPr sz="1200" b="1" dirty="0">
                <a:solidFill>
                  <a:srgbClr val="1C1C1C"/>
                </a:solidFill>
              </a:rPr>
              <a:t> HA </a:t>
            </a:r>
            <a:r>
              <a:rPr sz="1200" b="1" dirty="0" err="1">
                <a:solidFill>
                  <a:srgbClr val="1C1C1C"/>
                </a:solidFill>
              </a:rPr>
              <a:t>미고려</a:t>
            </a:r>
            <a:endParaRPr sz="1200" b="1" dirty="0">
              <a:solidFill>
                <a:srgbClr val="1C1C1C"/>
              </a:solidFill>
            </a:endParaRPr>
          </a:p>
          <a:p>
            <a:pPr>
              <a:spcBef>
                <a:spcPts val="200"/>
              </a:spcBef>
            </a:pPr>
            <a:r>
              <a:rPr sz="1100" dirty="0">
                <a:solidFill>
                  <a:srgbClr val="1C1C1C"/>
                </a:solidFill>
              </a:rPr>
              <a:t>   Kafka </a:t>
            </a:r>
            <a:r>
              <a:rPr sz="1100" dirty="0" err="1">
                <a:solidFill>
                  <a:srgbClr val="1C1C1C"/>
                </a:solidFill>
              </a:rPr>
              <a:t>단일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브로커</a:t>
            </a:r>
            <a:r>
              <a:rPr sz="1100" dirty="0">
                <a:solidFill>
                  <a:srgbClr val="1C1C1C"/>
                </a:solidFill>
              </a:rPr>
              <a:t> — </a:t>
            </a:r>
            <a:r>
              <a:rPr sz="1100" dirty="0" err="1">
                <a:solidFill>
                  <a:srgbClr val="1C1C1C"/>
                </a:solidFill>
              </a:rPr>
              <a:t>장애</a:t>
            </a:r>
            <a:r>
              <a:rPr sz="1100" dirty="0">
                <a:solidFill>
                  <a:srgbClr val="1C1C1C"/>
                </a:solidFill>
              </a:rPr>
              <a:t> 시 </a:t>
            </a:r>
            <a:r>
              <a:rPr sz="1100" dirty="0" err="1">
                <a:solidFill>
                  <a:srgbClr val="1C1C1C"/>
                </a:solidFill>
              </a:rPr>
              <a:t>메시지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손실</a:t>
            </a:r>
            <a:endParaRPr sz="1100" dirty="0">
              <a:solidFill>
                <a:srgbClr val="1C1C1C"/>
              </a:solidFill>
            </a:endParaRPr>
          </a:p>
          <a:p>
            <a:pPr>
              <a:spcBef>
                <a:spcPts val="200"/>
              </a:spcBef>
            </a:pPr>
            <a:r>
              <a:rPr sz="1100" dirty="0">
                <a:solidFill>
                  <a:srgbClr val="1C1C1C"/>
                </a:solidFill>
              </a:rPr>
              <a:t>   Spark </a:t>
            </a:r>
            <a:r>
              <a:rPr sz="1100" dirty="0" err="1">
                <a:solidFill>
                  <a:srgbClr val="1C1C1C"/>
                </a:solidFill>
              </a:rPr>
              <a:t>Worker가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단일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물리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머신</a:t>
            </a:r>
            <a:r>
              <a:rPr sz="1100" dirty="0">
                <a:solidFill>
                  <a:srgbClr val="1C1C1C"/>
                </a:solidFill>
              </a:rPr>
              <a:t> — </a:t>
            </a:r>
            <a:r>
              <a:rPr sz="1100" dirty="0" err="1">
                <a:solidFill>
                  <a:srgbClr val="1C1C1C"/>
                </a:solidFill>
              </a:rPr>
              <a:t>실제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분산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아님</a:t>
            </a:r>
            <a:endParaRPr sz="1100" dirty="0">
              <a:solidFill>
                <a:srgbClr val="1C1C1C"/>
              </a:solidFill>
            </a:endParaRPr>
          </a:p>
          <a:p>
            <a:pPr>
              <a:spcBef>
                <a:spcPts val="200"/>
              </a:spcBef>
            </a:pPr>
            <a:r>
              <a:rPr sz="1100" dirty="0">
                <a:solidFill>
                  <a:srgbClr val="1C1C1C"/>
                </a:solidFill>
              </a:rPr>
              <a:t>   </a:t>
            </a:r>
            <a:r>
              <a:rPr sz="1100" dirty="0" err="1">
                <a:solidFill>
                  <a:srgbClr val="1C1C1C"/>
                </a:solidFill>
              </a:rPr>
              <a:t>장애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복구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절차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미설계</a:t>
            </a:r>
            <a:endParaRPr sz="1100" dirty="0">
              <a:solidFill>
                <a:srgbClr val="1C1C1C"/>
              </a:solidFill>
            </a:endParaRPr>
          </a:p>
          <a:p>
            <a:pPr>
              <a:spcBef>
                <a:spcPts val="500"/>
              </a:spcBef>
            </a:pPr>
            <a:r>
              <a:rPr sz="1200" b="1" dirty="0" err="1">
                <a:solidFill>
                  <a:srgbClr val="1C1C1C"/>
                </a:solidFill>
              </a:rPr>
              <a:t>플랫폼</a:t>
            </a:r>
            <a:r>
              <a:rPr sz="1200" b="1" dirty="0">
                <a:solidFill>
                  <a:srgbClr val="1C1C1C"/>
                </a:solidFill>
              </a:rPr>
              <a:t> </a:t>
            </a:r>
            <a:r>
              <a:rPr sz="1200" b="1" dirty="0" err="1">
                <a:solidFill>
                  <a:srgbClr val="1C1C1C"/>
                </a:solidFill>
              </a:rPr>
              <a:t>확장성</a:t>
            </a:r>
            <a:endParaRPr sz="1200" b="1" dirty="0">
              <a:solidFill>
                <a:srgbClr val="1C1C1C"/>
              </a:solidFill>
            </a:endParaRPr>
          </a:p>
          <a:p>
            <a:pPr>
              <a:spcBef>
                <a:spcPts val="200"/>
              </a:spcBef>
            </a:pPr>
            <a:r>
              <a:rPr sz="1100" dirty="0">
                <a:solidFill>
                  <a:srgbClr val="1C1C1C"/>
                </a:solidFill>
              </a:rPr>
              <a:t>   Silver/Gold </a:t>
            </a:r>
            <a:r>
              <a:rPr sz="1100" dirty="0" err="1">
                <a:solidFill>
                  <a:srgbClr val="1C1C1C"/>
                </a:solidFill>
              </a:rPr>
              <a:t>테이블이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여러</a:t>
            </a:r>
            <a:r>
              <a:rPr sz="1100" dirty="0">
                <a:solidFill>
                  <a:srgbClr val="1C1C1C"/>
                </a:solidFill>
              </a:rPr>
              <a:t> 개 </a:t>
            </a:r>
            <a:r>
              <a:rPr sz="1100" dirty="0" err="1">
                <a:solidFill>
                  <a:srgbClr val="1C1C1C"/>
                </a:solidFill>
              </a:rPr>
              <a:t>생기는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상황을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생각</a:t>
            </a:r>
            <a:r>
              <a:rPr sz="1100" dirty="0">
                <a:solidFill>
                  <a:srgbClr val="1C1C1C"/>
                </a:solidFill>
              </a:rPr>
              <a:t> 못 </a:t>
            </a:r>
            <a:r>
              <a:rPr sz="1100" dirty="0" err="1">
                <a:solidFill>
                  <a:srgbClr val="1C1C1C"/>
                </a:solidFill>
              </a:rPr>
              <a:t>했음</a:t>
            </a:r>
            <a:endParaRPr sz="1100" dirty="0">
              <a:solidFill>
                <a:srgbClr val="1C1C1C"/>
              </a:solidFill>
            </a:endParaRPr>
          </a:p>
          <a:p>
            <a:pPr>
              <a:spcBef>
                <a:spcPts val="200"/>
              </a:spcBef>
            </a:pPr>
            <a:r>
              <a:rPr sz="1100" dirty="0">
                <a:solidFill>
                  <a:srgbClr val="1C1C1C"/>
                </a:solidFill>
              </a:rPr>
              <a:t>   </a:t>
            </a:r>
            <a:r>
              <a:rPr sz="1100" dirty="0" err="1">
                <a:solidFill>
                  <a:srgbClr val="1C1C1C"/>
                </a:solidFill>
              </a:rPr>
              <a:t>지금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구조는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테이블</a:t>
            </a:r>
            <a:r>
              <a:rPr sz="1100" dirty="0">
                <a:solidFill>
                  <a:srgbClr val="1C1C1C"/>
                </a:solidFill>
              </a:rPr>
              <a:t> 1:1 </a:t>
            </a:r>
            <a:r>
              <a:rPr sz="1100" dirty="0" err="1">
                <a:solidFill>
                  <a:srgbClr val="1C1C1C"/>
                </a:solidFill>
              </a:rPr>
              <a:t>하드코딩</a:t>
            </a:r>
            <a:r>
              <a:rPr sz="1100" dirty="0">
                <a:solidFill>
                  <a:srgbClr val="1C1C1C"/>
                </a:solidFill>
              </a:rPr>
              <a:t> — </a:t>
            </a:r>
            <a:r>
              <a:rPr sz="1100" dirty="0" err="1">
                <a:solidFill>
                  <a:srgbClr val="1C1C1C"/>
                </a:solidFill>
              </a:rPr>
              <a:t>테이블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늘면</a:t>
            </a:r>
            <a:r>
              <a:rPr sz="1100" dirty="0">
                <a:solidFill>
                  <a:srgbClr val="1C1C1C"/>
                </a:solidFill>
              </a:rPr>
              <a:t> DAG </a:t>
            </a:r>
            <a:r>
              <a:rPr sz="1100" dirty="0" err="1">
                <a:solidFill>
                  <a:srgbClr val="1C1C1C"/>
                </a:solidFill>
              </a:rPr>
              <a:t>전체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수정</a:t>
            </a:r>
            <a:endParaRPr sz="1100" dirty="0">
              <a:solidFill>
                <a:srgbClr val="1C1C1C"/>
              </a:solidFill>
            </a:endParaRPr>
          </a:p>
          <a:p>
            <a:pPr>
              <a:spcBef>
                <a:spcPts val="200"/>
              </a:spcBef>
            </a:pPr>
            <a:r>
              <a:rPr sz="1100" dirty="0">
                <a:solidFill>
                  <a:srgbClr val="1C1C1C"/>
                </a:solidFill>
              </a:rPr>
              <a:t>   </a:t>
            </a:r>
            <a:r>
              <a:rPr sz="1100" dirty="0" err="1">
                <a:solidFill>
                  <a:srgbClr val="1C1C1C"/>
                </a:solidFill>
              </a:rPr>
              <a:t>레이어별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유지보수</a:t>
            </a:r>
            <a:r>
              <a:rPr sz="1100" dirty="0">
                <a:solidFill>
                  <a:srgbClr val="1C1C1C"/>
                </a:solidFill>
              </a:rPr>
              <a:t> DAG </a:t>
            </a:r>
            <a:r>
              <a:rPr sz="1100" dirty="0" err="1">
                <a:solidFill>
                  <a:srgbClr val="1C1C1C"/>
                </a:solidFill>
              </a:rPr>
              <a:t>분리가</a:t>
            </a:r>
            <a:r>
              <a:rPr sz="1100" dirty="0">
                <a:solidFill>
                  <a:srgbClr val="1C1C1C"/>
                </a:solidFill>
              </a:rPr>
              <a:t> 더 </a:t>
            </a:r>
            <a:r>
              <a:rPr sz="1100" dirty="0" err="1">
                <a:solidFill>
                  <a:srgbClr val="1C1C1C"/>
                </a:solidFill>
              </a:rPr>
              <a:t>적합했을</a:t>
            </a:r>
            <a:r>
              <a:rPr sz="1100" dirty="0">
                <a:solidFill>
                  <a:srgbClr val="1C1C1C"/>
                </a:solidFill>
              </a:rPr>
              <a:t> 것</a:t>
            </a:r>
          </a:p>
          <a:p>
            <a:pPr>
              <a:spcBef>
                <a:spcPts val="200"/>
              </a:spcBef>
            </a:pPr>
            <a:r>
              <a:rPr sz="1100" dirty="0">
                <a:solidFill>
                  <a:srgbClr val="1C1C1C"/>
                </a:solidFill>
              </a:rPr>
              <a:t>   </a:t>
            </a:r>
            <a:r>
              <a:rPr sz="1100" dirty="0" err="1">
                <a:solidFill>
                  <a:srgbClr val="1C1C1C"/>
                </a:solidFill>
              </a:rPr>
              <a:t>Bronze도</a:t>
            </a:r>
            <a:r>
              <a:rPr sz="1100" dirty="0">
                <a:solidFill>
                  <a:srgbClr val="1C1C1C"/>
                </a:solidFill>
              </a:rPr>
              <a:t> Silver </a:t>
            </a:r>
            <a:r>
              <a:rPr sz="1100" dirty="0" err="1">
                <a:solidFill>
                  <a:srgbClr val="1C1C1C"/>
                </a:solidFill>
              </a:rPr>
              <a:t>테이블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늘면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읽히는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빈도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증가</a:t>
            </a:r>
            <a:endParaRPr sz="1100" dirty="0">
              <a:solidFill>
                <a:srgbClr val="1C1C1C"/>
              </a:solidFill>
            </a:endParaRPr>
          </a:p>
          <a:p>
            <a:pPr>
              <a:spcBef>
                <a:spcPts val="200"/>
              </a:spcBef>
            </a:pPr>
            <a:r>
              <a:rPr sz="1100" dirty="0">
                <a:solidFill>
                  <a:srgbClr val="1C1C1C"/>
                </a:solidFill>
              </a:rPr>
              <a:t>   → Bronze compaction Spark job </a:t>
            </a:r>
            <a:r>
              <a:rPr sz="1100" dirty="0" err="1">
                <a:solidFill>
                  <a:srgbClr val="1C1C1C"/>
                </a:solidFill>
              </a:rPr>
              <a:t>별도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필요해질</a:t>
            </a:r>
            <a:r>
              <a:rPr sz="1100" dirty="0">
                <a:solidFill>
                  <a:srgbClr val="1C1C1C"/>
                </a:solidFill>
              </a:rPr>
              <a:t> 수 </a:t>
            </a:r>
            <a:r>
              <a:rPr sz="1100" dirty="0" err="1">
                <a:solidFill>
                  <a:srgbClr val="1C1C1C"/>
                </a:solidFill>
              </a:rPr>
              <a:t>있음</a:t>
            </a:r>
            <a:endParaRPr sz="1100" dirty="0">
              <a:solidFill>
                <a:srgbClr val="1C1C1C"/>
              </a:solidFill>
            </a:endParaRPr>
          </a:p>
          <a:p>
            <a:pPr>
              <a:spcBef>
                <a:spcPts val="500"/>
              </a:spcBef>
            </a:pPr>
            <a:r>
              <a:rPr sz="1200" b="1" dirty="0" err="1">
                <a:solidFill>
                  <a:srgbClr val="1C1C1C"/>
                </a:solidFill>
              </a:rPr>
              <a:t>스케일아웃</a:t>
            </a:r>
            <a:r>
              <a:rPr sz="1200" b="1" dirty="0">
                <a:solidFill>
                  <a:srgbClr val="1C1C1C"/>
                </a:solidFill>
              </a:rPr>
              <a:t> </a:t>
            </a:r>
            <a:r>
              <a:rPr sz="1200" b="1" dirty="0" err="1">
                <a:solidFill>
                  <a:srgbClr val="1C1C1C"/>
                </a:solidFill>
              </a:rPr>
              <a:t>전략</a:t>
            </a:r>
            <a:r>
              <a:rPr sz="1200" b="1" dirty="0">
                <a:solidFill>
                  <a:srgbClr val="1C1C1C"/>
                </a:solidFill>
              </a:rPr>
              <a:t> </a:t>
            </a:r>
            <a:r>
              <a:rPr sz="1200" b="1" dirty="0" err="1">
                <a:solidFill>
                  <a:srgbClr val="1C1C1C"/>
                </a:solidFill>
              </a:rPr>
              <a:t>없음</a:t>
            </a:r>
            <a:endParaRPr sz="1200" b="1" dirty="0">
              <a:solidFill>
                <a:srgbClr val="1C1C1C"/>
              </a:solidFill>
            </a:endParaRPr>
          </a:p>
          <a:p>
            <a:pPr>
              <a:spcBef>
                <a:spcPts val="200"/>
              </a:spcBef>
            </a:pPr>
            <a:r>
              <a:rPr sz="1100" dirty="0">
                <a:solidFill>
                  <a:srgbClr val="1C1C1C"/>
                </a:solidFill>
              </a:rPr>
              <a:t>   </a:t>
            </a:r>
            <a:r>
              <a:rPr sz="1100" dirty="0" err="1">
                <a:solidFill>
                  <a:srgbClr val="1C1C1C"/>
                </a:solidFill>
              </a:rPr>
              <a:t>데이터</a:t>
            </a:r>
            <a:r>
              <a:rPr sz="1100" dirty="0">
                <a:solidFill>
                  <a:srgbClr val="1C1C1C"/>
                </a:solidFill>
              </a:rPr>
              <a:t> 10x </a:t>
            </a:r>
            <a:r>
              <a:rPr sz="1100" dirty="0" err="1">
                <a:solidFill>
                  <a:srgbClr val="1C1C1C"/>
                </a:solidFill>
              </a:rPr>
              <a:t>증가</a:t>
            </a:r>
            <a:r>
              <a:rPr sz="1100" dirty="0">
                <a:solidFill>
                  <a:srgbClr val="1C1C1C"/>
                </a:solidFill>
              </a:rPr>
              <a:t> 시 </a:t>
            </a:r>
            <a:r>
              <a:rPr sz="1100" dirty="0" err="1">
                <a:solidFill>
                  <a:srgbClr val="1C1C1C"/>
                </a:solidFill>
              </a:rPr>
              <a:t>파티션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전략</a:t>
            </a:r>
            <a:r>
              <a:rPr sz="1100" dirty="0">
                <a:solidFill>
                  <a:srgbClr val="1C1C1C"/>
                </a:solidFill>
              </a:rPr>
              <a:t> / </a:t>
            </a:r>
            <a:r>
              <a:rPr sz="1100" dirty="0" err="1">
                <a:solidFill>
                  <a:srgbClr val="1C1C1C"/>
                </a:solidFill>
              </a:rPr>
              <a:t>코어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배분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어떻게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바꿔야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하는지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고려</a:t>
            </a:r>
            <a:r>
              <a:rPr sz="1100" dirty="0">
                <a:solidFill>
                  <a:srgbClr val="1C1C1C"/>
                </a:solidFill>
              </a:rPr>
              <a:t> 못 </a:t>
            </a:r>
            <a:r>
              <a:rPr sz="1100" dirty="0" err="1">
                <a:solidFill>
                  <a:srgbClr val="1C1C1C"/>
                </a:solidFill>
              </a:rPr>
              <a:t>했음</a:t>
            </a:r>
            <a:endParaRPr lang="ko-KR" altLang="en-US" sz="1100" dirty="0">
              <a:solidFill>
                <a:srgbClr val="1C1C1C"/>
              </a:solidFill>
            </a:endParaRPr>
          </a:p>
          <a:p>
            <a:pPr>
              <a:spcBef>
                <a:spcPts val="500"/>
              </a:spcBef>
            </a:pPr>
            <a:r>
              <a:rPr sz="1200" b="1" dirty="0" err="1">
                <a:solidFill>
                  <a:srgbClr val="1C1C1C"/>
                </a:solidFill>
              </a:rPr>
              <a:t>날짜</a:t>
            </a:r>
            <a:r>
              <a:rPr sz="1200" b="1" dirty="0">
                <a:solidFill>
                  <a:srgbClr val="1C1C1C"/>
                </a:solidFill>
              </a:rPr>
              <a:t> </a:t>
            </a:r>
            <a:r>
              <a:rPr sz="1200" b="1" dirty="0" err="1">
                <a:solidFill>
                  <a:srgbClr val="1C1C1C"/>
                </a:solidFill>
              </a:rPr>
              <a:t>기준</a:t>
            </a:r>
            <a:r>
              <a:rPr sz="1200" b="1" dirty="0">
                <a:solidFill>
                  <a:srgbClr val="1C1C1C"/>
                </a:solidFill>
              </a:rPr>
              <a:t> UTC </a:t>
            </a:r>
            <a:r>
              <a:rPr sz="1200" b="1" dirty="0" err="1">
                <a:solidFill>
                  <a:srgbClr val="1C1C1C"/>
                </a:solidFill>
              </a:rPr>
              <a:t>고정</a:t>
            </a:r>
            <a:r>
              <a:rPr lang="en-US" sz="1200" b="1" dirty="0">
                <a:solidFill>
                  <a:srgbClr val="1C1C1C"/>
                </a:solidFill>
              </a:rPr>
              <a:t> (UTC vs KST)</a:t>
            </a:r>
            <a:endParaRPr sz="1200" b="1" dirty="0">
              <a:solidFill>
                <a:srgbClr val="1C1C1C"/>
              </a:solidFill>
            </a:endParaRPr>
          </a:p>
          <a:p>
            <a:pPr>
              <a:spcBef>
                <a:spcPts val="200"/>
              </a:spcBef>
            </a:pPr>
            <a:r>
              <a:rPr sz="1100" dirty="0">
                <a:solidFill>
                  <a:srgbClr val="1C1C1C"/>
                </a:solidFill>
              </a:rPr>
              <a:t>   Kafka·Spark·Airflow·S3 </a:t>
            </a:r>
            <a:r>
              <a:rPr sz="1100" dirty="0" err="1">
                <a:solidFill>
                  <a:srgbClr val="1C1C1C"/>
                </a:solidFill>
              </a:rPr>
              <a:t>모두</a:t>
            </a:r>
            <a:r>
              <a:rPr sz="1100" dirty="0">
                <a:solidFill>
                  <a:srgbClr val="1C1C1C"/>
                </a:solidFill>
              </a:rPr>
              <a:t> UTC </a:t>
            </a:r>
            <a:r>
              <a:rPr sz="1100" dirty="0" err="1">
                <a:solidFill>
                  <a:srgbClr val="1C1C1C"/>
                </a:solidFill>
              </a:rPr>
              <a:t>기준으로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동작</a:t>
            </a:r>
            <a:r>
              <a:rPr sz="1100" dirty="0">
                <a:solidFill>
                  <a:srgbClr val="1C1C1C"/>
                </a:solidFill>
              </a:rPr>
              <a:t>→ </a:t>
            </a:r>
            <a:r>
              <a:rPr sz="1100" dirty="0" err="1">
                <a:solidFill>
                  <a:srgbClr val="1C1C1C"/>
                </a:solidFill>
              </a:rPr>
              <a:t>날짜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경계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처리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주의</a:t>
            </a:r>
            <a:endParaRPr sz="1100" dirty="0">
              <a:solidFill>
                <a:srgbClr val="1C1C1C"/>
              </a:solidFill>
            </a:endParaRPr>
          </a:p>
          <a:p>
            <a:pPr>
              <a:spcBef>
                <a:spcPts val="200"/>
              </a:spcBef>
            </a:pPr>
            <a:r>
              <a:rPr sz="1100" dirty="0">
                <a:solidFill>
                  <a:srgbClr val="1C1C1C"/>
                </a:solidFill>
              </a:rPr>
              <a:t>   </a:t>
            </a:r>
            <a:r>
              <a:rPr sz="1100" dirty="0" err="1">
                <a:solidFill>
                  <a:srgbClr val="1C1C1C"/>
                </a:solidFill>
              </a:rPr>
              <a:t>현재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Airflow를</a:t>
            </a:r>
            <a:r>
              <a:rPr sz="1100" dirty="0">
                <a:solidFill>
                  <a:srgbClr val="1C1C1C"/>
                </a:solidFill>
              </a:rPr>
              <a:t> KST 낮 </a:t>
            </a:r>
            <a:r>
              <a:rPr sz="1100" dirty="0" err="1">
                <a:solidFill>
                  <a:srgbClr val="1C1C1C"/>
                </a:solidFill>
              </a:rPr>
              <a:t>시간대에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실행해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회피</a:t>
            </a:r>
            <a:r>
              <a:rPr sz="1100" dirty="0">
                <a:solidFill>
                  <a:srgbClr val="1C1C1C"/>
                </a:solidFill>
              </a:rPr>
              <a:t> 중 (</a:t>
            </a:r>
            <a:r>
              <a:rPr sz="1100" dirty="0" err="1">
                <a:solidFill>
                  <a:srgbClr val="1C1C1C"/>
                </a:solidFill>
              </a:rPr>
              <a:t>근본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해결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아님</a:t>
            </a:r>
            <a:r>
              <a:rPr sz="1100" dirty="0">
                <a:solidFill>
                  <a:srgbClr val="1C1C1C"/>
                </a:solidFill>
              </a:rPr>
              <a:t>)</a:t>
            </a:r>
          </a:p>
          <a:p>
            <a:pPr>
              <a:spcBef>
                <a:spcPts val="500"/>
              </a:spcBef>
            </a:pPr>
            <a:r>
              <a:rPr sz="1200" b="1" dirty="0" err="1">
                <a:solidFill>
                  <a:srgbClr val="1C1C1C"/>
                </a:solidFill>
              </a:rPr>
              <a:t>백필</a:t>
            </a:r>
            <a:r>
              <a:rPr sz="1200" b="1" dirty="0">
                <a:solidFill>
                  <a:srgbClr val="1C1C1C"/>
                </a:solidFill>
              </a:rPr>
              <a:t> </a:t>
            </a:r>
            <a:r>
              <a:rPr sz="1200" b="1" dirty="0" err="1">
                <a:solidFill>
                  <a:srgbClr val="1C1C1C"/>
                </a:solidFill>
              </a:rPr>
              <a:t>운영</a:t>
            </a:r>
            <a:r>
              <a:rPr sz="1200" b="1" dirty="0">
                <a:solidFill>
                  <a:srgbClr val="1C1C1C"/>
                </a:solidFill>
              </a:rPr>
              <a:t> </a:t>
            </a:r>
            <a:r>
              <a:rPr sz="1200" b="1" dirty="0" err="1">
                <a:solidFill>
                  <a:srgbClr val="1C1C1C"/>
                </a:solidFill>
              </a:rPr>
              <a:t>절차</a:t>
            </a:r>
            <a:r>
              <a:rPr sz="1200" b="1" dirty="0">
                <a:solidFill>
                  <a:srgbClr val="1C1C1C"/>
                </a:solidFill>
              </a:rPr>
              <a:t> 미</a:t>
            </a:r>
            <a:r>
              <a:rPr lang="ko-KR" altLang="en-US" sz="1200" b="1" dirty="0" err="1">
                <a:solidFill>
                  <a:srgbClr val="1C1C1C"/>
                </a:solidFill>
              </a:rPr>
              <a:t>흡</a:t>
            </a:r>
            <a:endParaRPr sz="1200" b="1" dirty="0">
              <a:solidFill>
                <a:srgbClr val="1C1C1C"/>
              </a:solidFill>
            </a:endParaRPr>
          </a:p>
          <a:p>
            <a:pPr>
              <a:spcBef>
                <a:spcPts val="200"/>
              </a:spcBef>
            </a:pPr>
            <a:r>
              <a:rPr sz="1100" dirty="0">
                <a:solidFill>
                  <a:srgbClr val="1C1C1C"/>
                </a:solidFill>
              </a:rPr>
              <a:t>   CLI </a:t>
            </a:r>
            <a:r>
              <a:rPr sz="1100" dirty="0" err="1">
                <a:solidFill>
                  <a:srgbClr val="1C1C1C"/>
                </a:solidFill>
              </a:rPr>
              <a:t>인자는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있는데</a:t>
            </a:r>
            <a:r>
              <a:rPr sz="1100" dirty="0">
                <a:solidFill>
                  <a:srgbClr val="1C1C1C"/>
                </a:solidFill>
              </a:rPr>
              <a:t> Airflow </a:t>
            </a:r>
            <a:r>
              <a:rPr sz="1100" dirty="0" err="1">
                <a:solidFill>
                  <a:srgbClr val="1C1C1C"/>
                </a:solidFill>
              </a:rPr>
              <a:t>UI에서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날짜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지정하는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연결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미구현</a:t>
            </a:r>
            <a:endParaRPr sz="1100" dirty="0">
              <a:solidFill>
                <a:srgbClr val="1C1C1C"/>
              </a:solidFill>
            </a:endParaRPr>
          </a:p>
          <a:p>
            <a:pPr>
              <a:spcBef>
                <a:spcPts val="500"/>
              </a:spcBef>
            </a:pPr>
            <a:r>
              <a:rPr sz="1200" b="1" dirty="0">
                <a:solidFill>
                  <a:srgbClr val="1C1C1C"/>
                </a:solidFill>
              </a:rPr>
              <a:t>Compaction </a:t>
            </a:r>
            <a:r>
              <a:rPr sz="1200" b="1" dirty="0" err="1">
                <a:solidFill>
                  <a:srgbClr val="1C1C1C"/>
                </a:solidFill>
              </a:rPr>
              <a:t>정렬</a:t>
            </a:r>
            <a:r>
              <a:rPr sz="1200" b="1" dirty="0">
                <a:solidFill>
                  <a:srgbClr val="1C1C1C"/>
                </a:solidFill>
              </a:rPr>
              <a:t> </a:t>
            </a:r>
            <a:r>
              <a:rPr sz="1200" b="1" dirty="0" err="1">
                <a:solidFill>
                  <a:srgbClr val="1C1C1C"/>
                </a:solidFill>
              </a:rPr>
              <a:t>전략</a:t>
            </a:r>
            <a:r>
              <a:rPr sz="1200" b="1" dirty="0">
                <a:solidFill>
                  <a:srgbClr val="1C1C1C"/>
                </a:solidFill>
              </a:rPr>
              <a:t> </a:t>
            </a:r>
            <a:r>
              <a:rPr sz="1200" b="1" dirty="0" err="1">
                <a:solidFill>
                  <a:srgbClr val="1C1C1C"/>
                </a:solidFill>
              </a:rPr>
              <a:t>미고려</a:t>
            </a:r>
            <a:endParaRPr sz="1200" b="1" dirty="0">
              <a:solidFill>
                <a:srgbClr val="1C1C1C"/>
              </a:solidFill>
            </a:endParaRPr>
          </a:p>
          <a:p>
            <a:pPr>
              <a:spcBef>
                <a:spcPts val="200"/>
              </a:spcBef>
            </a:pPr>
            <a:r>
              <a:rPr sz="1100" dirty="0">
                <a:solidFill>
                  <a:srgbClr val="1C1C1C"/>
                </a:solidFill>
              </a:rPr>
              <a:t>   </a:t>
            </a:r>
            <a:r>
              <a:rPr sz="1100" dirty="0" err="1">
                <a:solidFill>
                  <a:srgbClr val="1C1C1C"/>
                </a:solidFill>
              </a:rPr>
              <a:t>현재</a:t>
            </a:r>
            <a:r>
              <a:rPr sz="1100" dirty="0">
                <a:solidFill>
                  <a:srgbClr val="1C1C1C"/>
                </a:solidFill>
              </a:rPr>
              <a:t> bin-pack: </a:t>
            </a:r>
            <a:r>
              <a:rPr sz="1100" dirty="0" err="1">
                <a:solidFill>
                  <a:srgbClr val="1C1C1C"/>
                </a:solidFill>
              </a:rPr>
              <a:t>파일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크기만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맞춤</a:t>
            </a:r>
            <a:r>
              <a:rPr sz="1100" dirty="0">
                <a:solidFill>
                  <a:srgbClr val="1C1C1C"/>
                </a:solidFill>
              </a:rPr>
              <a:t>, </a:t>
            </a:r>
            <a:r>
              <a:rPr sz="1100" dirty="0" err="1">
                <a:solidFill>
                  <a:srgbClr val="1C1C1C"/>
                </a:solidFill>
              </a:rPr>
              <a:t>정렬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없음</a:t>
            </a:r>
            <a:endParaRPr sz="1100" dirty="0">
              <a:solidFill>
                <a:srgbClr val="1C1C1C"/>
              </a:solidFill>
            </a:endParaRPr>
          </a:p>
          <a:p>
            <a:pPr>
              <a:spcBef>
                <a:spcPts val="200"/>
              </a:spcBef>
            </a:pPr>
            <a:r>
              <a:rPr sz="1100" dirty="0">
                <a:solidFill>
                  <a:srgbClr val="1C1C1C"/>
                </a:solidFill>
              </a:rPr>
              <a:t>   sort/z-order </a:t>
            </a:r>
            <a:r>
              <a:rPr sz="1100" dirty="0" err="1">
                <a:solidFill>
                  <a:srgbClr val="1C1C1C"/>
                </a:solidFill>
              </a:rPr>
              <a:t>적용</a:t>
            </a:r>
            <a:r>
              <a:rPr sz="1100" dirty="0">
                <a:solidFill>
                  <a:srgbClr val="1C1C1C"/>
                </a:solidFill>
              </a:rPr>
              <a:t> 시 attribution </a:t>
            </a:r>
            <a:r>
              <a:rPr sz="1100" dirty="0" err="1">
                <a:solidFill>
                  <a:srgbClr val="1C1C1C"/>
                </a:solidFill>
              </a:rPr>
              <a:t>JOIN·Superset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쿼리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성능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개선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가능</a:t>
            </a:r>
            <a:endParaRPr sz="1100" dirty="0">
              <a:solidFill>
                <a:srgbClr val="1C1C1C"/>
              </a:solidFill>
            </a:endParaRPr>
          </a:p>
          <a:p>
            <a:pPr>
              <a:spcBef>
                <a:spcPts val="500"/>
              </a:spcBef>
            </a:pPr>
            <a:r>
              <a:rPr sz="1200" b="1" dirty="0">
                <a:solidFill>
                  <a:srgbClr val="1C1C1C"/>
                </a:solidFill>
              </a:rPr>
              <a:t>Gold </a:t>
            </a:r>
            <a:r>
              <a:rPr sz="1200" b="1" dirty="0" err="1">
                <a:solidFill>
                  <a:srgbClr val="1C1C1C"/>
                </a:solidFill>
              </a:rPr>
              <a:t>집계</a:t>
            </a:r>
            <a:r>
              <a:rPr sz="1200" b="1" dirty="0">
                <a:solidFill>
                  <a:srgbClr val="1C1C1C"/>
                </a:solidFill>
              </a:rPr>
              <a:t> </a:t>
            </a:r>
            <a:r>
              <a:rPr sz="1200" b="1" dirty="0" err="1">
                <a:solidFill>
                  <a:srgbClr val="1C1C1C"/>
                </a:solidFill>
              </a:rPr>
              <a:t>버그</a:t>
            </a:r>
            <a:r>
              <a:rPr sz="1200" b="1" dirty="0">
                <a:solidFill>
                  <a:srgbClr val="1C1C1C"/>
                </a:solidFill>
              </a:rPr>
              <a:t> — </a:t>
            </a:r>
            <a:r>
              <a:rPr sz="1200" b="1" dirty="0" err="1">
                <a:solidFill>
                  <a:srgbClr val="1C1C1C"/>
                </a:solidFill>
              </a:rPr>
              <a:t>발표</a:t>
            </a:r>
            <a:r>
              <a:rPr sz="1200" b="1" dirty="0">
                <a:solidFill>
                  <a:srgbClr val="1C1C1C"/>
                </a:solidFill>
              </a:rPr>
              <a:t> </a:t>
            </a:r>
            <a:r>
              <a:rPr sz="1200" b="1" dirty="0" err="1">
                <a:solidFill>
                  <a:srgbClr val="1C1C1C"/>
                </a:solidFill>
              </a:rPr>
              <a:t>준비</a:t>
            </a:r>
            <a:r>
              <a:rPr sz="1200" b="1" dirty="0">
                <a:solidFill>
                  <a:srgbClr val="1C1C1C"/>
                </a:solidFill>
              </a:rPr>
              <a:t> 중 </a:t>
            </a:r>
            <a:r>
              <a:rPr sz="1200" b="1" dirty="0" err="1">
                <a:solidFill>
                  <a:srgbClr val="1C1C1C"/>
                </a:solidFill>
              </a:rPr>
              <a:t>발견</a:t>
            </a:r>
            <a:r>
              <a:rPr sz="1200" b="1" dirty="0">
                <a:solidFill>
                  <a:srgbClr val="1C1C1C"/>
                </a:solidFill>
              </a:rPr>
              <a:t> (</a:t>
            </a:r>
            <a:r>
              <a:rPr sz="1200" b="1" dirty="0" err="1">
                <a:solidFill>
                  <a:srgbClr val="1C1C1C"/>
                </a:solidFill>
              </a:rPr>
              <a:t>미수정</a:t>
            </a:r>
            <a:r>
              <a:rPr sz="1200" b="1" dirty="0">
                <a:solidFill>
                  <a:srgbClr val="1C1C1C"/>
                </a:solidFill>
              </a:rPr>
              <a:t>)</a:t>
            </a:r>
          </a:p>
          <a:p>
            <a:pPr>
              <a:spcBef>
                <a:spcPts val="200"/>
              </a:spcBef>
            </a:pPr>
            <a:r>
              <a:rPr sz="1100" dirty="0">
                <a:solidFill>
                  <a:srgbClr val="1C1C1C"/>
                </a:solidFill>
              </a:rPr>
              <a:t>   Silver </a:t>
            </a:r>
            <a:r>
              <a:rPr sz="1100" dirty="0" err="1">
                <a:solidFill>
                  <a:srgbClr val="1C1C1C"/>
                </a:solidFill>
              </a:rPr>
              <a:t>스냅샷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비교로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변경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파티션만</a:t>
            </a:r>
            <a:r>
              <a:rPr sz="1100" dirty="0">
                <a:solidFill>
                  <a:srgbClr val="1C1C1C"/>
                </a:solidFill>
              </a:rPr>
              <a:t> Gold </a:t>
            </a:r>
            <a:r>
              <a:rPr sz="1100" dirty="0" err="1">
                <a:solidFill>
                  <a:srgbClr val="1C1C1C"/>
                </a:solidFill>
              </a:rPr>
              <a:t>재집계하는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방식인데</a:t>
            </a:r>
            <a:endParaRPr sz="1100" dirty="0">
              <a:solidFill>
                <a:srgbClr val="1C1C1C"/>
              </a:solidFill>
            </a:endParaRPr>
          </a:p>
          <a:p>
            <a:pPr>
              <a:spcBef>
                <a:spcPts val="200"/>
              </a:spcBef>
            </a:pPr>
            <a:r>
              <a:rPr sz="1100" dirty="0">
                <a:solidFill>
                  <a:srgbClr val="1C1C1C"/>
                </a:solidFill>
              </a:rPr>
              <a:t>   </a:t>
            </a:r>
            <a:r>
              <a:rPr sz="1100" dirty="0" err="1">
                <a:solidFill>
                  <a:srgbClr val="1C1C1C"/>
                </a:solidFill>
              </a:rPr>
              <a:t>click·conversion은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기존</a:t>
            </a:r>
            <a:r>
              <a:rPr sz="1100" dirty="0">
                <a:solidFill>
                  <a:srgbClr val="1C1C1C"/>
                </a:solidFill>
              </a:rPr>
              <a:t> 행 </a:t>
            </a:r>
            <a:r>
              <a:rPr sz="1100" dirty="0" err="1">
                <a:solidFill>
                  <a:srgbClr val="1C1C1C"/>
                </a:solidFill>
              </a:rPr>
              <a:t>값만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바뀌어</a:t>
            </a:r>
            <a:r>
              <a:rPr sz="1100" dirty="0">
                <a:solidFill>
                  <a:srgbClr val="1C1C1C"/>
                </a:solidFill>
              </a:rPr>
              <a:t> 행 수 </a:t>
            </a:r>
            <a:r>
              <a:rPr sz="1100" dirty="0" err="1">
                <a:solidFill>
                  <a:srgbClr val="1C1C1C"/>
                </a:solidFill>
              </a:rPr>
              <a:t>그대로</a:t>
            </a:r>
            <a:r>
              <a:rPr sz="1100" dirty="0">
                <a:solidFill>
                  <a:srgbClr val="1C1C1C"/>
                </a:solidFill>
              </a:rPr>
              <a:t> → </a:t>
            </a:r>
            <a:r>
              <a:rPr sz="1100" dirty="0" err="1">
                <a:solidFill>
                  <a:srgbClr val="1C1C1C"/>
                </a:solidFill>
              </a:rPr>
              <a:t>감지</a:t>
            </a:r>
            <a:r>
              <a:rPr sz="1100" dirty="0">
                <a:solidFill>
                  <a:srgbClr val="1C1C1C"/>
                </a:solidFill>
              </a:rPr>
              <a:t> </a:t>
            </a:r>
            <a:r>
              <a:rPr sz="1100" dirty="0" err="1">
                <a:solidFill>
                  <a:srgbClr val="1C1C1C"/>
                </a:solidFill>
              </a:rPr>
              <a:t>누락</a:t>
            </a:r>
            <a:endParaRPr sz="1100" dirty="0">
              <a:solidFill>
                <a:srgbClr val="1C1C1C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035040" y="1143000"/>
            <a:ext cx="5760720" cy="34747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6480" y="114300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프로젝트 진행 후기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536192"/>
            <a:ext cx="5577840" cy="4608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 b="1" dirty="0">
                <a:solidFill>
                  <a:srgbClr val="1C1C1C"/>
                </a:solidFill>
              </a:rPr>
              <a:t>CS </a:t>
            </a:r>
            <a:r>
              <a:rPr sz="1200" b="1" dirty="0" err="1">
                <a:solidFill>
                  <a:srgbClr val="1C1C1C"/>
                </a:solidFill>
              </a:rPr>
              <a:t>기반</a:t>
            </a:r>
            <a:r>
              <a:rPr sz="1200" b="1" dirty="0">
                <a:solidFill>
                  <a:srgbClr val="1C1C1C"/>
                </a:solidFill>
              </a:rPr>
              <a:t> </a:t>
            </a:r>
            <a:r>
              <a:rPr sz="1200" b="1" dirty="0" err="1">
                <a:solidFill>
                  <a:srgbClr val="1C1C1C"/>
                </a:solidFill>
              </a:rPr>
              <a:t>부족</a:t>
            </a:r>
            <a:r>
              <a:rPr sz="1200" b="1" dirty="0">
                <a:solidFill>
                  <a:srgbClr val="1C1C1C"/>
                </a:solidFill>
              </a:rPr>
              <a:t> </a:t>
            </a:r>
            <a:r>
              <a:rPr sz="1200" dirty="0">
                <a:solidFill>
                  <a:srgbClr val="1C1C1C"/>
                </a:solidFill>
              </a:rPr>
              <a:t>— </a:t>
            </a:r>
            <a:r>
              <a:rPr sz="1200" dirty="0" err="1">
                <a:solidFill>
                  <a:srgbClr val="1C1C1C"/>
                </a:solidFill>
              </a:rPr>
              <a:t>환경</a:t>
            </a:r>
            <a:r>
              <a:rPr sz="1200" dirty="0">
                <a:solidFill>
                  <a:srgbClr val="1C1C1C"/>
                </a:solidFill>
              </a:rPr>
              <a:t> </a:t>
            </a:r>
            <a:r>
              <a:rPr sz="1200" dirty="0" err="1">
                <a:solidFill>
                  <a:srgbClr val="1C1C1C"/>
                </a:solidFill>
              </a:rPr>
              <a:t>설정에서</a:t>
            </a:r>
            <a:r>
              <a:rPr sz="1200" dirty="0">
                <a:solidFill>
                  <a:srgbClr val="1C1C1C"/>
                </a:solidFill>
              </a:rPr>
              <a:t> </a:t>
            </a:r>
            <a:r>
              <a:rPr sz="1200" dirty="0" err="1">
                <a:solidFill>
                  <a:srgbClr val="1C1C1C"/>
                </a:solidFill>
              </a:rPr>
              <a:t>막혔음</a:t>
            </a:r>
            <a:endParaRPr sz="1200" dirty="0">
              <a:solidFill>
                <a:srgbClr val="1C1C1C"/>
              </a:solidFill>
            </a:endParaRPr>
          </a:p>
          <a:p>
            <a:pPr>
              <a:spcBef>
                <a:spcPts val="200"/>
              </a:spcBef>
            </a:pPr>
            <a:r>
              <a:rPr sz="1050" dirty="0">
                <a:solidFill>
                  <a:srgbClr val="1C1C1C"/>
                </a:solidFill>
              </a:rPr>
              <a:t>   </a:t>
            </a:r>
            <a:r>
              <a:rPr sz="1050" dirty="0" err="1">
                <a:solidFill>
                  <a:srgbClr val="1C1C1C"/>
                </a:solidFill>
              </a:rPr>
              <a:t>환경변수·포트·네트워크·엔드포인트</a:t>
            </a:r>
            <a:r>
              <a:rPr sz="1050" dirty="0">
                <a:solidFill>
                  <a:srgbClr val="1C1C1C"/>
                </a:solidFill>
              </a:rPr>
              <a:t> </a:t>
            </a:r>
            <a:r>
              <a:rPr lang="ko-KR" altLang="en-US" sz="1050" dirty="0">
                <a:solidFill>
                  <a:srgbClr val="1C1C1C"/>
                </a:solidFill>
              </a:rPr>
              <a:t>등 </a:t>
            </a:r>
            <a:r>
              <a:rPr sz="1050" dirty="0" err="1">
                <a:solidFill>
                  <a:srgbClr val="1C1C1C"/>
                </a:solidFill>
              </a:rPr>
              <a:t>처음</a:t>
            </a:r>
            <a:r>
              <a:rPr sz="1050" dirty="0">
                <a:solidFill>
                  <a:srgbClr val="1C1C1C"/>
                </a:solidFill>
              </a:rPr>
              <a:t> </a:t>
            </a:r>
            <a:r>
              <a:rPr sz="1050" dirty="0" err="1">
                <a:solidFill>
                  <a:srgbClr val="1C1C1C"/>
                </a:solidFill>
              </a:rPr>
              <a:t>들어보는</a:t>
            </a:r>
            <a:r>
              <a:rPr sz="1050" dirty="0">
                <a:solidFill>
                  <a:srgbClr val="1C1C1C"/>
                </a:solidFill>
              </a:rPr>
              <a:t> </a:t>
            </a:r>
            <a:r>
              <a:rPr sz="1050" dirty="0" err="1">
                <a:solidFill>
                  <a:srgbClr val="1C1C1C"/>
                </a:solidFill>
              </a:rPr>
              <a:t>개념들</a:t>
            </a:r>
            <a:r>
              <a:rPr lang="ko-KR" altLang="en-US" sz="1050" dirty="0">
                <a:solidFill>
                  <a:srgbClr val="1C1C1C"/>
                </a:solidFill>
              </a:rPr>
              <a:t>이 많아 이해 어려움</a:t>
            </a:r>
            <a:endParaRPr sz="1050" dirty="0">
              <a:solidFill>
                <a:srgbClr val="1C1C1C"/>
              </a:solidFill>
            </a:endParaRPr>
          </a:p>
          <a:p>
            <a:pPr>
              <a:spcBef>
                <a:spcPts val="200"/>
              </a:spcBef>
            </a:pPr>
            <a:r>
              <a:rPr sz="1050" dirty="0">
                <a:solidFill>
                  <a:srgbClr val="1C1C1C"/>
                </a:solidFill>
              </a:rPr>
              <a:t>   .config() </a:t>
            </a:r>
            <a:r>
              <a:rPr sz="1050" dirty="0" err="1">
                <a:solidFill>
                  <a:srgbClr val="1C1C1C"/>
                </a:solidFill>
              </a:rPr>
              <a:t>자격증명·docker-compose·Dockerfile</a:t>
            </a:r>
            <a:r>
              <a:rPr sz="1050" dirty="0">
                <a:solidFill>
                  <a:srgbClr val="1C1C1C"/>
                </a:solidFill>
              </a:rPr>
              <a:t> </a:t>
            </a:r>
            <a:r>
              <a:rPr sz="1050" dirty="0" err="1">
                <a:solidFill>
                  <a:srgbClr val="1C1C1C"/>
                </a:solidFill>
              </a:rPr>
              <a:t>설정은</a:t>
            </a:r>
            <a:endParaRPr sz="1050" dirty="0">
              <a:solidFill>
                <a:srgbClr val="1C1C1C"/>
              </a:solidFill>
            </a:endParaRPr>
          </a:p>
          <a:p>
            <a:pPr>
              <a:spcBef>
                <a:spcPts val="200"/>
              </a:spcBef>
            </a:pPr>
            <a:r>
              <a:rPr sz="1050" dirty="0">
                <a:solidFill>
                  <a:srgbClr val="1C1C1C"/>
                </a:solidFill>
              </a:rPr>
              <a:t>   Claude </a:t>
            </a:r>
            <a:r>
              <a:rPr sz="1050" dirty="0" err="1">
                <a:solidFill>
                  <a:srgbClr val="1C1C1C"/>
                </a:solidFill>
              </a:rPr>
              <a:t>Code에</a:t>
            </a:r>
            <a:r>
              <a:rPr sz="1050" dirty="0">
                <a:solidFill>
                  <a:srgbClr val="1C1C1C"/>
                </a:solidFill>
              </a:rPr>
              <a:t> </a:t>
            </a:r>
            <a:r>
              <a:rPr sz="1050" dirty="0" err="1">
                <a:solidFill>
                  <a:srgbClr val="1C1C1C"/>
                </a:solidFill>
              </a:rPr>
              <a:t>맡기고</a:t>
            </a:r>
            <a:r>
              <a:rPr sz="1050" dirty="0">
                <a:solidFill>
                  <a:srgbClr val="1C1C1C"/>
                </a:solidFill>
              </a:rPr>
              <a:t> '</a:t>
            </a:r>
            <a:r>
              <a:rPr sz="1050" dirty="0" err="1">
                <a:solidFill>
                  <a:srgbClr val="1C1C1C"/>
                </a:solidFill>
              </a:rPr>
              <a:t>앱이</a:t>
            </a:r>
            <a:r>
              <a:rPr sz="1050" dirty="0">
                <a:solidFill>
                  <a:srgbClr val="1C1C1C"/>
                </a:solidFill>
              </a:rPr>
              <a:t> </a:t>
            </a:r>
            <a:r>
              <a:rPr sz="1050" dirty="0" err="1">
                <a:solidFill>
                  <a:srgbClr val="1C1C1C"/>
                </a:solidFill>
              </a:rPr>
              <a:t>돌아가면</a:t>
            </a:r>
            <a:r>
              <a:rPr sz="1050" dirty="0">
                <a:solidFill>
                  <a:srgbClr val="1C1C1C"/>
                </a:solidFill>
              </a:rPr>
              <a:t> 된 </a:t>
            </a:r>
            <a:r>
              <a:rPr sz="1050" dirty="0" err="1">
                <a:solidFill>
                  <a:srgbClr val="1C1C1C"/>
                </a:solidFill>
              </a:rPr>
              <a:t>거겠지'로</a:t>
            </a:r>
            <a:r>
              <a:rPr sz="1050" dirty="0">
                <a:solidFill>
                  <a:srgbClr val="1C1C1C"/>
                </a:solidFill>
              </a:rPr>
              <a:t> </a:t>
            </a:r>
            <a:r>
              <a:rPr sz="1050" dirty="0" err="1">
                <a:solidFill>
                  <a:srgbClr val="1C1C1C"/>
                </a:solidFill>
              </a:rPr>
              <a:t>진행</a:t>
            </a:r>
            <a:endParaRPr sz="1050" dirty="0">
              <a:solidFill>
                <a:srgbClr val="1C1C1C"/>
              </a:solidFill>
            </a:endParaRPr>
          </a:p>
          <a:p>
            <a:pPr>
              <a:spcBef>
                <a:spcPts val="500"/>
              </a:spcBef>
            </a:pPr>
            <a:endParaRPr sz="1050" dirty="0">
              <a:solidFill>
                <a:srgbClr val="1C1C1C"/>
              </a:solidFill>
            </a:endParaRPr>
          </a:p>
          <a:p>
            <a:pPr>
              <a:spcBef>
                <a:spcPts val="500"/>
              </a:spcBef>
            </a:pPr>
            <a:r>
              <a:rPr sz="1200" b="1" dirty="0" err="1">
                <a:solidFill>
                  <a:srgbClr val="1C1C1C"/>
                </a:solidFill>
              </a:rPr>
              <a:t>기능</a:t>
            </a:r>
            <a:r>
              <a:rPr sz="1200" b="1" dirty="0">
                <a:solidFill>
                  <a:srgbClr val="1C1C1C"/>
                </a:solidFill>
              </a:rPr>
              <a:t> </a:t>
            </a:r>
            <a:r>
              <a:rPr sz="1200" b="1" dirty="0" err="1">
                <a:solidFill>
                  <a:srgbClr val="1C1C1C"/>
                </a:solidFill>
              </a:rPr>
              <a:t>단위</a:t>
            </a:r>
            <a:r>
              <a:rPr sz="1200" b="1" dirty="0">
                <a:solidFill>
                  <a:srgbClr val="1C1C1C"/>
                </a:solidFill>
              </a:rPr>
              <a:t> </a:t>
            </a:r>
            <a:r>
              <a:rPr sz="1200" b="1" dirty="0" err="1">
                <a:solidFill>
                  <a:srgbClr val="1C1C1C"/>
                </a:solidFill>
              </a:rPr>
              <a:t>테스트를</a:t>
            </a:r>
            <a:r>
              <a:rPr sz="1200" b="1" dirty="0">
                <a:solidFill>
                  <a:srgbClr val="1C1C1C"/>
                </a:solidFill>
              </a:rPr>
              <a:t> 안 </a:t>
            </a:r>
            <a:r>
              <a:rPr sz="1200" b="1" dirty="0" err="1">
                <a:solidFill>
                  <a:srgbClr val="1C1C1C"/>
                </a:solidFill>
              </a:rPr>
              <a:t>했음</a:t>
            </a:r>
            <a:endParaRPr sz="1200" b="1" dirty="0">
              <a:solidFill>
                <a:srgbClr val="1C1C1C"/>
              </a:solidFill>
            </a:endParaRPr>
          </a:p>
          <a:p>
            <a:pPr>
              <a:spcBef>
                <a:spcPts val="200"/>
              </a:spcBef>
            </a:pPr>
            <a:r>
              <a:rPr sz="1050" dirty="0">
                <a:solidFill>
                  <a:srgbClr val="1C1C1C"/>
                </a:solidFill>
              </a:rPr>
              <a:t>   </a:t>
            </a:r>
            <a:r>
              <a:rPr sz="1050" dirty="0" err="1">
                <a:solidFill>
                  <a:srgbClr val="1C1C1C"/>
                </a:solidFill>
              </a:rPr>
              <a:t>기능</a:t>
            </a:r>
            <a:r>
              <a:rPr sz="1050" dirty="0">
                <a:solidFill>
                  <a:srgbClr val="1C1C1C"/>
                </a:solidFill>
              </a:rPr>
              <a:t> </a:t>
            </a:r>
            <a:r>
              <a:rPr sz="1050" dirty="0" err="1">
                <a:solidFill>
                  <a:srgbClr val="1C1C1C"/>
                </a:solidFill>
              </a:rPr>
              <a:t>여러</a:t>
            </a:r>
            <a:r>
              <a:rPr sz="1050" dirty="0">
                <a:solidFill>
                  <a:srgbClr val="1C1C1C"/>
                </a:solidFill>
              </a:rPr>
              <a:t> 개 </a:t>
            </a:r>
            <a:r>
              <a:rPr sz="1050" dirty="0" err="1">
                <a:solidFill>
                  <a:srgbClr val="1C1C1C"/>
                </a:solidFill>
              </a:rPr>
              <a:t>붙이고</a:t>
            </a:r>
            <a:r>
              <a:rPr sz="1050" dirty="0">
                <a:solidFill>
                  <a:srgbClr val="1C1C1C"/>
                </a:solidFill>
              </a:rPr>
              <a:t> </a:t>
            </a:r>
            <a:r>
              <a:rPr sz="1050" dirty="0" err="1">
                <a:solidFill>
                  <a:srgbClr val="1C1C1C"/>
                </a:solidFill>
              </a:rPr>
              <a:t>파이프라인</a:t>
            </a:r>
            <a:r>
              <a:rPr sz="1050" dirty="0">
                <a:solidFill>
                  <a:srgbClr val="1C1C1C"/>
                </a:solidFill>
              </a:rPr>
              <a:t> </a:t>
            </a:r>
            <a:r>
              <a:rPr sz="1050" dirty="0" err="1">
                <a:solidFill>
                  <a:srgbClr val="1C1C1C"/>
                </a:solidFill>
              </a:rPr>
              <a:t>한번에</a:t>
            </a:r>
            <a:r>
              <a:rPr sz="1050" dirty="0">
                <a:solidFill>
                  <a:srgbClr val="1C1C1C"/>
                </a:solidFill>
              </a:rPr>
              <a:t> </a:t>
            </a:r>
            <a:r>
              <a:rPr sz="1050" dirty="0" err="1">
                <a:solidFill>
                  <a:srgbClr val="1C1C1C"/>
                </a:solidFill>
              </a:rPr>
              <a:t>돌려서</a:t>
            </a:r>
            <a:r>
              <a:rPr sz="1050" dirty="0">
                <a:solidFill>
                  <a:srgbClr val="1C1C1C"/>
                </a:solidFill>
              </a:rPr>
              <a:t> </a:t>
            </a:r>
            <a:r>
              <a:rPr sz="1050" dirty="0" err="1">
                <a:solidFill>
                  <a:srgbClr val="1C1C1C"/>
                </a:solidFill>
              </a:rPr>
              <a:t>오류</a:t>
            </a:r>
            <a:r>
              <a:rPr sz="1050" dirty="0">
                <a:solidFill>
                  <a:srgbClr val="1C1C1C"/>
                </a:solidFill>
              </a:rPr>
              <a:t> </a:t>
            </a:r>
            <a:r>
              <a:rPr sz="1050" dirty="0" err="1">
                <a:solidFill>
                  <a:srgbClr val="1C1C1C"/>
                </a:solidFill>
              </a:rPr>
              <a:t>역추적</a:t>
            </a:r>
            <a:endParaRPr sz="1050" dirty="0">
              <a:solidFill>
                <a:srgbClr val="1C1C1C"/>
              </a:solidFill>
            </a:endParaRPr>
          </a:p>
          <a:p>
            <a:pPr>
              <a:spcBef>
                <a:spcPts val="200"/>
              </a:spcBef>
            </a:pPr>
            <a:r>
              <a:rPr sz="1050" dirty="0">
                <a:solidFill>
                  <a:srgbClr val="1C1C1C"/>
                </a:solidFill>
              </a:rPr>
              <a:t>   → </a:t>
            </a:r>
            <a:r>
              <a:rPr sz="1050" dirty="0" err="1">
                <a:solidFill>
                  <a:srgbClr val="1C1C1C"/>
                </a:solidFill>
              </a:rPr>
              <a:t>기능</a:t>
            </a:r>
            <a:r>
              <a:rPr sz="1050" dirty="0">
                <a:solidFill>
                  <a:srgbClr val="1C1C1C"/>
                </a:solidFill>
              </a:rPr>
              <a:t> </a:t>
            </a:r>
            <a:r>
              <a:rPr sz="1050" dirty="0" err="1">
                <a:solidFill>
                  <a:srgbClr val="1C1C1C"/>
                </a:solidFill>
              </a:rPr>
              <a:t>하나</a:t>
            </a:r>
            <a:r>
              <a:rPr sz="1050" dirty="0">
                <a:solidFill>
                  <a:srgbClr val="1C1C1C"/>
                </a:solidFill>
              </a:rPr>
              <a:t> </a:t>
            </a:r>
            <a:r>
              <a:rPr sz="1050" dirty="0" err="1">
                <a:solidFill>
                  <a:srgbClr val="1C1C1C"/>
                </a:solidFill>
              </a:rPr>
              <a:t>붙일</a:t>
            </a:r>
            <a:r>
              <a:rPr sz="1050" dirty="0">
                <a:solidFill>
                  <a:srgbClr val="1C1C1C"/>
                </a:solidFill>
              </a:rPr>
              <a:t> </a:t>
            </a:r>
            <a:r>
              <a:rPr sz="1050" dirty="0" err="1">
                <a:solidFill>
                  <a:srgbClr val="1C1C1C"/>
                </a:solidFill>
              </a:rPr>
              <a:t>때마다</a:t>
            </a:r>
            <a:r>
              <a:rPr sz="1050" dirty="0">
                <a:solidFill>
                  <a:srgbClr val="1C1C1C"/>
                </a:solidFill>
              </a:rPr>
              <a:t> </a:t>
            </a:r>
            <a:r>
              <a:rPr sz="1050" dirty="0" err="1">
                <a:solidFill>
                  <a:srgbClr val="1C1C1C"/>
                </a:solidFill>
              </a:rPr>
              <a:t>소규모</a:t>
            </a:r>
            <a:r>
              <a:rPr sz="1050" dirty="0">
                <a:solidFill>
                  <a:srgbClr val="1C1C1C"/>
                </a:solidFill>
              </a:rPr>
              <a:t> </a:t>
            </a:r>
            <a:r>
              <a:rPr sz="1050" dirty="0" err="1">
                <a:solidFill>
                  <a:srgbClr val="1C1C1C"/>
                </a:solidFill>
              </a:rPr>
              <a:t>테스트했으면</a:t>
            </a:r>
            <a:r>
              <a:rPr sz="1050" dirty="0">
                <a:solidFill>
                  <a:srgbClr val="1C1C1C"/>
                </a:solidFill>
              </a:rPr>
              <a:t> 더 </a:t>
            </a:r>
            <a:r>
              <a:rPr sz="1050" dirty="0" err="1">
                <a:solidFill>
                  <a:srgbClr val="1C1C1C"/>
                </a:solidFill>
              </a:rPr>
              <a:t>효율적</a:t>
            </a:r>
            <a:endParaRPr sz="1050" dirty="0">
              <a:solidFill>
                <a:srgbClr val="1C1C1C"/>
              </a:solidFill>
            </a:endParaRPr>
          </a:p>
          <a:p>
            <a:pPr>
              <a:spcBef>
                <a:spcPts val="500"/>
              </a:spcBef>
            </a:pPr>
            <a:endParaRPr sz="1050" dirty="0">
              <a:solidFill>
                <a:srgbClr val="1C1C1C"/>
              </a:solidFill>
            </a:endParaRPr>
          </a:p>
          <a:p>
            <a:pPr>
              <a:spcBef>
                <a:spcPts val="500"/>
              </a:spcBef>
            </a:pPr>
            <a:r>
              <a:rPr sz="1200" b="1" dirty="0" err="1">
                <a:solidFill>
                  <a:srgbClr val="1C1C1C"/>
                </a:solidFill>
              </a:rPr>
              <a:t>적재</a:t>
            </a:r>
            <a:r>
              <a:rPr sz="1200" b="1" dirty="0">
                <a:solidFill>
                  <a:srgbClr val="1C1C1C"/>
                </a:solidFill>
              </a:rPr>
              <a:t> </a:t>
            </a:r>
            <a:r>
              <a:rPr sz="1200" b="1" dirty="0" err="1">
                <a:solidFill>
                  <a:srgbClr val="1C1C1C"/>
                </a:solidFill>
              </a:rPr>
              <a:t>데이터</a:t>
            </a:r>
            <a:r>
              <a:rPr sz="1200" b="1" dirty="0">
                <a:solidFill>
                  <a:srgbClr val="1C1C1C"/>
                </a:solidFill>
              </a:rPr>
              <a:t> </a:t>
            </a:r>
            <a:r>
              <a:rPr sz="1200" b="1" dirty="0" err="1">
                <a:solidFill>
                  <a:srgbClr val="1C1C1C"/>
                </a:solidFill>
              </a:rPr>
              <a:t>직접</a:t>
            </a:r>
            <a:r>
              <a:rPr sz="1200" b="1" dirty="0">
                <a:solidFill>
                  <a:srgbClr val="1C1C1C"/>
                </a:solidFill>
              </a:rPr>
              <a:t> </a:t>
            </a:r>
            <a:r>
              <a:rPr sz="1200" b="1" dirty="0" err="1">
                <a:solidFill>
                  <a:srgbClr val="1C1C1C"/>
                </a:solidFill>
              </a:rPr>
              <a:t>검증</a:t>
            </a:r>
            <a:r>
              <a:rPr sz="1200" b="1" dirty="0">
                <a:solidFill>
                  <a:srgbClr val="1C1C1C"/>
                </a:solidFill>
              </a:rPr>
              <a:t> 안 </a:t>
            </a:r>
            <a:r>
              <a:rPr sz="1200" b="1" dirty="0" err="1">
                <a:solidFill>
                  <a:srgbClr val="1C1C1C"/>
                </a:solidFill>
              </a:rPr>
              <a:t>했음</a:t>
            </a:r>
            <a:endParaRPr sz="1200" b="1" dirty="0">
              <a:solidFill>
                <a:srgbClr val="1C1C1C"/>
              </a:solidFill>
            </a:endParaRPr>
          </a:p>
          <a:p>
            <a:pPr>
              <a:spcBef>
                <a:spcPts val="200"/>
              </a:spcBef>
            </a:pPr>
            <a:r>
              <a:rPr sz="1050" dirty="0">
                <a:solidFill>
                  <a:srgbClr val="1C1C1C"/>
                </a:solidFill>
              </a:rPr>
              <a:t>   </a:t>
            </a:r>
            <a:r>
              <a:rPr sz="1050" dirty="0" err="1">
                <a:solidFill>
                  <a:srgbClr val="1C1C1C"/>
                </a:solidFill>
              </a:rPr>
              <a:t>파이프라인이</a:t>
            </a:r>
            <a:r>
              <a:rPr sz="1050" dirty="0">
                <a:solidFill>
                  <a:srgbClr val="1C1C1C"/>
                </a:solidFill>
              </a:rPr>
              <a:t> </a:t>
            </a:r>
            <a:r>
              <a:rPr sz="1050" dirty="0" err="1">
                <a:solidFill>
                  <a:srgbClr val="1C1C1C"/>
                </a:solidFill>
              </a:rPr>
              <a:t>오류</a:t>
            </a:r>
            <a:r>
              <a:rPr sz="1050" dirty="0">
                <a:solidFill>
                  <a:srgbClr val="1C1C1C"/>
                </a:solidFill>
              </a:rPr>
              <a:t> </a:t>
            </a:r>
            <a:r>
              <a:rPr sz="1050" dirty="0" err="1">
                <a:solidFill>
                  <a:srgbClr val="1C1C1C"/>
                </a:solidFill>
              </a:rPr>
              <a:t>없이</a:t>
            </a:r>
            <a:r>
              <a:rPr sz="1050" dirty="0">
                <a:solidFill>
                  <a:srgbClr val="1C1C1C"/>
                </a:solidFill>
              </a:rPr>
              <a:t> </a:t>
            </a:r>
            <a:r>
              <a:rPr sz="1050" dirty="0" err="1">
                <a:solidFill>
                  <a:srgbClr val="1C1C1C"/>
                </a:solidFill>
              </a:rPr>
              <a:t>돌면</a:t>
            </a:r>
            <a:r>
              <a:rPr sz="1050" dirty="0">
                <a:solidFill>
                  <a:srgbClr val="1C1C1C"/>
                </a:solidFill>
              </a:rPr>
              <a:t> </a:t>
            </a:r>
            <a:r>
              <a:rPr sz="1050" dirty="0" err="1">
                <a:solidFill>
                  <a:srgbClr val="1C1C1C"/>
                </a:solidFill>
              </a:rPr>
              <a:t>데이터가</a:t>
            </a:r>
            <a:r>
              <a:rPr sz="1050" dirty="0">
                <a:solidFill>
                  <a:srgbClr val="1C1C1C"/>
                </a:solidFill>
              </a:rPr>
              <a:t> </a:t>
            </a:r>
            <a:r>
              <a:rPr sz="1050" dirty="0" err="1">
                <a:solidFill>
                  <a:srgbClr val="1C1C1C"/>
                </a:solidFill>
              </a:rPr>
              <a:t>맞겠지</a:t>
            </a:r>
            <a:r>
              <a:rPr sz="1050" dirty="0">
                <a:solidFill>
                  <a:srgbClr val="1C1C1C"/>
                </a:solidFill>
              </a:rPr>
              <a:t> </a:t>
            </a:r>
            <a:r>
              <a:rPr sz="1050" dirty="0" err="1">
                <a:solidFill>
                  <a:srgbClr val="1C1C1C"/>
                </a:solidFill>
              </a:rPr>
              <a:t>하고</a:t>
            </a:r>
            <a:r>
              <a:rPr sz="1050" dirty="0">
                <a:solidFill>
                  <a:srgbClr val="1C1C1C"/>
                </a:solidFill>
              </a:rPr>
              <a:t> </a:t>
            </a:r>
            <a:r>
              <a:rPr sz="1050" dirty="0" err="1">
                <a:solidFill>
                  <a:srgbClr val="1C1C1C"/>
                </a:solidFill>
              </a:rPr>
              <a:t>넘어감</a:t>
            </a:r>
            <a:endParaRPr sz="1050" dirty="0">
              <a:solidFill>
                <a:srgbClr val="1C1C1C"/>
              </a:solidFill>
            </a:endParaRPr>
          </a:p>
          <a:p>
            <a:pPr>
              <a:spcBef>
                <a:spcPts val="200"/>
              </a:spcBef>
            </a:pPr>
            <a:r>
              <a:rPr lang="en-US" sz="1050" dirty="0">
                <a:solidFill>
                  <a:srgbClr val="1C1C1C"/>
                </a:solidFill>
              </a:rPr>
              <a:t>  </a:t>
            </a:r>
            <a:r>
              <a:rPr sz="1050" dirty="0">
                <a:solidFill>
                  <a:srgbClr val="1C1C1C"/>
                </a:solidFill>
              </a:rPr>
              <a:t>→ </a:t>
            </a:r>
            <a:r>
              <a:rPr sz="1050" dirty="0" err="1">
                <a:solidFill>
                  <a:srgbClr val="1C1C1C"/>
                </a:solidFill>
              </a:rPr>
              <a:t>테이블</a:t>
            </a:r>
            <a:r>
              <a:rPr sz="1050" dirty="0">
                <a:solidFill>
                  <a:srgbClr val="1C1C1C"/>
                </a:solidFill>
              </a:rPr>
              <a:t> </a:t>
            </a:r>
            <a:r>
              <a:rPr sz="1050" dirty="0" err="1">
                <a:solidFill>
                  <a:srgbClr val="1C1C1C"/>
                </a:solidFill>
              </a:rPr>
              <a:t>만들</a:t>
            </a:r>
            <a:r>
              <a:rPr sz="1050" dirty="0">
                <a:solidFill>
                  <a:srgbClr val="1C1C1C"/>
                </a:solidFill>
              </a:rPr>
              <a:t> </a:t>
            </a:r>
            <a:r>
              <a:rPr sz="1050" dirty="0" err="1">
                <a:solidFill>
                  <a:srgbClr val="1C1C1C"/>
                </a:solidFill>
              </a:rPr>
              <a:t>때마다</a:t>
            </a:r>
            <a:r>
              <a:rPr sz="1050" dirty="0">
                <a:solidFill>
                  <a:srgbClr val="1C1C1C"/>
                </a:solidFill>
              </a:rPr>
              <a:t> </a:t>
            </a:r>
            <a:r>
              <a:rPr sz="1050" dirty="0" err="1">
                <a:solidFill>
                  <a:srgbClr val="1C1C1C"/>
                </a:solidFill>
              </a:rPr>
              <a:t>소규모</a:t>
            </a:r>
            <a:r>
              <a:rPr sz="1050" dirty="0">
                <a:solidFill>
                  <a:srgbClr val="1C1C1C"/>
                </a:solidFill>
              </a:rPr>
              <a:t> Athena </a:t>
            </a:r>
            <a:r>
              <a:rPr sz="1050" dirty="0" err="1">
                <a:solidFill>
                  <a:srgbClr val="1C1C1C"/>
                </a:solidFill>
              </a:rPr>
              <a:t>쿼리로</a:t>
            </a:r>
            <a:r>
              <a:rPr sz="1050" dirty="0">
                <a:solidFill>
                  <a:srgbClr val="1C1C1C"/>
                </a:solidFill>
              </a:rPr>
              <a:t> </a:t>
            </a:r>
            <a:r>
              <a:rPr sz="1050" dirty="0" err="1">
                <a:solidFill>
                  <a:srgbClr val="1C1C1C"/>
                </a:solidFill>
              </a:rPr>
              <a:t>여러</a:t>
            </a:r>
            <a:r>
              <a:rPr sz="1050" dirty="0">
                <a:solidFill>
                  <a:srgbClr val="1C1C1C"/>
                </a:solidFill>
              </a:rPr>
              <a:t> </a:t>
            </a:r>
            <a:r>
              <a:rPr sz="1050" dirty="0" err="1">
                <a:solidFill>
                  <a:srgbClr val="1C1C1C"/>
                </a:solidFill>
              </a:rPr>
              <a:t>케이스</a:t>
            </a:r>
            <a:r>
              <a:rPr sz="1050" dirty="0">
                <a:solidFill>
                  <a:srgbClr val="1C1C1C"/>
                </a:solidFill>
              </a:rPr>
              <a:t> </a:t>
            </a:r>
            <a:r>
              <a:rPr sz="1050" dirty="0" err="1">
                <a:solidFill>
                  <a:srgbClr val="1C1C1C"/>
                </a:solidFill>
              </a:rPr>
              <a:t>확인했어야</a:t>
            </a:r>
            <a:r>
              <a:rPr sz="1050" dirty="0">
                <a:solidFill>
                  <a:srgbClr val="1C1C1C"/>
                </a:solidFill>
              </a:rPr>
              <a:t> 함</a:t>
            </a:r>
          </a:p>
          <a:p>
            <a:pPr>
              <a:spcBef>
                <a:spcPts val="500"/>
              </a:spcBef>
            </a:pPr>
            <a:endParaRPr sz="1050" dirty="0">
              <a:solidFill>
                <a:srgbClr val="1C1C1C"/>
              </a:solidFill>
            </a:endParaRPr>
          </a:p>
          <a:p>
            <a:pPr>
              <a:spcBef>
                <a:spcPts val="500"/>
              </a:spcBef>
            </a:pPr>
            <a:r>
              <a:rPr sz="1200" b="1" dirty="0">
                <a:solidFill>
                  <a:srgbClr val="1C1C1C"/>
                </a:solidFill>
              </a:rPr>
              <a:t>Spark </a:t>
            </a:r>
            <a:r>
              <a:rPr sz="1200" b="1" dirty="0" err="1">
                <a:solidFill>
                  <a:srgbClr val="1C1C1C"/>
                </a:solidFill>
              </a:rPr>
              <a:t>자원</a:t>
            </a:r>
            <a:r>
              <a:rPr sz="1200" b="1" dirty="0">
                <a:solidFill>
                  <a:srgbClr val="1C1C1C"/>
                </a:solidFill>
              </a:rPr>
              <a:t> </a:t>
            </a:r>
            <a:r>
              <a:rPr sz="1200" b="1" dirty="0" err="1">
                <a:solidFill>
                  <a:srgbClr val="1C1C1C"/>
                </a:solidFill>
              </a:rPr>
              <a:t>배분</a:t>
            </a:r>
            <a:r>
              <a:rPr sz="1200" b="1" dirty="0">
                <a:solidFill>
                  <a:srgbClr val="1C1C1C"/>
                </a:solidFill>
              </a:rPr>
              <a:t> </a:t>
            </a:r>
            <a:r>
              <a:rPr sz="1200" b="1" dirty="0" err="1">
                <a:solidFill>
                  <a:srgbClr val="1C1C1C"/>
                </a:solidFill>
              </a:rPr>
              <a:t>고민</a:t>
            </a:r>
            <a:r>
              <a:rPr sz="1200" b="1" dirty="0">
                <a:solidFill>
                  <a:srgbClr val="1C1C1C"/>
                </a:solidFill>
              </a:rPr>
              <a:t> </a:t>
            </a:r>
            <a:r>
              <a:rPr sz="1200" b="1" dirty="0" err="1">
                <a:solidFill>
                  <a:srgbClr val="1C1C1C"/>
                </a:solidFill>
              </a:rPr>
              <a:t>부족</a:t>
            </a:r>
            <a:endParaRPr sz="1200" b="1" dirty="0">
              <a:solidFill>
                <a:srgbClr val="1C1C1C"/>
              </a:solidFill>
            </a:endParaRPr>
          </a:p>
          <a:p>
            <a:pPr>
              <a:spcBef>
                <a:spcPts val="200"/>
              </a:spcBef>
            </a:pPr>
            <a:r>
              <a:rPr sz="1050" dirty="0">
                <a:solidFill>
                  <a:srgbClr val="1C1C1C"/>
                </a:solidFill>
              </a:rPr>
              <a:t>   </a:t>
            </a:r>
            <a:r>
              <a:rPr sz="1050" dirty="0" err="1">
                <a:solidFill>
                  <a:srgbClr val="1C1C1C"/>
                </a:solidFill>
              </a:rPr>
              <a:t>worker·executor</a:t>
            </a:r>
            <a:r>
              <a:rPr sz="1050" dirty="0">
                <a:solidFill>
                  <a:srgbClr val="1C1C1C"/>
                </a:solidFill>
              </a:rPr>
              <a:t> </a:t>
            </a:r>
            <a:r>
              <a:rPr sz="1050" dirty="0" err="1">
                <a:solidFill>
                  <a:srgbClr val="1C1C1C"/>
                </a:solidFill>
              </a:rPr>
              <a:t>조정으로</a:t>
            </a:r>
            <a:r>
              <a:rPr sz="1050" dirty="0">
                <a:solidFill>
                  <a:srgbClr val="1C1C1C"/>
                </a:solidFill>
              </a:rPr>
              <a:t> </a:t>
            </a:r>
            <a:r>
              <a:rPr sz="1050" dirty="0" err="1">
                <a:solidFill>
                  <a:srgbClr val="1C1C1C"/>
                </a:solidFill>
              </a:rPr>
              <a:t>처리량</a:t>
            </a:r>
            <a:r>
              <a:rPr sz="1050" dirty="0">
                <a:solidFill>
                  <a:srgbClr val="1C1C1C"/>
                </a:solidFill>
              </a:rPr>
              <a:t> </a:t>
            </a:r>
            <a:r>
              <a:rPr sz="1050" dirty="0" err="1">
                <a:solidFill>
                  <a:srgbClr val="1C1C1C"/>
                </a:solidFill>
              </a:rPr>
              <a:t>늘린다는</a:t>
            </a:r>
            <a:r>
              <a:rPr sz="1050" dirty="0">
                <a:solidFill>
                  <a:srgbClr val="1C1C1C"/>
                </a:solidFill>
              </a:rPr>
              <a:t> 건 </a:t>
            </a:r>
            <a:r>
              <a:rPr sz="1050" dirty="0" err="1">
                <a:solidFill>
                  <a:srgbClr val="1C1C1C"/>
                </a:solidFill>
              </a:rPr>
              <a:t>알지만</a:t>
            </a:r>
            <a:endParaRPr sz="1050" dirty="0">
              <a:solidFill>
                <a:srgbClr val="1C1C1C"/>
              </a:solidFill>
            </a:endParaRPr>
          </a:p>
          <a:p>
            <a:pPr>
              <a:spcBef>
                <a:spcPts val="200"/>
              </a:spcBef>
            </a:pPr>
            <a:r>
              <a:rPr sz="1050" dirty="0">
                <a:solidFill>
                  <a:srgbClr val="1C1C1C"/>
                </a:solidFill>
              </a:rPr>
              <a:t>   </a:t>
            </a:r>
            <a:r>
              <a:rPr sz="1050" dirty="0" err="1">
                <a:solidFill>
                  <a:srgbClr val="1C1C1C"/>
                </a:solidFill>
              </a:rPr>
              <a:t>job별</a:t>
            </a:r>
            <a:r>
              <a:rPr sz="1050" dirty="0">
                <a:solidFill>
                  <a:srgbClr val="1C1C1C"/>
                </a:solidFill>
              </a:rPr>
              <a:t> </a:t>
            </a:r>
            <a:r>
              <a:rPr sz="1050" dirty="0" err="1">
                <a:solidFill>
                  <a:srgbClr val="1C1C1C"/>
                </a:solidFill>
              </a:rPr>
              <a:t>구체적</a:t>
            </a:r>
            <a:r>
              <a:rPr sz="1050" dirty="0">
                <a:solidFill>
                  <a:srgbClr val="1C1C1C"/>
                </a:solidFill>
              </a:rPr>
              <a:t> </a:t>
            </a:r>
            <a:r>
              <a:rPr sz="1050" dirty="0" err="1">
                <a:solidFill>
                  <a:srgbClr val="1C1C1C"/>
                </a:solidFill>
              </a:rPr>
              <a:t>자원</a:t>
            </a:r>
            <a:r>
              <a:rPr sz="1050" dirty="0">
                <a:solidFill>
                  <a:srgbClr val="1C1C1C"/>
                </a:solidFill>
              </a:rPr>
              <a:t> </a:t>
            </a:r>
            <a:r>
              <a:rPr sz="1050" dirty="0" err="1">
                <a:solidFill>
                  <a:srgbClr val="1C1C1C"/>
                </a:solidFill>
              </a:rPr>
              <a:t>설계는</a:t>
            </a:r>
            <a:r>
              <a:rPr sz="1050" dirty="0">
                <a:solidFill>
                  <a:srgbClr val="1C1C1C"/>
                </a:solidFill>
              </a:rPr>
              <a:t> 못 </a:t>
            </a:r>
            <a:r>
              <a:rPr sz="1050" dirty="0" err="1">
                <a:solidFill>
                  <a:srgbClr val="1C1C1C"/>
                </a:solidFill>
              </a:rPr>
              <a:t>해봄</a:t>
            </a:r>
            <a:endParaRPr sz="1050" dirty="0">
              <a:solidFill>
                <a:srgbClr val="1C1C1C"/>
              </a:solidFill>
            </a:endParaRPr>
          </a:p>
          <a:p>
            <a:pPr>
              <a:spcBef>
                <a:spcPts val="500"/>
              </a:spcBef>
            </a:pPr>
            <a:endParaRPr sz="1050" dirty="0">
              <a:solidFill>
                <a:srgbClr val="1C1C1C"/>
              </a:solidFill>
            </a:endParaRPr>
          </a:p>
          <a:p>
            <a:pPr>
              <a:spcBef>
                <a:spcPts val="500"/>
              </a:spcBef>
            </a:pPr>
            <a:r>
              <a:rPr sz="1200" b="1" dirty="0">
                <a:solidFill>
                  <a:srgbClr val="1C1C1C"/>
                </a:solidFill>
              </a:rPr>
              <a:t>Claude Code </a:t>
            </a:r>
            <a:r>
              <a:rPr sz="1200" b="1" dirty="0" err="1">
                <a:solidFill>
                  <a:srgbClr val="1C1C1C"/>
                </a:solidFill>
              </a:rPr>
              <a:t>처음</a:t>
            </a:r>
            <a:r>
              <a:rPr sz="1200" b="1" dirty="0">
                <a:solidFill>
                  <a:srgbClr val="1C1C1C"/>
                </a:solidFill>
              </a:rPr>
              <a:t> </a:t>
            </a:r>
            <a:r>
              <a:rPr sz="1200" b="1" dirty="0" err="1">
                <a:solidFill>
                  <a:srgbClr val="1C1C1C"/>
                </a:solidFill>
              </a:rPr>
              <a:t>써봤는데</a:t>
            </a:r>
            <a:r>
              <a:rPr sz="1200" b="1" dirty="0">
                <a:solidFill>
                  <a:srgbClr val="1C1C1C"/>
                </a:solidFill>
              </a:rPr>
              <a:t> AI</a:t>
            </a:r>
            <a:r>
              <a:rPr lang="ko-KR" altLang="en-US" sz="1200" b="1" dirty="0">
                <a:solidFill>
                  <a:srgbClr val="1C1C1C"/>
                </a:solidFill>
              </a:rPr>
              <a:t>가 제안한</a:t>
            </a:r>
            <a:r>
              <a:rPr sz="1200" b="1" dirty="0">
                <a:solidFill>
                  <a:srgbClr val="1C1C1C"/>
                </a:solidFill>
              </a:rPr>
              <a:t> </a:t>
            </a:r>
            <a:r>
              <a:rPr sz="1200" b="1" dirty="0" err="1">
                <a:solidFill>
                  <a:srgbClr val="1C1C1C"/>
                </a:solidFill>
              </a:rPr>
              <a:t>코드</a:t>
            </a:r>
            <a:r>
              <a:rPr sz="1200" b="1" dirty="0">
                <a:solidFill>
                  <a:srgbClr val="1C1C1C"/>
                </a:solidFill>
              </a:rPr>
              <a:t> </a:t>
            </a:r>
            <a:r>
              <a:rPr sz="1200" b="1" dirty="0" err="1">
                <a:solidFill>
                  <a:srgbClr val="1C1C1C"/>
                </a:solidFill>
              </a:rPr>
              <a:t>읽기</a:t>
            </a:r>
            <a:r>
              <a:rPr lang="ko-KR" altLang="en-US" sz="1200" b="1" dirty="0">
                <a:solidFill>
                  <a:srgbClr val="1C1C1C"/>
                </a:solidFill>
              </a:rPr>
              <a:t>부터</a:t>
            </a:r>
            <a:r>
              <a:rPr sz="1200" b="1" dirty="0">
                <a:solidFill>
                  <a:srgbClr val="1C1C1C"/>
                </a:solidFill>
              </a:rPr>
              <a:t> 막</a:t>
            </a:r>
            <a:r>
              <a:rPr lang="ko-KR" altLang="en-US" sz="1200" b="1" dirty="0" err="1">
                <a:solidFill>
                  <a:srgbClr val="1C1C1C"/>
                </a:solidFill>
              </a:rPr>
              <a:t>히는</a:t>
            </a:r>
            <a:r>
              <a:rPr lang="ko-KR" altLang="en-US" sz="1200" b="1" dirty="0">
                <a:solidFill>
                  <a:srgbClr val="1C1C1C"/>
                </a:solidFill>
              </a:rPr>
              <a:t> 문제</a:t>
            </a:r>
            <a:endParaRPr sz="1200" b="1" dirty="0">
              <a:solidFill>
                <a:srgbClr val="1C1C1C"/>
              </a:solidFill>
            </a:endParaRPr>
          </a:p>
          <a:p>
            <a:pPr>
              <a:spcBef>
                <a:spcPts val="200"/>
              </a:spcBef>
            </a:pPr>
            <a:r>
              <a:rPr sz="1050" dirty="0">
                <a:solidFill>
                  <a:srgbClr val="1C1C1C"/>
                </a:solidFill>
              </a:rPr>
              <a:t>   </a:t>
            </a:r>
            <a:r>
              <a:rPr sz="1050" dirty="0" err="1">
                <a:solidFill>
                  <a:srgbClr val="1C1C1C"/>
                </a:solidFill>
              </a:rPr>
              <a:t>구현</a:t>
            </a:r>
            <a:r>
              <a:rPr sz="1050" dirty="0">
                <a:solidFill>
                  <a:srgbClr val="1C1C1C"/>
                </a:solidFill>
              </a:rPr>
              <a:t> </a:t>
            </a:r>
            <a:r>
              <a:rPr sz="1050" dirty="0" err="1">
                <a:solidFill>
                  <a:srgbClr val="1C1C1C"/>
                </a:solidFill>
              </a:rPr>
              <a:t>됐다고</a:t>
            </a:r>
            <a:r>
              <a:rPr sz="1050" dirty="0">
                <a:solidFill>
                  <a:srgbClr val="1C1C1C"/>
                </a:solidFill>
              </a:rPr>
              <a:t> </a:t>
            </a:r>
            <a:r>
              <a:rPr sz="1050" dirty="0" err="1">
                <a:solidFill>
                  <a:srgbClr val="1C1C1C"/>
                </a:solidFill>
              </a:rPr>
              <a:t>하면</a:t>
            </a:r>
            <a:r>
              <a:rPr sz="1050" dirty="0">
                <a:solidFill>
                  <a:srgbClr val="1C1C1C"/>
                </a:solidFill>
              </a:rPr>
              <a:t> </a:t>
            </a:r>
            <a:r>
              <a:rPr sz="1050" dirty="0" err="1">
                <a:solidFill>
                  <a:srgbClr val="1C1C1C"/>
                </a:solidFill>
              </a:rPr>
              <a:t>코드</a:t>
            </a:r>
            <a:r>
              <a:rPr sz="1050" dirty="0">
                <a:solidFill>
                  <a:srgbClr val="1C1C1C"/>
                </a:solidFill>
              </a:rPr>
              <a:t> 안 </a:t>
            </a:r>
            <a:r>
              <a:rPr sz="1050" dirty="0" err="1">
                <a:solidFill>
                  <a:srgbClr val="1C1C1C"/>
                </a:solidFill>
              </a:rPr>
              <a:t>읽고</a:t>
            </a:r>
            <a:r>
              <a:rPr sz="1050" dirty="0">
                <a:solidFill>
                  <a:srgbClr val="1C1C1C"/>
                </a:solidFill>
              </a:rPr>
              <a:t> </a:t>
            </a:r>
            <a:r>
              <a:rPr sz="1050" dirty="0" err="1">
                <a:solidFill>
                  <a:srgbClr val="1C1C1C"/>
                </a:solidFill>
              </a:rPr>
              <a:t>패스하는</a:t>
            </a:r>
            <a:r>
              <a:rPr sz="1050" dirty="0">
                <a:solidFill>
                  <a:srgbClr val="1C1C1C"/>
                </a:solidFill>
              </a:rPr>
              <a:t> </a:t>
            </a:r>
            <a:r>
              <a:rPr sz="1050" dirty="0" err="1">
                <a:solidFill>
                  <a:srgbClr val="1C1C1C"/>
                </a:solidFill>
              </a:rPr>
              <a:t>식으로</a:t>
            </a:r>
            <a:r>
              <a:rPr sz="1050" dirty="0">
                <a:solidFill>
                  <a:srgbClr val="1C1C1C"/>
                </a:solidFill>
              </a:rPr>
              <a:t> </a:t>
            </a:r>
            <a:r>
              <a:rPr sz="1050" dirty="0" err="1">
                <a:solidFill>
                  <a:srgbClr val="1C1C1C"/>
                </a:solidFill>
              </a:rPr>
              <a:t>진행</a:t>
            </a:r>
            <a:endParaRPr sz="1050" dirty="0">
              <a:solidFill>
                <a:srgbClr val="1C1C1C"/>
              </a:solidFill>
            </a:endParaRPr>
          </a:p>
          <a:p>
            <a:pPr>
              <a:spcBef>
                <a:spcPts val="200"/>
              </a:spcBef>
            </a:pPr>
            <a:r>
              <a:rPr sz="1050" dirty="0">
                <a:solidFill>
                  <a:srgbClr val="1C1C1C"/>
                </a:solidFill>
              </a:rPr>
              <a:t>   </a:t>
            </a:r>
            <a:r>
              <a:rPr sz="1050" dirty="0" err="1">
                <a:solidFill>
                  <a:srgbClr val="1C1C1C"/>
                </a:solidFill>
              </a:rPr>
              <a:t>코드</a:t>
            </a:r>
            <a:r>
              <a:rPr sz="1050" dirty="0">
                <a:solidFill>
                  <a:srgbClr val="1C1C1C"/>
                </a:solidFill>
              </a:rPr>
              <a:t> </a:t>
            </a:r>
            <a:r>
              <a:rPr sz="1050" dirty="0" err="1">
                <a:solidFill>
                  <a:srgbClr val="1C1C1C"/>
                </a:solidFill>
              </a:rPr>
              <a:t>읽기부터</a:t>
            </a:r>
            <a:r>
              <a:rPr sz="1050" dirty="0">
                <a:solidFill>
                  <a:srgbClr val="1C1C1C"/>
                </a:solidFill>
              </a:rPr>
              <a:t> </a:t>
            </a:r>
            <a:r>
              <a:rPr sz="1050" dirty="0" err="1">
                <a:solidFill>
                  <a:srgbClr val="1C1C1C"/>
                </a:solidFill>
              </a:rPr>
              <a:t>막히는</a:t>
            </a:r>
            <a:r>
              <a:rPr sz="1050" dirty="0">
                <a:solidFill>
                  <a:srgbClr val="1C1C1C"/>
                </a:solidFill>
              </a:rPr>
              <a:t> </a:t>
            </a:r>
            <a:r>
              <a:rPr sz="1050" dirty="0" err="1">
                <a:solidFill>
                  <a:srgbClr val="1C1C1C"/>
                </a:solidFill>
              </a:rPr>
              <a:t>수준인데</a:t>
            </a:r>
            <a:r>
              <a:rPr sz="1050" dirty="0">
                <a:solidFill>
                  <a:srgbClr val="1C1C1C"/>
                </a:solidFill>
              </a:rPr>
              <a:t> </a:t>
            </a:r>
            <a:r>
              <a:rPr sz="1050" dirty="0" err="1">
                <a:solidFill>
                  <a:srgbClr val="1C1C1C"/>
                </a:solidFill>
              </a:rPr>
              <a:t>직접</a:t>
            </a:r>
            <a:r>
              <a:rPr sz="1050" dirty="0">
                <a:solidFill>
                  <a:srgbClr val="1C1C1C"/>
                </a:solidFill>
              </a:rPr>
              <a:t> </a:t>
            </a:r>
            <a:r>
              <a:rPr sz="1050" dirty="0" err="1">
                <a:solidFill>
                  <a:srgbClr val="1C1C1C"/>
                </a:solidFill>
              </a:rPr>
              <a:t>쓰기까지는</a:t>
            </a:r>
            <a:r>
              <a:rPr sz="1050" dirty="0">
                <a:solidFill>
                  <a:srgbClr val="1C1C1C"/>
                </a:solidFill>
              </a:rPr>
              <a:t> </a:t>
            </a:r>
            <a:r>
              <a:rPr sz="1050" dirty="0" err="1">
                <a:solidFill>
                  <a:srgbClr val="1C1C1C"/>
                </a:solidFill>
              </a:rPr>
              <a:t>갭이</a:t>
            </a:r>
            <a:r>
              <a:rPr sz="1050" dirty="0">
                <a:solidFill>
                  <a:srgbClr val="1C1C1C"/>
                </a:solidFill>
              </a:rPr>
              <a:t> </a:t>
            </a:r>
            <a:r>
              <a:rPr sz="1050" dirty="0" err="1">
                <a:solidFill>
                  <a:srgbClr val="1C1C1C"/>
                </a:solidFill>
              </a:rPr>
              <a:t>얼마나</a:t>
            </a:r>
            <a:r>
              <a:rPr sz="1050" dirty="0">
                <a:solidFill>
                  <a:srgbClr val="1C1C1C"/>
                </a:solidFill>
              </a:rPr>
              <a:t> </a:t>
            </a:r>
            <a:r>
              <a:rPr sz="1050" dirty="0" err="1">
                <a:solidFill>
                  <a:srgbClr val="1C1C1C"/>
                </a:solidFill>
              </a:rPr>
              <a:t>클지</a:t>
            </a:r>
            <a:endParaRPr sz="1050" dirty="0">
              <a:solidFill>
                <a:srgbClr val="1C1C1C"/>
              </a:solidFill>
            </a:endParaRPr>
          </a:p>
          <a:p>
            <a:pPr>
              <a:spcBef>
                <a:spcPts val="200"/>
              </a:spcBef>
            </a:pPr>
            <a:r>
              <a:rPr sz="1050" dirty="0">
                <a:solidFill>
                  <a:srgbClr val="1C1C1C"/>
                </a:solidFill>
              </a:rPr>
              <a:t>   </a:t>
            </a:r>
            <a:r>
              <a:rPr sz="1050" dirty="0" err="1">
                <a:solidFill>
                  <a:srgbClr val="1C1C1C"/>
                </a:solidFill>
              </a:rPr>
              <a:t>바이브코딩·노코드</a:t>
            </a:r>
            <a:r>
              <a:rPr sz="1050" dirty="0">
                <a:solidFill>
                  <a:srgbClr val="1C1C1C"/>
                </a:solidFill>
              </a:rPr>
              <a:t> </a:t>
            </a:r>
            <a:r>
              <a:rPr sz="1050" dirty="0" err="1">
                <a:solidFill>
                  <a:srgbClr val="1C1C1C"/>
                </a:solidFill>
              </a:rPr>
              <a:t>추세인데</a:t>
            </a:r>
            <a:r>
              <a:rPr sz="1050" dirty="0">
                <a:solidFill>
                  <a:srgbClr val="1C1C1C"/>
                </a:solidFill>
              </a:rPr>
              <a:t> </a:t>
            </a:r>
            <a:r>
              <a:rPr sz="1050" dirty="0" err="1">
                <a:solidFill>
                  <a:srgbClr val="1C1C1C"/>
                </a:solidFill>
              </a:rPr>
              <a:t>코드</a:t>
            </a:r>
            <a:r>
              <a:rPr sz="1050" dirty="0">
                <a:solidFill>
                  <a:srgbClr val="1C1C1C"/>
                </a:solidFill>
              </a:rPr>
              <a:t> </a:t>
            </a:r>
            <a:r>
              <a:rPr sz="1050" dirty="0" err="1">
                <a:solidFill>
                  <a:srgbClr val="1C1C1C"/>
                </a:solidFill>
              </a:rPr>
              <a:t>읽기</a:t>
            </a:r>
            <a:r>
              <a:rPr sz="1050" dirty="0">
                <a:solidFill>
                  <a:srgbClr val="1C1C1C"/>
                </a:solidFill>
              </a:rPr>
              <a:t>/</a:t>
            </a:r>
            <a:r>
              <a:rPr sz="1050" dirty="0" err="1">
                <a:solidFill>
                  <a:srgbClr val="1C1C1C"/>
                </a:solidFill>
              </a:rPr>
              <a:t>쓰기</a:t>
            </a:r>
            <a:r>
              <a:rPr lang="ko-KR" altLang="en-US" sz="1050" dirty="0">
                <a:solidFill>
                  <a:srgbClr val="1C1C1C"/>
                </a:solidFill>
              </a:rPr>
              <a:t>에 대한 공부가</a:t>
            </a:r>
            <a:endParaRPr sz="1050" dirty="0">
              <a:solidFill>
                <a:srgbClr val="1C1C1C"/>
              </a:solidFill>
            </a:endParaRPr>
          </a:p>
          <a:p>
            <a:pPr>
              <a:spcBef>
                <a:spcPts val="200"/>
              </a:spcBef>
            </a:pPr>
            <a:r>
              <a:rPr sz="1050" dirty="0">
                <a:solidFill>
                  <a:srgbClr val="1C1C1C"/>
                </a:solidFill>
              </a:rPr>
              <a:t>   </a:t>
            </a:r>
            <a:r>
              <a:rPr lang="ko-KR" altLang="en-US" sz="1050" dirty="0">
                <a:solidFill>
                  <a:srgbClr val="1C1C1C"/>
                </a:solidFill>
              </a:rPr>
              <a:t>어느 정도로 필요할지 </a:t>
            </a:r>
            <a:r>
              <a:rPr sz="1050" dirty="0" err="1">
                <a:solidFill>
                  <a:srgbClr val="1C1C1C"/>
                </a:solidFill>
              </a:rPr>
              <a:t>방향이</a:t>
            </a:r>
            <a:r>
              <a:rPr sz="1050" dirty="0">
                <a:solidFill>
                  <a:srgbClr val="1C1C1C"/>
                </a:solidFill>
              </a:rPr>
              <a:t> 안 </a:t>
            </a:r>
            <a:r>
              <a:rPr sz="1050" dirty="0" err="1">
                <a:solidFill>
                  <a:srgbClr val="1C1C1C"/>
                </a:solidFill>
              </a:rPr>
              <a:t>잡힘</a:t>
            </a:r>
            <a:endParaRPr sz="1050" dirty="0">
              <a:solidFill>
                <a:srgbClr val="1C1C1C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760720"/>
            <a:ext cx="12188952" cy="1097280"/>
          </a:xfrm>
          <a:prstGeom prst="rect">
            <a:avLst/>
          </a:prstGeom>
          <a:solidFill>
            <a:srgbClr val="20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881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</a:rPr>
              <a:t>감사합니다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47472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A8C8E8"/>
                </a:solidFill>
              </a:rPr>
              <a:t>Kafka  →  Spark Streaming  →  S3 Iceberg (MOR / COW)  →  Athena  →  Superset
Attribution Window  |  Snapshot Diff  |  MERGE INTO 멱등성  |  Airflow 자동화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570</TotalTime>
  <Words>2508</Words>
  <Application>Microsoft Office PowerPoint</Application>
  <PresentationFormat>사용자 지정</PresentationFormat>
  <Paragraphs>338</Paragraphs>
  <Slides>14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8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은수 이</cp:lastModifiedBy>
  <cp:revision>27</cp:revision>
  <dcterms:created xsi:type="dcterms:W3CDTF">2013-01-27T09:14:16Z</dcterms:created>
  <dcterms:modified xsi:type="dcterms:W3CDTF">2026-06-27T01:13:51Z</dcterms:modified>
  <cp:category/>
</cp:coreProperties>
</file>